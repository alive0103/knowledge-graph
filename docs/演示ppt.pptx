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82" r:id="rId4"/>
    <p:sldId id="258" r:id="rId5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3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DB"/>
    <a:srgbClr val="EFF1DF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46" d="100"/>
          <a:sy n="146" d="100"/>
        </p:scale>
        <p:origin x="96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953000" cy="5715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8165" y="648335"/>
            <a:ext cx="1370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GRADUATION DEFENSE</a:t>
            </a:r>
            <a:endParaRPr lang="zh-CN" sz="1050" dirty="0">
              <a:solidFill>
                <a:srgbClr val="0E9B92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5486400" y="1410652"/>
            <a:ext cx="4953000" cy="2911158"/>
            <a:chOff x="5486400" y="1410652"/>
            <a:chExt cx="4953000" cy="2911158"/>
          </a:xfrm>
        </p:grpSpPr>
        <p:sp>
          <p:nvSpPr>
            <p:cNvPr id="14" name="TextBox 14"/>
            <p:cNvSpPr txBox="1"/>
            <p:nvPr/>
          </p:nvSpPr>
          <p:spPr>
            <a:xfrm>
              <a:off x="5511165" y="1410652"/>
              <a:ext cx="1594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KNOWLEDGE GRAPH · RAG</a:t>
              </a:r>
              <a:endParaRPr lang="zh-CN" sz="105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12118" y="181879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题目</a:t>
              </a:r>
              <a:endParaRPr lang="zh-CN" sz="97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86400" y="2133600"/>
              <a:ext cx="3048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融合内外部数据的</a:t>
              </a:r>
              <a:endParaRPr lang="zh-CN" sz="30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0" y="2609850"/>
              <a:ext cx="4953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知识百科构建与检索增强生成</a:t>
              </a:r>
              <a:endParaRPr lang="zh-CN" sz="30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6400" y="3105150"/>
              <a:ext cx="410870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KG-RAG 的设计与实现</a:t>
              </a:r>
              <a:endParaRPr lang="zh-CN" sz="300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524500" y="37338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1A365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09260" y="3928110"/>
              <a:ext cx="32042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Building an Integrated Knowledge Encyclopedia</a:t>
              </a:r>
              <a:endParaRPr lang="zh-CN" sz="12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9260" y="4137660"/>
              <a:ext cx="457835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from Internal and External Data for Retrieval-Augmented Generation</a:t>
              </a:r>
              <a:endParaRPr lang="zh-CN" sz="12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4" grpId="0"/>
      <p:bldP spid="22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29615" y="580549"/>
            <a:ext cx="2951083" cy="1024413"/>
            <a:chOff x="729615" y="580549"/>
            <a:chExt cx="2951083" cy="1024413"/>
          </a:xfrm>
        </p:grpSpPr>
        <p:sp>
          <p:nvSpPr>
            <p:cNvPr id="3" name="TextBox 3"/>
            <p:cNvSpPr txBox="1"/>
            <p:nvPr/>
          </p:nvSpPr>
          <p:spPr>
            <a:xfrm>
              <a:off x="749618" y="580549"/>
              <a:ext cx="453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AGENDA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29615" y="772478"/>
              <a:ext cx="1295400" cy="391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实验</a:t>
              </a:r>
              <a:r>
                <a:rPr lang="zh-CN" sz="25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流程</a:t>
              </a:r>
              <a:endParaRPr lang="zh-CN" sz="255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23825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38100">
              <a:solidFill>
                <a:srgbClr val="0E9B9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8665" y="1391602"/>
              <a:ext cx="29320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六大模块 · 由问题 → 方法 → 系统 → 实验 → 结论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905000"/>
            <a:ext cx="10668000" cy="2933700"/>
            <a:chOff x="762000" y="1905000"/>
            <a:chExt cx="10668000" cy="2933700"/>
          </a:xfrm>
        </p:grpSpPr>
        <p:grpSp>
          <p:nvGrpSpPr>
            <p:cNvPr id="14" name="Group 14"/>
            <p:cNvGrpSpPr/>
            <p:nvPr/>
          </p:nvGrpSpPr>
          <p:grpSpPr>
            <a:xfrm>
              <a:off x="762000" y="1905000"/>
              <a:ext cx="3429000" cy="1333500"/>
              <a:chOff x="762000" y="1905000"/>
              <a:chExt cx="3429000" cy="1333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9050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905000"/>
                <a:ext cx="38100" cy="13335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54405" y="1959292"/>
                <a:ext cx="411582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1A365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01</a:t>
                </a:r>
                <a:endParaRPr lang="zh-CN" sz="2850" b="1" dirty="0">
                  <a:solidFill>
                    <a:srgbClr val="1A365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1550" y="24479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选题与目标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78218" y="2752249"/>
                <a:ext cx="17734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研究背景 / 现状 / 问题 / 路线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9170" y="29508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P03 — P0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905000"/>
              <a:ext cx="3429000" cy="1333500"/>
              <a:chOff x="4381500" y="1905000"/>
              <a:chExt cx="3429000" cy="1333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9050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381500" y="1905000"/>
                <a:ext cx="38100" cy="1333500"/>
              </a:xfrm>
              <a:prstGeom prst="rect">
                <a:avLst/>
              </a:prstGeom>
              <a:solidFill>
                <a:srgbClr val="2B8AB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73905" y="1959292"/>
                <a:ext cx="51134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2B8AB8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02</a:t>
                </a:r>
                <a:endParaRPr lang="zh-CN" sz="2850" b="1" dirty="0">
                  <a:solidFill>
                    <a:srgbClr val="2B8AB8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91050" y="24479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实体链接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97718" y="275224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知识组织 / 识别 / 候选检索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98670" y="29508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P0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</a:t>
                </a:r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— P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09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001000" y="1905000"/>
              <a:ext cx="3429000" cy="1333500"/>
              <a:chOff x="8001000" y="1905000"/>
              <a:chExt cx="3429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001000" y="19050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8001000" y="1905000"/>
                <a:ext cx="38100" cy="13335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193405" y="1959292"/>
                <a:ext cx="51134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0E9B92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03</a:t>
                </a:r>
                <a:endParaRPr lang="zh-CN" sz="2850" b="1" dirty="0">
                  <a:solidFill>
                    <a:srgbClr val="0E9B9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10550" y="24479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实体对齐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17218" y="2752249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DBP15K / 邻域增强 / 对比学习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18170" y="29508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</a:t>
                </a:r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— P1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" y="3505200"/>
              <a:ext cx="3429000" cy="1333500"/>
              <a:chOff x="762000" y="3505200"/>
              <a:chExt cx="3429000" cy="1333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" y="35052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762000" y="3505200"/>
                <a:ext cx="38100" cy="1333500"/>
              </a:xfrm>
              <a:prstGeom prst="rect">
                <a:avLst/>
              </a:prstGeom>
              <a:solidFill>
                <a:srgbClr val="ECA64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54405" y="3559492"/>
                <a:ext cx="51134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ECA649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04</a:t>
                </a:r>
                <a:endParaRPr lang="zh-CN" sz="2850" b="1" dirty="0">
                  <a:solidFill>
                    <a:srgbClr val="ECA649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71550" y="4048125"/>
                <a:ext cx="121424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KG-RAG 系统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78218" y="4352449"/>
                <a:ext cx="20140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分层架构 / 检索增强 / 结构化输出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9170" y="45510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— P1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381500" y="3505200"/>
              <a:ext cx="3429000" cy="1333500"/>
              <a:chOff x="4381500" y="3505200"/>
              <a:chExt cx="3429000" cy="1333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381500" y="35052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381500" y="3505200"/>
                <a:ext cx="38100" cy="1333500"/>
              </a:xfrm>
              <a:prstGeom prst="rect">
                <a:avLst/>
              </a:prstGeom>
              <a:solidFill>
                <a:srgbClr val="4AA46D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573905" y="3559492"/>
                <a:ext cx="51134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4AA46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05</a:t>
                </a:r>
                <a:endParaRPr lang="zh-CN" sz="2850" b="1" dirty="0">
                  <a:solidFill>
                    <a:srgbClr val="4AA46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91050" y="40481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实验分析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97718" y="4352449"/>
                <a:ext cx="18839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三类实验 + 系统界面 + 图谱演示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98670" y="45510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P1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</a:t>
                </a:r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— P2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01000" y="3505200"/>
              <a:ext cx="3429000" cy="1333500"/>
              <a:chOff x="8001000" y="3505200"/>
              <a:chExt cx="3429000" cy="13335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001000" y="3505200"/>
                <a:ext cx="3429000" cy="1333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8001000" y="3505200"/>
                <a:ext cx="38100" cy="13335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193405" y="3559492"/>
                <a:ext cx="51134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1A365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06</a:t>
                </a:r>
                <a:endParaRPr lang="zh-CN" sz="2850" b="1" dirty="0">
                  <a:solidFill>
                    <a:srgbClr val="1A365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10550" y="40481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结论与展望</a:t>
                </a:r>
                <a:endParaRPr lang="zh-CN" sz="150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17218" y="435244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研究结论 / 不足展望 / 致谢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18170" y="4551045"/>
                <a:ext cx="5842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P2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r>
                  <a:rPr 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— P2</a:t>
                </a:r>
                <a:r>
                  <a:rPr lang="en-US" altLang="zh-CN" sz="900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</a:t>
                </a:r>
                <a:endParaRPr lang="en-US" alt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800100" y="5270500"/>
            <a:ext cx="10668000" cy="609600"/>
            <a:chOff x="762000" y="5791200"/>
            <a:chExt cx="10668000" cy="609600"/>
          </a:xfrm>
        </p:grpSpPr>
        <p:sp>
          <p:nvSpPr>
            <p:cNvPr id="51" name="Rectangle 51"/>
            <p:cNvSpPr/>
            <p:nvPr/>
          </p:nvSpPr>
          <p:spPr>
            <a:xfrm>
              <a:off x="762000" y="5791200"/>
              <a:ext cx="10668000" cy="609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52512" y="6031706"/>
              <a:ext cx="120713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核心 · CORE CLAIM</a:t>
              </a:r>
              <a:endParaRPr lang="zh-CN" sz="1125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412808" y="6034564"/>
              <a:ext cx="70393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在生成之前完成知识归一、跨语言扩展与结构化交付，为 RAG 提供可追溯的检索上下文。</a:t>
              </a:r>
              <a:endParaRPr lang="zh-CN" sz="12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  <p:bldP spid="50" grpId="0"/>
      <p:bldP spid="54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2111597" cy="659130"/>
            <a:chOff x="735330" y="379095"/>
            <a:chExt cx="2111597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01 · 选题与目标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研究背景与意义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878050" y="485299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1.1 / 6 章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762000" y="1504950"/>
            <a:ext cx="5143500" cy="4762500"/>
            <a:chOff x="762000" y="1504950"/>
            <a:chExt cx="5143500" cy="4762500"/>
          </a:xfrm>
        </p:grpSpPr>
        <p:sp>
          <p:nvSpPr>
            <p:cNvPr id="8" name="Rectangle 8"/>
            <p:cNvSpPr/>
            <p:nvPr/>
          </p:nvSpPr>
          <p:spPr>
            <a:xfrm>
              <a:off x="762000" y="1504950"/>
              <a:ext cx="5143500" cy="47625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04950"/>
              <a:ext cx="38100" cy="47625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418" y="1818799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CONTEXT</a:t>
              </a:r>
              <a:endParaRPr lang="zh-CN" sz="975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5845" y="20697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高可信知识服务正在转向</a:t>
              </a:r>
              <a:endParaRPr lang="zh-CN" sz="165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5845" y="235553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面向知识对象的组织与检索</a:t>
              </a:r>
              <a:endParaRPr lang="zh-CN" sz="165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2512" y="28694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在军事、应急、装备等特殊领域，</a:t>
              </a:r>
              <a:endParaRPr lang="zh-CN" sz="1125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2512" y="3098006"/>
              <a:ext cx="27439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系统的价值不仅在于"是否能流畅作答"，</a:t>
              </a:r>
              <a:endParaRPr lang="zh-CN" sz="1125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2512" y="3326606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更在于回答所依赖的</a:t>
              </a:r>
              <a:r>
                <a:rPr lang="zh-CN" sz="112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实体、关系、来源</a:t>
              </a:r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是否</a:t>
              </a:r>
              <a:endParaRPr lang="zh-CN" sz="1125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2512" y="35552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准确、可追溯、可核验。</a:t>
              </a:r>
              <a:endParaRPr lang="zh-CN" sz="1125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66800" y="4038600"/>
              <a:ext cx="4533900" cy="19050"/>
            </a:xfrm>
            <a:prstGeom prst="rect">
              <a:avLst/>
            </a:prstGeom>
            <a:solidFill>
              <a:srgbClr val="0E9B92">
                <a:alpha val="6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2512" y="4298156"/>
              <a:ext cx="22259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RAG 风险主要发生在</a:t>
              </a:r>
              <a:r>
                <a:rPr lang="zh-CN" sz="112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生成之前</a:t>
              </a:r>
              <a:r>
                <a:rPr lang="zh-CN" sz="1125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：</a:t>
              </a:r>
              <a:endParaRPr lang="zh-CN" sz="1125" b="1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205865" y="4630102"/>
              <a:ext cx="1965912" cy="708660"/>
              <a:chOff x="1205865" y="4630102"/>
              <a:chExt cx="1965912" cy="70866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205865" y="4630102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提及未能归一到正确实体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05865" y="4877752"/>
                <a:ext cx="15458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外部知识不能稳定扩展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5865" y="5125402"/>
                <a:ext cx="19659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检索结果缺乏结构化来源层级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53465" y="5487352"/>
              <a:ext cx="4256405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→ 生成模型容易在错误或不可追溯的知识</a:t>
              </a:r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  <a:sym typeface="+mn-ea"/>
                </a:rPr>
                <a:t>输入上形成"看起来合理"的回答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  <a:p>
              <a:pPr algn="l"/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3465" y="56969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74118" y="1399699"/>
            <a:ext cx="5155882" cy="4829651"/>
            <a:chOff x="6274118" y="1399699"/>
            <a:chExt cx="5155882" cy="4829651"/>
          </a:xfrm>
        </p:grpSpPr>
        <p:sp>
          <p:nvSpPr>
            <p:cNvPr id="26" name="TextBox 26"/>
            <p:cNvSpPr txBox="1"/>
            <p:nvPr/>
          </p:nvSpPr>
          <p:spPr>
            <a:xfrm>
              <a:off x="6274118" y="139969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CONSTRAINTS · 三类核心约束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286500" y="1771650"/>
              <a:ext cx="5143500" cy="1409700"/>
              <a:chOff x="6286500" y="1771650"/>
              <a:chExt cx="5143500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771650"/>
                <a:ext cx="5143500" cy="1409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6286500" y="1771650"/>
                <a:ext cx="38100" cy="14097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01765" y="2001202"/>
                <a:ext cx="13718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01 多源知识难以统一</a:t>
                </a:r>
                <a:endPara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01765" y="2306002"/>
                <a:ext cx="211836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内部资料散布于文档 / 表格 / 数据库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1765" y="2515552"/>
                <a:ext cx="2515235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外部知识来自百科、Wikidata、跨语言资源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02718" y="2790349"/>
                <a:ext cx="248920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标识体系、字段规范、信息粒度难以天然对齐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286500" y="3295650"/>
              <a:ext cx="5143500" cy="1409700"/>
              <a:chOff x="6286500" y="3295650"/>
              <a:chExt cx="5143500" cy="14097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86500" y="3295650"/>
                <a:ext cx="5143500" cy="1409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286500" y="3295650"/>
                <a:ext cx="38100" cy="14097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501765" y="3525202"/>
                <a:ext cx="14086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02 实体歧义难以消解</a:t>
                </a:r>
                <a:endPara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1765" y="3830002"/>
                <a:ext cx="223774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"长征"可指历史事件，亦可指运载火箭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01765" y="4039552"/>
                <a:ext cx="237109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"东风"可为普通词汇，亦可为导弹型号族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502718" y="4314349"/>
                <a:ext cx="22174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简称 / 型号 / 别名 / 跨语言变体广泛存在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286500" y="4819650"/>
              <a:ext cx="5143500" cy="1409700"/>
              <a:chOff x="6286500" y="4819650"/>
              <a:chExt cx="5143500" cy="14097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286500" y="4819650"/>
                <a:ext cx="5143500" cy="1409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286500" y="4819650"/>
                <a:ext cx="38100" cy="14097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01765" y="5049202"/>
                <a:ext cx="12836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03 离线 / 弱网部署</a:t>
                </a:r>
                <a:endPara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01765" y="5354002"/>
                <a:ext cx="226695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本地可部署、过程可审计、结果可追溯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01765" y="5563552"/>
                <a:ext cx="211836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核心检索 / 识别 / 消歧需在本地完成</a:t>
                </a:r>
                <a:endPara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502718" y="5838349"/>
                <a:ext cx="186690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不能默认依赖在线搜索或云端服务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49" name="TextBox 49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25" grpId="0"/>
      <p:bldP spid="48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2111597" cy="659130"/>
            <a:chOff x="735330" y="379095"/>
            <a:chExt cx="2111597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01 · 选题与目标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研究问题与目标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514005" y="485299"/>
            <a:ext cx="9283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1.3 — 1.4 / 6 章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62000" y="1409700"/>
            <a:ext cx="10668000" cy="685800"/>
            <a:chOff x="762000" y="1409700"/>
            <a:chExt cx="10668000" cy="685800"/>
          </a:xfrm>
        </p:grpSpPr>
        <p:sp>
          <p:nvSpPr>
            <p:cNvPr id="8" name="Rectangle 8"/>
            <p:cNvSpPr/>
            <p:nvPr/>
          </p:nvSpPr>
          <p:spPr>
            <a:xfrm>
              <a:off x="762000" y="1409700"/>
              <a:ext cx="10668000" cy="685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9813" y="1519714"/>
              <a:ext cx="1617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RESEARCH GOAL · 总体目标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9813" y="1757204"/>
              <a:ext cx="85389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构建面向离线知识服务的"知识组织 — 实体链接 — 实体对齐"链路，形成可用于 RAG 的结构化知识支撑能力。</a:t>
              </a:r>
              <a:endParaRPr lang="zh-CN" sz="12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49618" y="2256949"/>
            <a:ext cx="10680382" cy="3610451"/>
            <a:chOff x="749618" y="2256949"/>
            <a:chExt cx="10680382" cy="3610451"/>
          </a:xfrm>
        </p:grpSpPr>
        <p:sp>
          <p:nvSpPr>
            <p:cNvPr id="12" name="TextBox 12"/>
            <p:cNvSpPr txBox="1"/>
            <p:nvPr/>
          </p:nvSpPr>
          <p:spPr>
            <a:xfrm>
              <a:off x="749618" y="2256949"/>
              <a:ext cx="2787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FOUR PROGRESSIVE QUESTIONS · 四个递进问题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62000" y="2590800"/>
              <a:ext cx="10668000" cy="361950"/>
              <a:chOff x="762000" y="2590800"/>
              <a:chExt cx="10668000" cy="361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590800"/>
                <a:ext cx="10668000" cy="36195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40118" y="271414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#</a:t>
                </a:r>
                <a:endPara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16368" y="27141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研究问题</a:t>
                </a:r>
                <a:endPara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131118" y="27141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核心技术路径</a:t>
                </a:r>
                <a:endPara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45868" y="27141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主要验证方式</a:t>
                </a:r>
                <a:endPara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2952750"/>
              <a:ext cx="10668000" cy="723900"/>
              <a:chOff x="762000" y="2952750"/>
              <a:chExt cx="106680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952750"/>
                <a:ext cx="10668000" cy="723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2952750"/>
                <a:ext cx="476250" cy="723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31545" y="3212782"/>
                <a:ext cx="28449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8AB8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Q1</a:t>
                </a:r>
                <a:endParaRPr lang="zh-CN" sz="1650" b="1" dirty="0">
                  <a:solidFill>
                    <a:srgbClr val="2B8AB8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15415" y="314420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多源知识如何统一组织</a:t>
                </a:r>
                <a:endParaRPr lang="zh-CN" sz="105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17320" y="338899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入库 / 字段 / 索引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131118" y="31522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字段体系设计、本地索引构建、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31118" y="33237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离线知识对象组织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45868" y="32475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字段一致性与索引结构分析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" y="3695700"/>
              <a:ext cx="10668000" cy="723900"/>
              <a:chOff x="762000" y="3695700"/>
              <a:chExt cx="10668000" cy="7239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62000" y="3695700"/>
                <a:ext cx="10668000" cy="723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31545" y="3955732"/>
                <a:ext cx="34224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E9B92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Q2</a:t>
                </a:r>
                <a:endParaRPr lang="zh-CN" sz="1650" b="1" dirty="0">
                  <a:solidFill>
                    <a:srgbClr val="0E9B92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415415" y="388715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实体链接如何实现高精度</a:t>
                </a:r>
                <a:endParaRPr lang="zh-CN" sz="105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17320" y="4131945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候选召回 + 消歧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31118" y="3895249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NER 微调 + BGE-M3 多语言语义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31118" y="4066699"/>
                <a:ext cx="16239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+ 候选池自适应 LLM 重排序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45868" y="3990499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MRR、Hits@K 指标对比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62000" y="4419600"/>
              <a:ext cx="10668000" cy="723900"/>
              <a:chOff x="762000" y="4419600"/>
              <a:chExt cx="10668000" cy="7239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62000" y="4419600"/>
                <a:ext cx="10668000" cy="723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762000" y="4419600"/>
                <a:ext cx="476250" cy="723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1545" y="4679632"/>
                <a:ext cx="34224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ECA649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Q3</a:t>
                </a:r>
                <a:endParaRPr lang="zh-CN" sz="1650" b="1" dirty="0">
                  <a:solidFill>
                    <a:srgbClr val="ECA649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415415" y="4611052"/>
                <a:ext cx="1790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邻域结构能否增强实体对齐</a:t>
                </a:r>
                <a:endParaRPr lang="zh-CN" sz="105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417320" y="48558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跨语言 / 结构信号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131118" y="4619149"/>
                <a:ext cx="18644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原始语义基线 + 一跳邻域图增强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31118" y="479059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+ 动量对比学习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845868" y="4714399"/>
                <a:ext cx="16369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DBP15K zh_en 增强前后对比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762000" y="5143500"/>
              <a:ext cx="10668000" cy="723900"/>
              <a:chOff x="762000" y="5143500"/>
              <a:chExt cx="10668000" cy="7239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5143500"/>
                <a:ext cx="10668000" cy="723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31545" y="5403532"/>
                <a:ext cx="34224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4AA46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Q4</a:t>
                </a:r>
                <a:endParaRPr lang="zh-CN" sz="1650" b="1" dirty="0">
                  <a:solidFill>
                    <a:srgbClr val="4AA46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415415" y="5334952"/>
                <a:ext cx="21216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如何形成面向 RAG 的知识支撑层</a:t>
                </a:r>
                <a:endParaRPr lang="zh-CN" sz="1050" b="1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417320" y="5579745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系统集成 / 接口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131118" y="5343049"/>
                <a:ext cx="20530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KG-RAG 查询路由、知识分层组织、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131118" y="5514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对齐扩展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845868" y="54382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接口能力与系统边界分析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sp>
          <p:nvSpPr>
            <p:cNvPr id="53" name="Rectangle 53"/>
            <p:cNvSpPr/>
            <p:nvPr/>
          </p:nvSpPr>
          <p:spPr>
            <a:xfrm>
              <a:off x="762000" y="2952750"/>
              <a:ext cx="10668000" cy="291465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</p:grpSp>
      <p:sp>
        <p:nvSpPr>
          <p:cNvPr id="55" name="TextBox 55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1" grpId="0"/>
      <p:bldP spid="54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331850" cy="659130"/>
            <a:chOff x="735330" y="379095"/>
            <a:chExt cx="3331850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01 · 选题与目标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总体技术路线 · 四层链路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637520" y="48529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技术路线总览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48665" y="1220152"/>
            <a:ext cx="3275330" cy="469900"/>
            <a:chOff x="748665" y="1220152"/>
            <a:chExt cx="3275330" cy="469900"/>
          </a:xfrm>
        </p:grpSpPr>
        <p:sp>
          <p:nvSpPr>
            <p:cNvPr id="8" name="TextBox 8"/>
            <p:cNvSpPr txBox="1"/>
            <p:nvPr/>
          </p:nvSpPr>
          <p:spPr>
            <a:xfrm>
              <a:off x="748665" y="1220152"/>
              <a:ext cx="32753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由"知识入库"逐步走向"知识利用"——四层链路前后衔接</a:t>
              </a:r>
              <a:endPara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665" y="1528762"/>
              <a:ext cx="28003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每层各自封闭可验，又能向下一层提供稳定输入</a:t>
              </a:r>
              <a:endParaRPr lang="zh-CN" sz="105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62000" y="2000250"/>
            <a:ext cx="10668000" cy="3629025"/>
            <a:chOff x="762000" y="2000250"/>
            <a:chExt cx="10668000" cy="3629025"/>
          </a:xfrm>
        </p:grpSpPr>
        <p:grpSp>
          <p:nvGrpSpPr>
            <p:cNvPr id="28" name="Group 28"/>
            <p:cNvGrpSpPr/>
            <p:nvPr/>
          </p:nvGrpSpPr>
          <p:grpSpPr>
            <a:xfrm>
              <a:off x="762000" y="2000250"/>
              <a:ext cx="2381250" cy="3619500"/>
              <a:chOff x="762000" y="2000250"/>
              <a:chExt cx="2381250" cy="3619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2000250"/>
                <a:ext cx="2381250" cy="36195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762000" y="2000250"/>
                <a:ext cx="2381250" cy="5334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1070" y="2131695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01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6308" y="23007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知识组织</a:t>
                </a:r>
                <a:endPara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940118" y="2676049"/>
                <a:ext cx="1806035" cy="2800826"/>
                <a:chOff x="940118" y="2676049"/>
                <a:chExt cx="1806035" cy="2800826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940118" y="267604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输入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0118" y="2885599"/>
                  <a:ext cx="127942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Wikidata · Wikipedia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40118" y="3076099"/>
                  <a:ext cx="106489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领域监督标注数据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40118" y="341899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输出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940118" y="3628549"/>
                  <a:ext cx="804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统一实体对象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0118" y="3819049"/>
                  <a:ext cx="111690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ES 多字段本地索引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40118" y="41619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关键字段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41070" y="4379595"/>
                  <a:ext cx="180508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label / aliases / descriptions /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941070" y="4541520"/>
                  <a:ext cx="158905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entity_words / 1024-d 向量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40118" y="490489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解决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41070" y="5122545"/>
                  <a:ext cx="62293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检索与对齐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41070" y="5293995"/>
                  <a:ext cx="9829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共享同一对象边界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29" name="Line 29"/>
            <p:cNvSpPr/>
            <p:nvPr/>
          </p:nvSpPr>
          <p:spPr>
            <a:xfrm>
              <a:off x="3162300" y="3810000"/>
              <a:ext cx="247650" cy="1"/>
            </a:xfrm>
            <a:prstGeom prst="line">
              <a:avLst/>
            </a:prstGeom>
            <a:noFill/>
            <a:ln w="28575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429000" y="2000250"/>
              <a:ext cx="2381250" cy="3619500"/>
              <a:chOff x="3429000" y="2000250"/>
              <a:chExt cx="2381250" cy="3619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3429000" y="2000250"/>
                <a:ext cx="2381250" cy="36195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3429000" y="2000250"/>
                <a:ext cx="2381250" cy="5334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608070" y="213169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02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603308" y="23007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实体链接</a:t>
                </a:r>
                <a:endPara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3600450" y="2676049"/>
                <a:ext cx="1632680" cy="2286476"/>
                <a:chOff x="3600450" y="2676049"/>
                <a:chExt cx="1632680" cy="2286476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3607118" y="267604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流程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607118" y="2885599"/>
                  <a:ext cx="121441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提及识别 → 候选召回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607118" y="3076099"/>
                  <a:ext cx="117540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候选池自适应重排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607118" y="341899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模型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3607118" y="3628549"/>
                  <a:ext cx="7983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监督微调 NER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607118" y="3819049"/>
                  <a:ext cx="116890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多语言向量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607118" y="4009549"/>
                  <a:ext cx="95438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LLM 自适应重排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3607118" y="43524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关键结果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3600450" y="4524375"/>
                  <a:ext cx="1067229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MRR 0.827</a:t>
                  </a:r>
                  <a:endParaRPr lang="zh-CN" sz="15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608070" y="4779645"/>
                  <a:ext cx="162506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Hits@10 = 0.903 · 444 条标注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46" name="Line 46"/>
            <p:cNvSpPr/>
            <p:nvPr/>
          </p:nvSpPr>
          <p:spPr>
            <a:xfrm>
              <a:off x="5829300" y="3810000"/>
              <a:ext cx="247650" cy="1"/>
            </a:xfrm>
            <a:prstGeom prst="line">
              <a:avLst/>
            </a:prstGeom>
            <a:noFill/>
            <a:ln w="28575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96000" y="2000250"/>
              <a:ext cx="2381250" cy="3619500"/>
              <a:chOff x="6096000" y="2000250"/>
              <a:chExt cx="2381250" cy="3619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096000" y="2000250"/>
                <a:ext cx="2381250" cy="36195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096000" y="2000250"/>
                <a:ext cx="2381250" cy="5334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275070" y="213169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03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70308" y="23007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实体对齐</a:t>
                </a:r>
                <a:endPara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63" name="Group 63"/>
              <p:cNvGrpSpPr/>
              <p:nvPr/>
            </p:nvGrpSpPr>
            <p:grpSpPr>
              <a:xfrm>
                <a:off x="6271260" y="2676049"/>
                <a:ext cx="1786299" cy="2877026"/>
                <a:chOff x="6271260" y="2676049"/>
                <a:chExt cx="1786299" cy="2877026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6274118" y="26760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语义基线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274118" y="2885599"/>
                  <a:ext cx="98688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/ BGE-M3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6274118" y="32284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结构增强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274118" y="3438049"/>
                  <a:ext cx="90887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一跳邻域 + GAT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6274118" y="3628549"/>
                  <a:ext cx="8048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动量对比学习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274118" y="39714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关键结果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271260" y="4175760"/>
                  <a:ext cx="166028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0.478 → 0.696</a:t>
                  </a:r>
                  <a:endParaRPr lang="zh-CN" sz="12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271260" y="4404360"/>
                  <a:ext cx="1786299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0.679 → 0.725</a:t>
                  </a:r>
                  <a:endParaRPr lang="zh-CN" sz="12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275070" y="4665345"/>
                  <a:ext cx="111499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DBP15K zh_en · MRR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6274118" y="500014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作用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6275070" y="5217795"/>
                  <a:ext cx="110299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为英文增强配置提供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275070" y="5370195"/>
                  <a:ext cx="9829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可靠等价关系来源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65" name="Line 65"/>
            <p:cNvSpPr/>
            <p:nvPr/>
          </p:nvSpPr>
          <p:spPr>
            <a:xfrm>
              <a:off x="8496300" y="3810000"/>
              <a:ext cx="247650" cy="1"/>
            </a:xfrm>
            <a:prstGeom prst="line">
              <a:avLst/>
            </a:prstGeom>
            <a:noFill/>
            <a:ln w="28575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763000" y="2000250"/>
              <a:ext cx="2667000" cy="3629025"/>
              <a:chOff x="8763000" y="2000250"/>
              <a:chExt cx="2667000" cy="3629025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763000" y="2000250"/>
                <a:ext cx="2667000" cy="36195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E9B92"/>
                </a:solidFill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8763000" y="2000250"/>
                <a:ext cx="2667000" cy="5334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8942070" y="2131695"/>
                <a:ext cx="946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04 · CORE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937308" y="2300764"/>
                <a:ext cx="13891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KG-RAG 检索系统</a:t>
                </a:r>
                <a:endParaRPr lang="zh-CN" sz="12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84" name="Group 84"/>
              <p:cNvGrpSpPr/>
              <p:nvPr/>
            </p:nvGrpSpPr>
            <p:grpSpPr>
              <a:xfrm>
                <a:off x="8941118" y="2676049"/>
                <a:ext cx="2082069" cy="2953226"/>
                <a:chOff x="8941118" y="2676049"/>
                <a:chExt cx="2082069" cy="2953226"/>
              </a:xfrm>
            </p:grpSpPr>
            <p:sp>
              <p:nvSpPr>
                <p:cNvPr id="70" name="TextBox 70"/>
                <p:cNvSpPr txBox="1"/>
                <p:nvPr/>
              </p:nvSpPr>
              <p:spPr>
                <a:xfrm>
                  <a:off x="8941118" y="267604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承接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941118" y="2885599"/>
                  <a:ext cx="134443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 / 关系 / 三元组 /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941118" y="3076099"/>
                  <a:ext cx="121441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对齐扩展 / 参考来源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941118" y="34189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五大能力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941118" y="3628549"/>
                  <a:ext cx="65534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查询路由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941118" y="3819049"/>
                  <a:ext cx="15849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多路检索（图谱 + 百科）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941118" y="4009549"/>
                  <a:ext cx="65534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来源分层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8941118" y="4200049"/>
                  <a:ext cx="785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跨语言扩展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941118" y="4390549"/>
                  <a:ext cx="104539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生成上下文构造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941118" y="4733449"/>
                  <a:ext cx="29779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输出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8941118" y="4962049"/>
                  <a:ext cx="91537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7 个分层字段：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942070" y="5141595"/>
                  <a:ext cx="20391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entities / relationships / triples /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8942070" y="5293995"/>
                  <a:ext cx="208111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alignments / chunks / references /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942070" y="5446395"/>
                  <a:ext cx="57492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metadata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90" name="Group 90"/>
          <p:cNvGrpSpPr/>
          <p:nvPr/>
        </p:nvGrpSpPr>
        <p:grpSpPr>
          <a:xfrm>
            <a:off x="762000" y="5905500"/>
            <a:ext cx="10668000" cy="533400"/>
            <a:chOff x="762000" y="5905500"/>
            <a:chExt cx="10668000" cy="533400"/>
          </a:xfrm>
        </p:grpSpPr>
        <p:sp>
          <p:nvSpPr>
            <p:cNvPr id="87" name="Rectangle 87"/>
            <p:cNvSpPr/>
            <p:nvPr/>
          </p:nvSpPr>
          <p:spPr>
            <a:xfrm>
              <a:off x="762000" y="5905500"/>
              <a:ext cx="10668000" cy="5334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62000" y="5905500"/>
              <a:ext cx="38100" cy="533400"/>
            </a:xfrm>
            <a:prstGeom prst="rect">
              <a:avLst/>
            </a:prstGeom>
            <a:solidFill>
              <a:srgbClr val="0E9B92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77265" y="6116002"/>
              <a:ext cx="74383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关系：</a:t>
              </a:r>
              <a:r>
                <a: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后者依赖前者交付的稳定对象边界与可靠等价关系，每一层都将不确定性吸收在本层，向下交付"已收敛"的结构化结果。</a:t>
              </a:r>
              <a:endPara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05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0" grpId="0"/>
      <p:bldP spid="86" grpId="0"/>
      <p:bldP spid="90" grpId="0"/>
      <p:bldP spid="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1866900" cy="640080"/>
            <a:chOff x="735330" y="379095"/>
            <a:chExt cx="1866900" cy="64008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01 · 选题与目标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18669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总体技术路线图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9980938" y="485299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 1.2 · Original Figure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8665" y="1201102"/>
            <a:ext cx="537908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分层视角展示</a:t>
            </a:r>
            <a:r>
              <a:rPr lang="zh-CN" sz="105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"知识入库 → 实体归一 → 跨语言扩展 → KG-RAG 检索"</a:t>
            </a:r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四层链路的耦合关系。</a:t>
            </a:r>
            <a:endParaRPr lang="zh-CN" sz="1050" dirty="0">
              <a:solidFill>
                <a:srgbClr val="1F2937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62000" y="1733550"/>
            <a:ext cx="4762500" cy="4552950"/>
            <a:chOff x="762000" y="1733550"/>
            <a:chExt cx="4762500" cy="4552950"/>
          </a:xfrm>
        </p:grpSpPr>
        <p:sp>
          <p:nvSpPr>
            <p:cNvPr id="9" name="Rectangle 9"/>
            <p:cNvSpPr/>
            <p:nvPr/>
          </p:nvSpPr>
          <p:spPr>
            <a:xfrm>
              <a:off x="762000" y="1733550"/>
              <a:ext cx="4762500" cy="45529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733550"/>
              <a:ext cx="47625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3920" y="1845945"/>
              <a:ext cx="5929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FIGURE 1.2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2118" y="1837849"/>
              <a:ext cx="74676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总体技术路线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66875" y="2313218"/>
              <a:ext cx="2952750" cy="3717465"/>
            </a:xfrm>
            <a:prstGeom prst="rect">
              <a:avLst/>
            </a:prstGeom>
          </p:spPr>
        </p:pic>
      </p:grpSp>
      <p:grpSp>
        <p:nvGrpSpPr>
          <p:cNvPr id="45" name="Group 45"/>
          <p:cNvGrpSpPr/>
          <p:nvPr/>
        </p:nvGrpSpPr>
        <p:grpSpPr>
          <a:xfrm>
            <a:off x="5893118" y="1628299"/>
            <a:ext cx="5536882" cy="4410551"/>
            <a:chOff x="5893118" y="1628299"/>
            <a:chExt cx="5536882" cy="4410551"/>
          </a:xfrm>
        </p:grpSpPr>
        <p:sp>
          <p:nvSpPr>
            <p:cNvPr id="15" name="TextBox 15"/>
            <p:cNvSpPr txBox="1"/>
            <p:nvPr/>
          </p:nvSpPr>
          <p:spPr>
            <a:xfrm>
              <a:off x="5893118" y="16282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FOUR LAYERS · 与论文对应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5905500" y="2000250"/>
              <a:ext cx="5524500" cy="4038600"/>
              <a:chOff x="5905500" y="2000250"/>
              <a:chExt cx="5524500" cy="403860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5905500" y="2000250"/>
                <a:ext cx="5524500" cy="952500"/>
                <a:chOff x="5905500" y="2000250"/>
                <a:chExt cx="5524500" cy="9525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5905500" y="2000250"/>
                  <a:ext cx="5524500" cy="9525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5905500" y="2000250"/>
                  <a:ext cx="38100" cy="9525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083618" y="2142649"/>
                  <a:ext cx="98038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L1 · 知识组织层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084570" y="2398395"/>
                  <a:ext cx="20391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Wikidata · Wikipedia · 领域监督标注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084570" y="2588895"/>
                  <a:ext cx="19911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统一实体对象 + ES 多字段本地索引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831670" y="2355532"/>
                  <a:ext cx="23828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1A365D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01</a:t>
                  </a:r>
                  <a:endParaRPr lang="zh-CN" sz="1650" b="1" dirty="0">
                    <a:solidFill>
                      <a:srgbClr val="1A365D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5905500" y="3028950"/>
                <a:ext cx="5524500" cy="952500"/>
                <a:chOff x="5905500" y="3028950"/>
                <a:chExt cx="5524500" cy="9525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5905500" y="3028950"/>
                  <a:ext cx="5524500" cy="9525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4" name="Rectangle 24"/>
                <p:cNvSpPr/>
                <p:nvPr/>
              </p:nvSpPr>
              <p:spPr>
                <a:xfrm>
                  <a:off x="5905500" y="3028950"/>
                  <a:ext cx="38100" cy="9525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083618" y="3171349"/>
                  <a:ext cx="101451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L2 · 实体链接层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084570" y="3427095"/>
                  <a:ext cx="19310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监督微调 NER + BGE-M3 多语言向量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084570" y="3617595"/>
                  <a:ext cx="222513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候选池自适应 LLM 重排序 · MRR 0.827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773913" y="3384232"/>
                  <a:ext cx="2960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2B8AB8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02</a:t>
                  </a:r>
                  <a:endParaRPr lang="zh-CN" sz="1650" b="1" dirty="0">
                    <a:solidFill>
                      <a:srgbClr val="2B8AB8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5905500" y="4057650"/>
                <a:ext cx="5524500" cy="952500"/>
                <a:chOff x="5905500" y="4057650"/>
                <a:chExt cx="5524500" cy="95250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5905500" y="4057650"/>
                  <a:ext cx="5524500" cy="9525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5905500" y="4057650"/>
                  <a:ext cx="38100" cy="9525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083618" y="4200049"/>
                  <a:ext cx="101451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L3 · 实体对齐层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84570" y="4455795"/>
                  <a:ext cx="188909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/ BGE-M3 + 一跳邻域图增强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084570" y="4646295"/>
                  <a:ext cx="23391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动量对比学习 · DBP15K zh_en MRR 0.725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0773913" y="4412932"/>
                  <a:ext cx="2960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0E9B92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03</a:t>
                  </a:r>
                  <a:endParaRPr lang="zh-CN" sz="1650" b="1" dirty="0">
                    <a:solidFill>
                      <a:srgbClr val="0E9B92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5905500" y="5086350"/>
                <a:ext cx="5524500" cy="952500"/>
                <a:chOff x="5905500" y="5086350"/>
                <a:chExt cx="5524500" cy="95250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5905500" y="5086350"/>
                  <a:ext cx="5524500" cy="9525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ECA649"/>
                  </a:solidFill>
                </a:ln>
              </p:spPr>
            </p:sp>
            <p:sp>
              <p:nvSpPr>
                <p:cNvPr id="38" name="Rectangle 38"/>
                <p:cNvSpPr/>
                <p:nvPr/>
              </p:nvSpPr>
              <p:spPr>
                <a:xfrm>
                  <a:off x="5905500" y="5086350"/>
                  <a:ext cx="38100" cy="952500"/>
                </a:xfrm>
                <a:prstGeom prst="rect">
                  <a:avLst/>
                </a:prstGeom>
                <a:solidFill>
                  <a:srgbClr val="ECA649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083618" y="5228749"/>
                  <a:ext cx="136945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ECA649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L4 · KG-RAG 检索系统</a:t>
                  </a:r>
                  <a:endParaRPr lang="zh-CN" sz="975" b="1" dirty="0">
                    <a:solidFill>
                      <a:srgbClr val="ECA64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084570" y="5484495"/>
                  <a:ext cx="247716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查询路由 + 多路检索 + 来源分层 + 跨语言扩展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084570" y="5674995"/>
                  <a:ext cx="196110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七字段结构化输出 生成上下文构造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773913" y="5441632"/>
                  <a:ext cx="2960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650" b="1" dirty="0">
                      <a:solidFill>
                        <a:srgbClr val="ECA649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04</a:t>
                  </a:r>
                  <a:endParaRPr lang="zh-CN" sz="1650" b="1" dirty="0">
                    <a:solidFill>
                      <a:srgbClr val="ECA649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</p:grpSp>
        </p:grpSp>
      </p:grpSp>
      <p:sp>
        <p:nvSpPr>
          <p:cNvPr id="46" name="TextBox 46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06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8" grpId="0"/>
      <p:bldP spid="14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38150" y="1029652"/>
            <a:ext cx="2565083" cy="3299460"/>
            <a:chOff x="438150" y="1029652"/>
            <a:chExt cx="2565083" cy="3299460"/>
          </a:xfrm>
        </p:grpSpPr>
        <p:sp>
          <p:nvSpPr>
            <p:cNvPr id="5" name="TextBox 5"/>
            <p:cNvSpPr txBox="1"/>
            <p:nvPr/>
          </p:nvSpPr>
          <p:spPr>
            <a:xfrm>
              <a:off x="596265" y="1029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02</a:t>
              </a:r>
              <a:endParaRPr lang="zh-CN" sz="1050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150" y="1209675"/>
              <a:ext cx="242216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rgbClr val="FFFFFF">
                      <a:alphaMod val="95000"/>
                    </a:srgbClr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02</a:t>
              </a:r>
              <a:endParaRPr lang="zh-CN" sz="13500" b="1" dirty="0">
                <a:solidFill>
                  <a:srgbClr val="FFFFFF">
                    <a:alphaMod val="95000"/>
                  </a:srgbClr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9595" y="2898458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实体链接</a:t>
              </a:r>
              <a:endParaRPr lang="zh-CN" sz="31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2455" y="3473768"/>
              <a:ext cx="1240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Entity Linking</a:t>
              </a:r>
              <a:endParaRPr lang="zh-CN" sz="135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905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265" y="41157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把用户提及归一到正确的本地中文实体</a:t>
              </a:r>
              <a:endParaRPr lang="zh-CN" sz="1050" dirty="0">
                <a:solidFill>
                  <a:srgbClr val="FFFFFF">
                    <a:alphaMod val="8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097780" y="1304449"/>
            <a:ext cx="6141720" cy="3767613"/>
            <a:chOff x="5097780" y="1304449"/>
            <a:chExt cx="6141720" cy="3767613"/>
          </a:xfrm>
        </p:grpSpPr>
        <p:sp>
          <p:nvSpPr>
            <p:cNvPr id="12" name="TextBox 12"/>
            <p:cNvSpPr txBox="1"/>
            <p:nvPr/>
          </p:nvSpPr>
          <p:spPr>
            <a:xfrm>
              <a:off x="5131118" y="1304449"/>
              <a:ext cx="1870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CHAPTER OBJECTIVE · 本章目标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0640" y="1558290"/>
              <a:ext cx="307009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在不依赖在线服务的前提下</a:t>
              </a:r>
              <a:endParaRPr lang="zh-CN" sz="18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20640" y="1863090"/>
              <a:ext cx="44310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完成"提及定位 → 候选召回 → 候选排序"</a:t>
              </a:r>
              <a:endParaRPr lang="zh-CN" sz="18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5143500" y="23622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143500" y="2647950"/>
              <a:ext cx="6096000" cy="1143000"/>
              <a:chOff x="5143500" y="2647950"/>
              <a:chExt cx="6096000" cy="114300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5143500" y="2647950"/>
                <a:ext cx="1905000" cy="1143000"/>
                <a:chOff x="5143500" y="2647950"/>
                <a:chExt cx="1905000" cy="11430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5143500" y="2647950"/>
                  <a:ext cx="1905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5143500" y="2647950"/>
                  <a:ext cx="38100" cy="11430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321618" y="2847499"/>
                  <a:ext cx="59813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2.1 — 2.2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318760" y="3108960"/>
                  <a:ext cx="70256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知识组织</a:t>
                  </a:r>
                  <a:endParaRPr lang="zh-CN" sz="12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322570" y="3408045"/>
                  <a:ext cx="12410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字段体系 · 多字段索引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322570" y="35794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统一对象边界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7239000" y="2647950"/>
                <a:ext cx="1905000" cy="1143000"/>
                <a:chOff x="7239000" y="2647950"/>
                <a:chExt cx="1905000" cy="11430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7239000" y="2647950"/>
                  <a:ext cx="1905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4" name="Rectangle 24"/>
                <p:cNvSpPr/>
                <p:nvPr/>
              </p:nvSpPr>
              <p:spPr>
                <a:xfrm>
                  <a:off x="7239000" y="2647950"/>
                  <a:ext cx="38100" cy="11430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417118" y="2847499"/>
                  <a:ext cx="25001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2.3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414260" y="3108960"/>
                  <a:ext cx="70256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实体识别</a:t>
                  </a:r>
                  <a:endParaRPr lang="zh-CN" sz="12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418070" y="3408045"/>
                  <a:ext cx="112099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监督优先 · 字典兜底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18070" y="35794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查询入口定位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9334500" y="2647950"/>
                <a:ext cx="1905000" cy="1143000"/>
                <a:chOff x="9334500" y="2647950"/>
                <a:chExt cx="1905000" cy="114300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9334500" y="2647950"/>
                  <a:ext cx="1905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9334500" y="2647950"/>
                  <a:ext cx="38100" cy="11430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512618" y="2847499"/>
                  <a:ext cx="25001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2.4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509760" y="3108960"/>
                  <a:ext cx="1206627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候选检索与消歧</a:t>
                  </a:r>
                  <a:endParaRPr lang="zh-CN" sz="12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513570" y="3408045"/>
                  <a:ext cx="124101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向量召回 + 自适应重排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513570" y="3579495"/>
                  <a:ext cx="9829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候选池诊断式分流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41" name="Group 41"/>
            <p:cNvGrpSpPr/>
            <p:nvPr/>
          </p:nvGrpSpPr>
          <p:grpSpPr>
            <a:xfrm>
              <a:off x="5097780" y="4161949"/>
              <a:ext cx="3699510" cy="910113"/>
              <a:chOff x="5097780" y="4161949"/>
              <a:chExt cx="3699510" cy="910113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5131118" y="4161949"/>
                <a:ext cx="17344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CORE RESULT · 章节核心结果</a:t>
                </a:r>
                <a:endParaRPr lang="zh-CN" sz="975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097780" y="4259580"/>
                <a:ext cx="2989802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MRR </a:t>
                </a:r>
                <a:r>
                  <a:rPr lang="zh-CN" sz="3600" b="1" dirty="0">
                    <a:solidFill>
                      <a:srgbClr val="0E9B92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=</a:t>
                </a:r>
                <a:r>
                  <a:rPr lang="zh-CN" sz="36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 0.827</a:t>
                </a:r>
                <a:endParaRPr lang="zh-CN" sz="360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130165" y="4858702"/>
                <a:ext cx="36671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Hits@1 = 0.782 | Hits@10 = 0.903 | 评测集 444 条人工标注</a:t>
                </a:r>
                <a:endParaRPr lang="zh-CN" sz="105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07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4" grpId="0"/>
      <p:bldP spid="11" grpId="0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287744" cy="659130"/>
            <a:chOff x="735330" y="379095"/>
            <a:chExt cx="3287744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02 · 实体链接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287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数据来源与统一实体对象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871549" y="4852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2.1 — 2.2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749618" y="1228249"/>
            <a:ext cx="5536882" cy="3267551"/>
            <a:chOff x="749618" y="1228249"/>
            <a:chExt cx="5536882" cy="3267551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2282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DATA SOURCE · 三类来源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62000" y="1600200"/>
              <a:ext cx="5524500" cy="590550"/>
              <a:chOff x="762000" y="1600200"/>
              <a:chExt cx="5524500" cy="590550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762000" y="1600200"/>
                <a:ext cx="1905000" cy="590550"/>
                <a:chOff x="762000" y="1600200"/>
                <a:chExt cx="1905000" cy="590550"/>
              </a:xfrm>
            </p:grpSpPr>
            <p:sp>
              <p:nvSpPr>
                <p:cNvPr id="9" name="Rectangle 9"/>
                <p:cNvSpPr/>
                <p:nvPr/>
              </p:nvSpPr>
              <p:spPr>
                <a:xfrm>
                  <a:off x="762000" y="1600200"/>
                  <a:ext cx="1905000" cy="59055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0" name="Rectangle 10"/>
                <p:cNvSpPr/>
                <p:nvPr/>
              </p:nvSpPr>
              <p:spPr>
                <a:xfrm>
                  <a:off x="762000" y="1600200"/>
                  <a:ext cx="38100" cy="59055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902018" y="1723549"/>
                  <a:ext cx="58448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Wikidata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902970" y="1941195"/>
                  <a:ext cx="101898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标识 / 标签 / 别名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762250" y="1600200"/>
                <a:ext cx="1905000" cy="590550"/>
                <a:chOff x="2762250" y="1600200"/>
                <a:chExt cx="1905000" cy="590550"/>
              </a:xfrm>
            </p:grpSpPr>
            <p:sp>
              <p:nvSpPr>
                <p:cNvPr id="14" name="Rectangle 14"/>
                <p:cNvSpPr/>
                <p:nvPr/>
              </p:nvSpPr>
              <p:spPr>
                <a:xfrm>
                  <a:off x="2762250" y="1600200"/>
                  <a:ext cx="1905000" cy="59055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5" name="Rectangle 15"/>
                <p:cNvSpPr/>
                <p:nvPr/>
              </p:nvSpPr>
              <p:spPr>
                <a:xfrm>
                  <a:off x="2762250" y="1600200"/>
                  <a:ext cx="38100" cy="59055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2902268" y="1723549"/>
                  <a:ext cx="62544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Wikipedia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903220" y="19411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自然语言描述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4762500" y="1600200"/>
                <a:ext cx="1524000" cy="590550"/>
                <a:chOff x="4762500" y="1600200"/>
                <a:chExt cx="1524000" cy="590550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4762500" y="1600200"/>
                  <a:ext cx="1524000" cy="59055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0" name="Rectangle 20"/>
                <p:cNvSpPr/>
                <p:nvPr/>
              </p:nvSpPr>
              <p:spPr>
                <a:xfrm>
                  <a:off x="4762500" y="1600200"/>
                  <a:ext cx="38100" cy="59055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902518" y="17235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领域标注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903470" y="1941195"/>
                  <a:ext cx="73694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NER 监督微调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749618" y="2352199"/>
              <a:ext cx="5536882" cy="2143601"/>
              <a:chOff x="749618" y="2352199"/>
              <a:chExt cx="5536882" cy="2143601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49618" y="2352199"/>
                <a:ext cx="20595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UNIFIED ENTITY OBJECT · 核心字段</a:t>
                </a:r>
                <a:endPara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62000" y="2590800"/>
                <a:ext cx="5524500" cy="3048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83920" y="26841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字段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846070" y="26841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用途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036820" y="26841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来源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762000" y="2895600"/>
                <a:ext cx="5524500" cy="1600200"/>
                <a:chOff x="762000" y="2895600"/>
                <a:chExt cx="5524500" cy="1600200"/>
              </a:xfrm>
            </p:grpSpPr>
            <p:grpSp>
              <p:nvGrpSpPr>
                <p:cNvPr id="34" name="Group 34"/>
                <p:cNvGrpSpPr/>
                <p:nvPr/>
              </p:nvGrpSpPr>
              <p:grpSpPr>
                <a:xfrm>
                  <a:off x="762000" y="2895600"/>
                  <a:ext cx="5524500" cy="266700"/>
                  <a:chOff x="762000" y="2895600"/>
                  <a:chExt cx="5524500" cy="266700"/>
                </a:xfrm>
              </p:grpSpPr>
              <p:sp>
                <p:nvSpPr>
                  <p:cNvPr id="30" name="Rectangle 30"/>
                  <p:cNvSpPr/>
                  <p:nvPr/>
                </p:nvSpPr>
                <p:spPr>
                  <a:xfrm>
                    <a:off x="762000" y="2895600"/>
                    <a:ext cx="5524500" cy="266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883920" y="2969895"/>
                    <a:ext cx="63493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label / link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32" name="TextBox 32"/>
                  <p:cNvSpPr txBox="1"/>
                  <p:nvPr/>
                </p:nvSpPr>
                <p:spPr>
                  <a:xfrm>
                    <a:off x="2846070" y="2969895"/>
                    <a:ext cx="112099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精确匹配 / 去重溯源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5036820" y="2969895"/>
                    <a:ext cx="790956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Wikidata 标签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39" name="Group 39"/>
                <p:cNvGrpSpPr/>
                <p:nvPr/>
              </p:nvGrpSpPr>
              <p:grpSpPr>
                <a:xfrm>
                  <a:off x="762000" y="3162300"/>
                  <a:ext cx="5524500" cy="266700"/>
                  <a:chOff x="762000" y="3162300"/>
                  <a:chExt cx="5524500" cy="266700"/>
                </a:xfrm>
              </p:grpSpPr>
              <p:sp>
                <p:nvSpPr>
                  <p:cNvPr id="35" name="Rectangle 35"/>
                  <p:cNvSpPr/>
                  <p:nvPr/>
                </p:nvSpPr>
                <p:spPr>
                  <a:xfrm>
                    <a:off x="762000" y="3162300"/>
                    <a:ext cx="55245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883920" y="3236595"/>
                    <a:ext cx="95897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aliases_zh / _en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2846070" y="3236595"/>
                    <a:ext cx="74295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别名扩展召回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38" name="TextBox 38"/>
                  <p:cNvSpPr txBox="1"/>
                  <p:nvPr/>
                </p:nvSpPr>
                <p:spPr>
                  <a:xfrm>
                    <a:off x="5036820" y="3236595"/>
                    <a:ext cx="790956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Wikidata 别名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44" name="Group 44"/>
                <p:cNvGrpSpPr/>
                <p:nvPr/>
              </p:nvGrpSpPr>
              <p:grpSpPr>
                <a:xfrm>
                  <a:off x="762000" y="3429000"/>
                  <a:ext cx="5524500" cy="266700"/>
                  <a:chOff x="762000" y="3429000"/>
                  <a:chExt cx="5524500" cy="266700"/>
                </a:xfrm>
              </p:grpSpPr>
              <p:sp>
                <p:nvSpPr>
                  <p:cNvPr id="40" name="Rectangle 40"/>
                  <p:cNvSpPr/>
                  <p:nvPr/>
                </p:nvSpPr>
                <p:spPr>
                  <a:xfrm>
                    <a:off x="762000" y="3429000"/>
                    <a:ext cx="5524500" cy="266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883920" y="3503295"/>
                    <a:ext cx="128901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descriptions_zh / _en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2846070" y="3503295"/>
                    <a:ext cx="1241012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语义检索 / 跨语言补充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5036820" y="3503295"/>
                    <a:ext cx="826961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Wikipedia 页面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49" name="Group 49"/>
                <p:cNvGrpSpPr/>
                <p:nvPr/>
              </p:nvGrpSpPr>
              <p:grpSpPr>
                <a:xfrm>
                  <a:off x="762000" y="3695700"/>
                  <a:ext cx="5524500" cy="266700"/>
                  <a:chOff x="762000" y="3695700"/>
                  <a:chExt cx="5524500" cy="266700"/>
                </a:xfrm>
              </p:grpSpPr>
              <p:sp>
                <p:nvSpPr>
                  <p:cNvPr id="45" name="Rectangle 45"/>
                  <p:cNvSpPr/>
                  <p:nvPr/>
                </p:nvSpPr>
                <p:spPr>
                  <a:xfrm>
                    <a:off x="762000" y="3695700"/>
                    <a:ext cx="55245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883920" y="3769995"/>
                    <a:ext cx="134302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entity_words_zh / _en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2846070" y="3769995"/>
                    <a:ext cx="86296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局部关键词检索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5036820" y="3769995"/>
                    <a:ext cx="62293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从描述抽取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54" name="Group 54"/>
                <p:cNvGrpSpPr/>
                <p:nvPr/>
              </p:nvGrpSpPr>
              <p:grpSpPr>
                <a:xfrm>
                  <a:off x="762000" y="3962400"/>
                  <a:ext cx="5524500" cy="266700"/>
                  <a:chOff x="762000" y="3962400"/>
                  <a:chExt cx="5524500" cy="266700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762000" y="3962400"/>
                    <a:ext cx="5524500" cy="266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883920" y="4036695"/>
                    <a:ext cx="108499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*_vector (1024-d)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2846070" y="4036695"/>
                    <a:ext cx="74295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向量近邻搜索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5036820" y="4036695"/>
                    <a:ext cx="71894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BGE-M3 编码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59" name="Group 59"/>
                <p:cNvGrpSpPr/>
                <p:nvPr/>
              </p:nvGrpSpPr>
              <p:grpSpPr>
                <a:xfrm>
                  <a:off x="762000" y="4229100"/>
                  <a:ext cx="5524500" cy="266700"/>
                  <a:chOff x="762000" y="4229100"/>
                  <a:chExt cx="5524500" cy="266700"/>
                </a:xfrm>
              </p:grpSpPr>
              <p:sp>
                <p:nvSpPr>
                  <p:cNvPr id="55" name="Rectangle 55"/>
                  <p:cNvSpPr/>
                  <p:nvPr/>
                </p:nvSpPr>
                <p:spPr>
                  <a:xfrm>
                    <a:off x="762000" y="4229100"/>
                    <a:ext cx="55245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883920" y="4303395"/>
                    <a:ext cx="85096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entity_freq_*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2846070" y="4303395"/>
                    <a:ext cx="86296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实体词词频统计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5036820" y="4303395"/>
                    <a:ext cx="74295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抽取过程统计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sp>
            <p:nvSpPr>
              <p:cNvPr id="61" name="Rectangle 61"/>
              <p:cNvSpPr/>
              <p:nvPr/>
            </p:nvSpPr>
            <p:spPr>
              <a:xfrm>
                <a:off x="762000" y="2590800"/>
                <a:ext cx="5524500" cy="1905000"/>
              </a:xfrm>
              <a:prstGeom prst="rect">
                <a:avLst/>
              </a:prstGeom>
              <a:noFill/>
              <a:ln w="9525">
                <a:solidFill>
                  <a:srgbClr val="E5E7EB"/>
                </a:solidFill>
              </a:ln>
            </p:spPr>
          </p:sp>
        </p:grpSp>
      </p:grpSp>
      <p:grpSp>
        <p:nvGrpSpPr>
          <p:cNvPr id="92" name="Group 92"/>
          <p:cNvGrpSpPr/>
          <p:nvPr/>
        </p:nvGrpSpPr>
        <p:grpSpPr>
          <a:xfrm>
            <a:off x="6845618" y="1228249"/>
            <a:ext cx="4584382" cy="4362926"/>
            <a:chOff x="6845618" y="1228249"/>
            <a:chExt cx="4584382" cy="4362926"/>
          </a:xfrm>
        </p:grpSpPr>
        <p:sp>
          <p:nvSpPr>
            <p:cNvPr id="64" name="TextBox 64"/>
            <p:cNvSpPr txBox="1"/>
            <p:nvPr/>
          </p:nvSpPr>
          <p:spPr>
            <a:xfrm>
              <a:off x="6845618" y="1228249"/>
              <a:ext cx="2196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MULTI-FIELD INDEX · 多字段索引结构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6858000" y="1562100"/>
              <a:ext cx="4572000" cy="3619500"/>
              <a:chOff x="6858000" y="1562100"/>
              <a:chExt cx="4572000" cy="36195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6858000" y="1562100"/>
                <a:ext cx="4572000" cy="3619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572500" y="3105150"/>
                <a:ext cx="1143000" cy="533400"/>
                <a:chOff x="8572500" y="3105150"/>
                <a:chExt cx="1143000" cy="533400"/>
              </a:xfrm>
            </p:grpSpPr>
            <p:sp>
              <p:nvSpPr>
                <p:cNvPr id="66" name="Rectangle 66"/>
                <p:cNvSpPr/>
                <p:nvPr/>
              </p:nvSpPr>
              <p:spPr>
                <a:xfrm>
                  <a:off x="8572500" y="3105150"/>
                  <a:ext cx="1143000" cy="5334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8730520" y="3236595"/>
                  <a:ext cx="82696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Unified Entity</a:t>
                  </a:r>
                  <a:endParaRPr lang="zh-CN" sz="90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913495" y="3435191"/>
                  <a:ext cx="46101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同一对象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74" name="Group 74"/>
              <p:cNvGrpSpPr/>
              <p:nvPr/>
            </p:nvGrpSpPr>
            <p:grpSpPr>
              <a:xfrm>
                <a:off x="7086600" y="1943100"/>
                <a:ext cx="1619250" cy="723900"/>
                <a:chOff x="7086600" y="1943100"/>
                <a:chExt cx="1619250" cy="723900"/>
              </a:xfrm>
            </p:grpSpPr>
            <p:sp>
              <p:nvSpPr>
                <p:cNvPr id="70" name="Rectangle 70"/>
                <p:cNvSpPr/>
                <p:nvPr/>
              </p:nvSpPr>
              <p:spPr>
                <a:xfrm>
                  <a:off x="7086600" y="1943100"/>
                  <a:ext cx="1619250" cy="723900"/>
                </a:xfrm>
                <a:prstGeom prst="rect">
                  <a:avLst/>
                </a:prstGeom>
                <a:solidFill>
                  <a:srgbClr val="FFFFFF"/>
                </a:solidFill>
                <a:ln w="14288">
                  <a:solidFill>
                    <a:srgbClr val="2B8AB8"/>
                  </a:solidFill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7189470" y="2055495"/>
                  <a:ext cx="52692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文本入口</a:t>
                  </a:r>
                  <a:endParaRPr lang="zh-CN" sz="90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7190422" y="2254091"/>
                  <a:ext cx="94507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label · aliases_zh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7190422" y="2406491"/>
                  <a:ext cx="124210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descriptions_zh · body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75" name="Line 75"/>
              <p:cNvSpPr/>
              <p:nvPr/>
            </p:nvSpPr>
            <p:spPr>
              <a:xfrm>
                <a:off x="8705850" y="2305050"/>
                <a:ext cx="24765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895350">
                    <a:moveTo>
                      <a:pt x="0" y="0"/>
                    </a:moveTo>
                    <a:lnTo>
                      <a:pt x="247650" y="8953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9582150" y="1943100"/>
                <a:ext cx="1619250" cy="723900"/>
                <a:chOff x="9582150" y="1943100"/>
                <a:chExt cx="1619250" cy="723900"/>
              </a:xfrm>
            </p:grpSpPr>
            <p:sp>
              <p:nvSpPr>
                <p:cNvPr id="76" name="Rectangle 76"/>
                <p:cNvSpPr/>
                <p:nvPr/>
              </p:nvSpPr>
              <p:spPr>
                <a:xfrm>
                  <a:off x="9582150" y="1943100"/>
                  <a:ext cx="1619250" cy="723900"/>
                </a:xfrm>
                <a:prstGeom prst="rect">
                  <a:avLst/>
                </a:prstGeom>
                <a:solidFill>
                  <a:srgbClr val="FFFFFF"/>
                </a:solidFill>
                <a:ln w="14288">
                  <a:solidFill>
                    <a:srgbClr val="2B8AB8"/>
                  </a:solidFill>
                </a:ln>
              </p:spPr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9685020" y="2055495"/>
                  <a:ext cx="65293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局部关键词</a:t>
                  </a:r>
                  <a:endParaRPr lang="zh-CN" sz="90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9685972" y="2254091"/>
                  <a:ext cx="92306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entity_words_zh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9685972" y="2406491"/>
                  <a:ext cx="92306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entity_words_en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81" name="Line 81"/>
              <p:cNvSpPr/>
              <p:nvPr/>
            </p:nvSpPr>
            <p:spPr>
              <a:xfrm>
                <a:off x="9353550" y="2305050"/>
                <a:ext cx="2286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95350">
                    <a:moveTo>
                      <a:pt x="228600" y="0"/>
                    </a:moveTo>
                    <a:lnTo>
                      <a:pt x="0" y="89535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8334375" y="4152900"/>
                <a:ext cx="1619250" cy="723900"/>
                <a:chOff x="8334375" y="4152900"/>
                <a:chExt cx="1619250" cy="723900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8334375" y="4152900"/>
                  <a:ext cx="1619250" cy="723900"/>
                </a:xfrm>
                <a:prstGeom prst="rect">
                  <a:avLst/>
                </a:prstGeom>
                <a:solidFill>
                  <a:srgbClr val="FFFFFF"/>
                </a:solidFill>
                <a:ln w="14288">
                  <a:solidFill>
                    <a:srgbClr val="0E9B92"/>
                  </a:solidFill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437245" y="4265295"/>
                  <a:ext cx="52692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向量近邻</a:t>
                  </a:r>
                  <a:endPara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8438198" y="4463891"/>
                  <a:ext cx="128611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entity_words_*_vector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8438198" y="4616291"/>
                  <a:ext cx="1033081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label / desc vector</a:t>
                  </a:r>
                  <a:endParaRPr lang="zh-CN" sz="82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87" name="Line 87"/>
              <p:cNvSpPr/>
              <p:nvPr/>
            </p:nvSpPr>
            <p:spPr>
              <a:xfrm>
                <a:off x="9144000" y="36385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51435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  <a:custDash>
                  <a:ds d="300000" sp="300000"/>
                </a:custDash>
              </a:ln>
            </p:spPr>
          </p:sp>
        </p:grpSp>
        <p:grpSp>
          <p:nvGrpSpPr>
            <p:cNvPr id="91" name="Group 91"/>
            <p:cNvGrpSpPr/>
            <p:nvPr/>
          </p:nvGrpSpPr>
          <p:grpSpPr>
            <a:xfrm>
              <a:off x="6846570" y="5217795"/>
              <a:ext cx="3059240" cy="373380"/>
              <a:chOff x="6846570" y="5217795"/>
              <a:chExt cx="3059240" cy="373380"/>
            </a:xfrm>
          </p:grpSpPr>
          <p:sp>
            <p:nvSpPr>
              <p:cNvPr id="89" name="TextBox 89"/>
              <p:cNvSpPr txBox="1"/>
              <p:nvPr/>
            </p:nvSpPr>
            <p:spPr>
              <a:xfrm>
                <a:off x="6846570" y="5217795"/>
                <a:ext cx="25431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关键约束：</a:t>
                </a:r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基础实体链接索引只使用中文字段；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846570" y="5408295"/>
                <a:ext cx="30592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英文别名 / 描述 / 向量作为</a:t>
                </a:r>
                <a:r>
                  <a:rPr lang="zh-CN" sz="9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额外实验配置</a:t>
                </a:r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而非默认输入。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93" name="TextBox 93"/>
          <p:cNvSpPr txBox="1"/>
          <p:nvPr/>
        </p:nvSpPr>
        <p:spPr>
          <a:xfrm>
            <a:off x="11277917" y="6483191"/>
            <a:ext cx="35306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08 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" name="图片 1" descr="数据预处理流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721225"/>
            <a:ext cx="5524500" cy="1690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63" grpId="0"/>
      <p:bldP spid="92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625887" cy="659130"/>
            <a:chOff x="735330" y="379095"/>
            <a:chExt cx="3625887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02 · 实体链接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6258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实体识别 + 候选检索与消歧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839045" y="485299"/>
            <a:ext cx="6033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2.3 — 2.4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749618" y="1228249"/>
            <a:ext cx="10680382" cy="1991201"/>
            <a:chOff x="749618" y="1228249"/>
            <a:chExt cx="10680382" cy="1991201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228249"/>
              <a:ext cx="1721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PIPELINE · 实体链接执行流程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62000" y="1619250"/>
              <a:ext cx="10668000" cy="1600200"/>
              <a:chOff x="762000" y="1619250"/>
              <a:chExt cx="10668000" cy="1600200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762000" y="1619250"/>
                <a:ext cx="1905000" cy="742950"/>
                <a:chOff x="762000" y="1619250"/>
                <a:chExt cx="1905000" cy="742950"/>
              </a:xfrm>
            </p:grpSpPr>
            <p:sp>
              <p:nvSpPr>
                <p:cNvPr id="9" name="Rectangle 9"/>
                <p:cNvSpPr/>
                <p:nvPr/>
              </p:nvSpPr>
              <p:spPr>
                <a:xfrm>
                  <a:off x="762000" y="1619250"/>
                  <a:ext cx="1905000" cy="74295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936498" y="1705451"/>
                  <a:ext cx="35890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STEP 1</a:t>
                  </a:r>
                  <a:endPara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927259" y="1909762"/>
                  <a:ext cx="65865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提及识别</a:t>
                  </a:r>
                  <a:endPara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926496" y="2176053"/>
                  <a:ext cx="76904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NER + 字典兜底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14" name="Line 14"/>
              <p:cNvSpPr/>
              <p:nvPr/>
            </p:nvSpPr>
            <p:spPr>
              <a:xfrm>
                <a:off x="2686050" y="1990725"/>
                <a:ext cx="190500" cy="1"/>
              </a:xfrm>
              <a:prstGeom prst="line">
                <a:avLst/>
              </a:prstGeom>
              <a:noFill/>
              <a:ln w="23812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2895600" y="1619250"/>
                <a:ext cx="1905000" cy="742950"/>
                <a:chOff x="2895600" y="1619250"/>
                <a:chExt cx="1905000" cy="742950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2895600" y="1619250"/>
                  <a:ext cx="1905000" cy="74295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074670" y="1700893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STEP 2</a:t>
                  </a:r>
                  <a:endPara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053822" y="1925479"/>
                  <a:ext cx="125722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向量召回</a:t>
                  </a:r>
                  <a:endPara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078051" y="2180067"/>
                  <a:ext cx="60952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Top-10 候选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20" name="Line 20"/>
              <p:cNvSpPr/>
              <p:nvPr/>
            </p:nvSpPr>
            <p:spPr>
              <a:xfrm>
                <a:off x="4819650" y="1990725"/>
                <a:ext cx="190500" cy="1"/>
              </a:xfrm>
              <a:prstGeom prst="line">
                <a:avLst/>
              </a:prstGeom>
              <a:noFill/>
              <a:ln w="23812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029200" y="1619250"/>
                <a:ext cx="1905000" cy="742950"/>
                <a:chOff x="5029200" y="1619250"/>
                <a:chExt cx="1905000" cy="742950"/>
              </a:xfrm>
            </p:grpSpPr>
            <p:sp>
              <p:nvSpPr>
                <p:cNvPr id="21" name="Rectangle 21"/>
                <p:cNvSpPr/>
                <p:nvPr/>
              </p:nvSpPr>
              <p:spPr>
                <a:xfrm>
                  <a:off x="5029200" y="1619250"/>
                  <a:ext cx="1905000" cy="74295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208270" y="1705451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STEP 3</a:t>
                  </a:r>
                  <a:endPara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209222" y="1938337"/>
                  <a:ext cx="81617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候选池分流</a:t>
                  </a:r>
                  <a:endPara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209222" y="2184081"/>
                  <a:ext cx="101107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是否覆盖正确实体？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26" name="Line 26"/>
              <p:cNvSpPr/>
              <p:nvPr/>
            </p:nvSpPr>
            <p:spPr>
              <a:xfrm>
                <a:off x="6953250" y="1990725"/>
                <a:ext cx="190500" cy="1"/>
              </a:xfrm>
              <a:prstGeom prst="line">
                <a:avLst/>
              </a:prstGeom>
              <a:noFill/>
              <a:ln w="23812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7162800" y="1619250"/>
                <a:ext cx="2286000" cy="742950"/>
                <a:chOff x="7162800" y="1619250"/>
                <a:chExt cx="2286000" cy="742950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7162800" y="1619250"/>
                  <a:ext cx="2286000" cy="7429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2B8AB8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338742" y="1728311"/>
                  <a:ext cx="76695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2B8AB8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STEP 4 · 覆盖</a:t>
                  </a:r>
                  <a:endParaRPr lang="zh-CN" sz="900" dirty="0">
                    <a:solidFill>
                      <a:srgbClr val="2B8AB8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330964" y="1940719"/>
                  <a:ext cx="90878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小候选集精排</a:t>
                  </a:r>
                  <a:endPara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338742" y="2176053"/>
                  <a:ext cx="84605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LLM 重排 Top-10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7162800" y="2476500"/>
                <a:ext cx="2286000" cy="742950"/>
                <a:chOff x="7162800" y="2476500"/>
                <a:chExt cx="2286000" cy="742950"/>
              </a:xfrm>
            </p:grpSpPr>
            <p:sp>
              <p:nvSpPr>
                <p:cNvPr id="32" name="Rectangle 32"/>
                <p:cNvSpPr/>
                <p:nvPr/>
              </p:nvSpPr>
              <p:spPr>
                <a:xfrm>
                  <a:off x="7162800" y="2476500"/>
                  <a:ext cx="2286000" cy="7429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E9B9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341870" y="2576036"/>
                  <a:ext cx="8869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0E9B92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STEP 4 · 未覆盖</a:t>
                  </a:r>
                  <a:endParaRPr lang="zh-CN" sz="900" dirty="0">
                    <a:solidFill>
                      <a:srgbClr val="0E9B92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338742" y="2799022"/>
                  <a:ext cx="129102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文本宽召回 Top-30</a:t>
                  </a:r>
                  <a:endPara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345953" y="3032112"/>
                  <a:ext cx="69754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LLM 综合判别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37" name="Line 37"/>
              <p:cNvSpPr/>
              <p:nvPr/>
            </p:nvSpPr>
            <p:spPr>
              <a:xfrm>
                <a:off x="6953250" y="19907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1A365D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7048500" y="1990725"/>
                <a:ext cx="9525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0">
                    <a:moveTo>
                      <a:pt x="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23812">
                <a:solidFill>
                  <a:srgbClr val="1A365D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7048500" y="2847975"/>
                <a:ext cx="95250" cy="1"/>
              </a:xfrm>
              <a:prstGeom prst="line">
                <a:avLst/>
              </a:prstGeom>
              <a:noFill/>
              <a:ln w="23812">
                <a:solidFill>
                  <a:srgbClr val="1A365D"/>
                </a:solidFill>
                <a:tailEnd type="triangle" w="lg" len="lg"/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9467850" y="1990725"/>
                <a:ext cx="190500" cy="1"/>
              </a:xfrm>
              <a:prstGeom prst="line">
                <a:avLst/>
              </a:prstGeom>
              <a:noFill/>
              <a:ln w="23812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677400" y="1619250"/>
                <a:ext cx="1752600" cy="1600200"/>
                <a:chOff x="9677400" y="1619250"/>
                <a:chExt cx="1752600" cy="1600200"/>
              </a:xfrm>
            </p:grpSpPr>
            <p:sp>
              <p:nvSpPr>
                <p:cNvPr id="41" name="Rectangle 41"/>
                <p:cNvSpPr/>
                <p:nvPr/>
              </p:nvSpPr>
              <p:spPr>
                <a:xfrm>
                  <a:off x="9677400" y="1619250"/>
                  <a:ext cx="1752600" cy="16002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856470" y="1826895"/>
                  <a:ext cx="44291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OUTPUT</a:t>
                  </a:r>
                  <a:endPara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853612" y="2069306"/>
                  <a:ext cx="839801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归一实体 ID</a:t>
                  </a:r>
                  <a:endPara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857422" y="2292191"/>
                  <a:ext cx="55452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8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 候选排名</a:t>
                  </a:r>
                  <a:endParaRPr lang="zh-CN" sz="825" dirty="0">
                    <a:solidFill>
                      <a:srgbClr val="FFFFFF">
                        <a:alphaMod val="8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5" name="Line 45"/>
                <p:cNvSpPr/>
                <p:nvPr/>
              </p:nvSpPr>
              <p:spPr>
                <a:xfrm>
                  <a:off x="9867900" y="2571750"/>
                  <a:ext cx="571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0" h="9525">
                      <a:moveTo>
                        <a:pt x="0" y="0"/>
                      </a:moveTo>
                      <a:lnTo>
                        <a:pt x="571500" y="0"/>
                      </a:lnTo>
                    </a:path>
                  </a:pathLst>
                </a:custGeom>
                <a:noFill/>
                <a:ln w="9525">
                  <a:solidFill>
                    <a:srgbClr val="FFFFFF">
                      <a:alpha val="50000"/>
                    </a:srgbClr>
                  </a:solidFill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9855518" y="2695099"/>
                  <a:ext cx="59131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最佳 MRR</a:t>
                  </a:r>
                  <a:endPara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9846945" y="2869882"/>
                  <a:ext cx="595630" cy="2533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FFFFFF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0.8</a:t>
                  </a:r>
                  <a:r>
                    <a:rPr lang="en-US" altLang="zh-CN" sz="1650" b="1" dirty="0">
                      <a:solidFill>
                        <a:srgbClr val="FFFFFF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19</a:t>
                  </a:r>
                  <a:endParaRPr lang="en-US" altLang="zh-CN" sz="165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</p:grpSp>
        </p:grpSp>
      </p:grpSp>
      <p:grpSp>
        <p:nvGrpSpPr>
          <p:cNvPr id="69" name="Group 69"/>
          <p:cNvGrpSpPr/>
          <p:nvPr/>
        </p:nvGrpSpPr>
        <p:grpSpPr>
          <a:xfrm>
            <a:off x="737235" y="3232513"/>
            <a:ext cx="5155882" cy="2682988"/>
            <a:chOff x="749618" y="3146312"/>
            <a:chExt cx="5155882" cy="2682988"/>
          </a:xfrm>
        </p:grpSpPr>
        <p:sp>
          <p:nvSpPr>
            <p:cNvPr id="51" name="TextBox 51"/>
            <p:cNvSpPr txBox="1"/>
            <p:nvPr/>
          </p:nvSpPr>
          <p:spPr>
            <a:xfrm>
              <a:off x="749618" y="3146312"/>
              <a:ext cx="1981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2.3 RECOGNITION · 混合识别策略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762000" y="3467100"/>
              <a:ext cx="5143500" cy="2362200"/>
              <a:chOff x="762000" y="3467100"/>
              <a:chExt cx="5143500" cy="23622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762000" y="3467100"/>
                <a:ext cx="5143500" cy="23622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952500" y="3752850"/>
                <a:ext cx="2960021" cy="633095"/>
                <a:chOff x="952500" y="3752850"/>
                <a:chExt cx="2960021" cy="633095"/>
              </a:xfrm>
            </p:grpSpPr>
            <p:sp>
              <p:nvSpPr>
                <p:cNvPr id="53" name="Rectangle 53"/>
                <p:cNvSpPr/>
                <p:nvPr/>
              </p:nvSpPr>
              <p:spPr>
                <a:xfrm>
                  <a:off x="952500" y="3752850"/>
                  <a:ext cx="952500" cy="2667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1129284" y="3794760"/>
                  <a:ext cx="59893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主路 · NER</a:t>
                  </a:r>
                  <a:endParaRPr lang="zh-CN" sz="90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2090103" y="3753009"/>
                  <a:ext cx="132492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监督微调实体识别模型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2083435" y="3977640"/>
                  <a:ext cx="182908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基于人工标注 + AdamW · LR 5e-5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2084070" y="4203065"/>
                  <a:ext cx="166106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Token Acc 0.974 · F1 = 0.804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952500" y="4552950"/>
                <a:ext cx="2870994" cy="676275"/>
                <a:chOff x="952500" y="4552950"/>
                <a:chExt cx="2870994" cy="676275"/>
              </a:xfrm>
            </p:grpSpPr>
            <p:sp>
              <p:nvSpPr>
                <p:cNvPr id="59" name="Rectangle 59"/>
                <p:cNvSpPr/>
                <p:nvPr/>
              </p:nvSpPr>
              <p:spPr>
                <a:xfrm>
                  <a:off x="952500" y="4552950"/>
                  <a:ext cx="952500" cy="266700"/>
                </a:xfrm>
                <a:prstGeom prst="rect">
                  <a:avLst/>
                </a:prstGeom>
                <a:solidFill>
                  <a:srgbClr val="6B7280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108281" y="4622165"/>
                  <a:ext cx="64093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兜底 · 字典</a:t>
                  </a:r>
                  <a:endParaRPr lang="zh-CN" sz="90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2083118" y="4607084"/>
                  <a:ext cx="16044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标准名 + 中文别名贪心匹配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2090420" y="4819650"/>
                  <a:ext cx="173307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长度优先 · 过滤 URL / 过长字段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2090420" y="5046345"/>
                  <a:ext cx="133102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规范化 Latin / CJK 边界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67" name="Group 67"/>
              <p:cNvGrpSpPr/>
              <p:nvPr/>
            </p:nvGrpSpPr>
            <p:grpSpPr>
              <a:xfrm>
                <a:off x="941070" y="5391150"/>
                <a:ext cx="4773930" cy="288994"/>
                <a:chOff x="941070" y="5391150"/>
                <a:chExt cx="4773930" cy="288994"/>
              </a:xfrm>
            </p:grpSpPr>
            <p:sp>
              <p:nvSpPr>
                <p:cNvPr id="65" name="Rectangle 65"/>
                <p:cNvSpPr/>
                <p:nvPr/>
              </p:nvSpPr>
              <p:spPr>
                <a:xfrm>
                  <a:off x="952500" y="5391150"/>
                  <a:ext cx="4762500" cy="19050"/>
                </a:xfrm>
                <a:prstGeom prst="rect">
                  <a:avLst/>
                </a:prstGeom>
                <a:solidFill>
                  <a:srgbClr val="0E9B92">
                    <a:alpha val="60000"/>
                  </a:srgbClr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41070" y="5541645"/>
                  <a:ext cx="2784417" cy="1384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分支选择：</a:t>
                  </a:r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NER 输出非空采纳模型结果，否则切换字典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82" name="Group 82"/>
          <p:cNvGrpSpPr/>
          <p:nvPr/>
        </p:nvGrpSpPr>
        <p:grpSpPr>
          <a:xfrm>
            <a:off x="6286502" y="3315404"/>
            <a:ext cx="5155882" cy="2652347"/>
            <a:chOff x="6274118" y="3176953"/>
            <a:chExt cx="5155882" cy="2652347"/>
          </a:xfrm>
        </p:grpSpPr>
        <p:sp>
          <p:nvSpPr>
            <p:cNvPr id="70" name="TextBox 70"/>
            <p:cNvSpPr txBox="1"/>
            <p:nvPr/>
          </p:nvSpPr>
          <p:spPr>
            <a:xfrm>
              <a:off x="6274118" y="3176953"/>
              <a:ext cx="188192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2.4 RETRIEVAL · 候选池自适应重排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6286500" y="3467100"/>
              <a:ext cx="5143500" cy="2362200"/>
              <a:chOff x="6286500" y="3467100"/>
              <a:chExt cx="5143500" cy="23622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6286500" y="3467100"/>
                <a:ext cx="5143500" cy="23622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E9B92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6463665" y="3658552"/>
                <a:ext cx="16585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为什么"自适应"是关键？</a:t>
                </a:r>
                <a:endPara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464618" y="3971449"/>
                <a:ext cx="22935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全量重排：把候选 10 个全部交给 LLM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465570" y="4150995"/>
                <a:ext cx="2045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→ 噪声混入，中文场景细粒度判别下降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464618" y="4390549"/>
                <a:ext cx="22285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候选池自适应：依据"是否覆盖"分流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465570" y="4570095"/>
                <a:ext cx="19250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→ 覆盖：小集精排；未覆盖：宽召回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464618" y="4866799"/>
                <a:ext cx="23728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作用：把"召回错误"与"排序错误"拆开</a:t>
                </a:r>
                <a:endParaRPr lang="zh-CN" sz="975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465570" y="508444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使误差来源可被分层归因；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465570" y="5274945"/>
                <a:ext cx="23391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是 MRR 0.827 较 0.781 文本召回+LLM 模式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465570" y="5465445"/>
                <a:ext cx="1248740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提升 </a:t>
                </a:r>
                <a:r>
                  <a: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+0.046</a:t>
                </a:r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 的主要贡献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83" name="TextBox 83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09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50" grpId="0"/>
      <p:bldP spid="69" grpId="0"/>
      <p:bldP spid="82" grpId="0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38150" y="1029652"/>
            <a:ext cx="2425065" cy="3299460"/>
            <a:chOff x="438150" y="1029652"/>
            <a:chExt cx="2425065" cy="3299460"/>
          </a:xfrm>
        </p:grpSpPr>
        <p:sp>
          <p:nvSpPr>
            <p:cNvPr id="5" name="TextBox 5"/>
            <p:cNvSpPr txBox="1"/>
            <p:nvPr/>
          </p:nvSpPr>
          <p:spPr>
            <a:xfrm>
              <a:off x="596265" y="1029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03</a:t>
              </a:r>
              <a:endParaRPr lang="zh-CN" sz="1050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150" y="1209675"/>
              <a:ext cx="242216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rgbClr val="FFFFFF">
                      <a:alphaMod val="95000"/>
                    </a:srgbClr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03</a:t>
              </a:r>
              <a:endParaRPr lang="zh-CN" sz="13500" b="1" dirty="0">
                <a:solidFill>
                  <a:srgbClr val="FFFFFF">
                    <a:alphaMod val="95000"/>
                  </a:srgbClr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9595" y="3141345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实体对齐</a:t>
              </a:r>
              <a:endParaRPr lang="zh-CN" sz="31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9595" y="3603716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Entity Alignment</a:t>
              </a:r>
              <a:endParaRPr lang="zh-CN" sz="135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905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265" y="411575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为跨语言知识扩展提供可靠等价关系</a:t>
              </a:r>
              <a:endParaRPr lang="zh-CN" sz="1050" dirty="0">
                <a:solidFill>
                  <a:srgbClr val="FFFFFF">
                    <a:alphaMod val="8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22545" y="1228249"/>
            <a:ext cx="6116955" cy="3684270"/>
            <a:chOff x="5122545" y="1228249"/>
            <a:chExt cx="6116955" cy="3684270"/>
          </a:xfrm>
        </p:grpSpPr>
        <p:sp>
          <p:nvSpPr>
            <p:cNvPr id="12" name="TextBox 12"/>
            <p:cNvSpPr txBox="1"/>
            <p:nvPr/>
          </p:nvSpPr>
          <p:spPr>
            <a:xfrm>
              <a:off x="5131118" y="1228249"/>
              <a:ext cx="16369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CORE QUESTION · 关键问题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2545" y="14982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结构信息在不同语义起点上</a:t>
              </a:r>
              <a:endParaRPr lang="zh-CN" sz="165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22545" y="1764982"/>
              <a:ext cx="32763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究竟提供了什么样的判别信号？</a:t>
              </a:r>
              <a:endParaRPr lang="zh-CN" sz="165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131118" y="2256949"/>
              <a:ext cx="6108382" cy="1591151"/>
              <a:chOff x="5131118" y="2256949"/>
              <a:chExt cx="6108382" cy="159115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131118" y="2256949"/>
                <a:ext cx="856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两条对照线 ——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20" name="Group 20"/>
              <p:cNvGrpSpPr/>
              <p:nvPr/>
            </p:nvGrpSpPr>
            <p:grpSpPr>
              <a:xfrm>
                <a:off x="5143500" y="2590800"/>
                <a:ext cx="6096000" cy="571500"/>
                <a:chOff x="5143500" y="2590800"/>
                <a:chExt cx="6096000" cy="5715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5143500" y="2590800"/>
                  <a:ext cx="6096000" cy="5715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5143500" y="2590800"/>
                  <a:ext cx="38100" cy="5715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320665" y="2687002"/>
                  <a:ext cx="148215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· 句向量型基线</a:t>
                  </a:r>
                  <a:endPara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322570" y="2912745"/>
                  <a:ext cx="194310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代表语义起点较弱的跨语言句级表示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5143500" y="3276600"/>
                <a:ext cx="6096000" cy="571500"/>
                <a:chOff x="5143500" y="3276600"/>
                <a:chExt cx="6096000" cy="571500"/>
              </a:xfrm>
            </p:grpSpPr>
            <p:sp>
              <p:nvSpPr>
                <p:cNvPr id="21" name="Rectangle 21"/>
                <p:cNvSpPr/>
                <p:nvPr/>
              </p:nvSpPr>
              <p:spPr>
                <a:xfrm>
                  <a:off x="5143500" y="3276600"/>
                  <a:ext cx="6096000" cy="5715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5143500" y="3276600"/>
                  <a:ext cx="38100" cy="5715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320665" y="3372802"/>
                  <a:ext cx="188645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· 检索型强语义基线</a:t>
                  </a:r>
                  <a:endParaRPr lang="zh-CN" sz="105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5322570" y="3598545"/>
                  <a:ext cx="218313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代表训练目标贴近排序任务的强语义表示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5126355" y="4180999"/>
              <a:ext cx="2057782" cy="731520"/>
              <a:chOff x="5126355" y="4180999"/>
              <a:chExt cx="2057782" cy="73152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131118" y="4180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DATASET · 评测基准</a:t>
                </a:r>
                <a:endParaRPr lang="zh-CN" sz="975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126355" y="4445318"/>
                <a:ext cx="118733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DBP15K zh_en</a:t>
                </a:r>
                <a:endParaRPr lang="zh-CN" sz="13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131118" y="4714399"/>
                <a:ext cx="20530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候选 13347 · 测试 1206 · 验证 1250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32" name="TextBox 32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4" grpId="0"/>
      <p:bldP spid="11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331850" cy="659130"/>
            <a:chOff x="735330" y="379095"/>
            <a:chExt cx="3331850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03 · 实体对齐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一跳邻域 + 图注意力融合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839045" y="485299"/>
            <a:ext cx="6033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3.2 — 3.3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54" name="Group 54"/>
          <p:cNvGrpSpPr/>
          <p:nvPr/>
        </p:nvGrpSpPr>
        <p:grpSpPr>
          <a:xfrm>
            <a:off x="749618" y="1228249"/>
            <a:ext cx="4774882" cy="4477226"/>
            <a:chOff x="749618" y="1228249"/>
            <a:chExt cx="4774882" cy="4477226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228249"/>
              <a:ext cx="1773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3.2 NEIGHBOR · 一跳星形邻域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62000" y="1600200"/>
              <a:ext cx="4762500" cy="3238500"/>
              <a:chOff x="762000" y="1600200"/>
              <a:chExt cx="4762500" cy="3238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600200"/>
                <a:ext cx="4762500" cy="3238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1219200" y="1866900"/>
                <a:ext cx="3848100" cy="2705100"/>
                <a:chOff x="1219200" y="1866900"/>
                <a:chExt cx="3848100" cy="2705100"/>
              </a:xfrm>
            </p:grpSpPr>
            <p:grpSp>
              <p:nvGrpSpPr>
                <p:cNvPr id="18" name="Group 18"/>
                <p:cNvGrpSpPr/>
                <p:nvPr/>
              </p:nvGrpSpPr>
              <p:grpSpPr>
                <a:xfrm>
                  <a:off x="1428750" y="2076450"/>
                  <a:ext cx="3429000" cy="2286000"/>
                  <a:chOff x="1428750" y="2076450"/>
                  <a:chExt cx="3429000" cy="2286000"/>
                </a:xfrm>
              </p:grpSpPr>
              <p:sp>
                <p:nvSpPr>
                  <p:cNvPr id="10" name="Line 10"/>
                  <p:cNvSpPr/>
                  <p:nvPr/>
                </p:nvSpPr>
                <p:spPr>
                  <a:xfrm>
                    <a:off x="1619250" y="2266950"/>
                    <a:ext cx="1524000" cy="95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0" h="952500">
                        <a:moveTo>
                          <a:pt x="1524000" y="95250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1" name="Line 11"/>
                  <p:cNvSpPr/>
                  <p:nvPr/>
                </p:nvSpPr>
                <p:spPr>
                  <a:xfrm>
                    <a:off x="3143250" y="2076450"/>
                    <a:ext cx="9525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1143000">
                        <a:moveTo>
                          <a:pt x="0" y="114300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2" name="Line 12"/>
                  <p:cNvSpPr/>
                  <p:nvPr/>
                </p:nvSpPr>
                <p:spPr>
                  <a:xfrm>
                    <a:off x="3143250" y="2266950"/>
                    <a:ext cx="1524000" cy="95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0" h="952500">
                        <a:moveTo>
                          <a:pt x="0" y="952500"/>
                        </a:moveTo>
                        <a:lnTo>
                          <a:pt x="15240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3" name="Line 13"/>
                  <p:cNvSpPr/>
                  <p:nvPr/>
                </p:nvSpPr>
                <p:spPr>
                  <a:xfrm>
                    <a:off x="3143250" y="3219450"/>
                    <a:ext cx="17145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500" h="9525">
                        <a:moveTo>
                          <a:pt x="0" y="0"/>
                        </a:moveTo>
                        <a:lnTo>
                          <a:pt x="1714500" y="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4" name="Line 14"/>
                  <p:cNvSpPr/>
                  <p:nvPr/>
                </p:nvSpPr>
                <p:spPr>
                  <a:xfrm>
                    <a:off x="3143250" y="3219450"/>
                    <a:ext cx="1524000" cy="95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0" h="952500">
                        <a:moveTo>
                          <a:pt x="0" y="0"/>
                        </a:moveTo>
                        <a:lnTo>
                          <a:pt x="1524000" y="95250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5" name="Line 15"/>
                  <p:cNvSpPr/>
                  <p:nvPr/>
                </p:nvSpPr>
                <p:spPr>
                  <a:xfrm>
                    <a:off x="3143250" y="3219450"/>
                    <a:ext cx="9525" cy="1143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1143000">
                        <a:moveTo>
                          <a:pt x="0" y="0"/>
                        </a:moveTo>
                        <a:lnTo>
                          <a:pt x="0" y="114300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6" name="Line 16"/>
                  <p:cNvSpPr/>
                  <p:nvPr/>
                </p:nvSpPr>
                <p:spPr>
                  <a:xfrm>
                    <a:off x="1619250" y="3219450"/>
                    <a:ext cx="1524000" cy="952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4000" h="952500">
                        <a:moveTo>
                          <a:pt x="1524000" y="0"/>
                        </a:moveTo>
                        <a:lnTo>
                          <a:pt x="0" y="95250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  <p:sp>
                <p:nvSpPr>
                  <p:cNvPr id="17" name="Line 17"/>
                  <p:cNvSpPr/>
                  <p:nvPr/>
                </p:nvSpPr>
                <p:spPr>
                  <a:xfrm>
                    <a:off x="1428750" y="3219450"/>
                    <a:ext cx="171450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500" h="9525">
                        <a:moveTo>
                          <a:pt x="171450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4288">
                    <a:solidFill>
                      <a:srgbClr val="9CA3AF"/>
                    </a:solidFill>
                  </a:ln>
                </p:spPr>
              </p:sp>
            </p:grpSp>
            <p:grpSp>
              <p:nvGrpSpPr>
                <p:cNvPr id="43" name="Group 43"/>
                <p:cNvGrpSpPr/>
                <p:nvPr/>
              </p:nvGrpSpPr>
              <p:grpSpPr>
                <a:xfrm>
                  <a:off x="1219200" y="1866900"/>
                  <a:ext cx="3848100" cy="2705100"/>
                  <a:chOff x="1219200" y="1866900"/>
                  <a:chExt cx="3848100" cy="2705100"/>
                </a:xfrm>
              </p:grpSpPr>
              <p:grpSp>
                <p:nvGrpSpPr>
                  <p:cNvPr id="21" name="Group 21"/>
                  <p:cNvGrpSpPr/>
                  <p:nvPr/>
                </p:nvGrpSpPr>
                <p:grpSpPr>
                  <a:xfrm>
                    <a:off x="1409700" y="2057400"/>
                    <a:ext cx="419100" cy="419100"/>
                    <a:chOff x="1409700" y="2057400"/>
                    <a:chExt cx="419100" cy="419100"/>
                  </a:xfrm>
                </p:grpSpPr>
                <p:sp>
                  <p:nvSpPr>
                    <p:cNvPr id="19" name="Ellipse 19"/>
                    <p:cNvSpPr/>
                    <p:nvPr/>
                  </p:nvSpPr>
                  <p:spPr>
                    <a:xfrm>
                      <a:off x="1409700" y="20574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20" name="TextBox 20"/>
                    <p:cNvSpPr txBox="1"/>
                    <p:nvPr/>
                  </p:nvSpPr>
                  <p:spPr>
                    <a:xfrm>
                      <a:off x="1559679" y="2215991"/>
                      <a:ext cx="119142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N1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24" name="Group 24"/>
                  <p:cNvGrpSpPr/>
                  <p:nvPr/>
                </p:nvGrpSpPr>
                <p:grpSpPr>
                  <a:xfrm>
                    <a:off x="2933700" y="1866900"/>
                    <a:ext cx="419100" cy="419100"/>
                    <a:chOff x="2933700" y="1866900"/>
                    <a:chExt cx="419100" cy="419100"/>
                  </a:xfrm>
                </p:grpSpPr>
                <p:sp>
                  <p:nvSpPr>
                    <p:cNvPr id="22" name="Ellipse 22"/>
                    <p:cNvSpPr/>
                    <p:nvPr/>
                  </p:nvSpPr>
                  <p:spPr>
                    <a:xfrm>
                      <a:off x="2933700" y="18669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23" name="TextBox 23"/>
                    <p:cNvSpPr txBox="1"/>
                    <p:nvPr/>
                  </p:nvSpPr>
                  <p:spPr>
                    <a:xfrm>
                      <a:off x="3069240" y="20254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N2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27" name="Group 27"/>
                  <p:cNvGrpSpPr/>
                  <p:nvPr/>
                </p:nvGrpSpPr>
                <p:grpSpPr>
                  <a:xfrm>
                    <a:off x="4457700" y="2057400"/>
                    <a:ext cx="419100" cy="419100"/>
                    <a:chOff x="4457700" y="2057400"/>
                    <a:chExt cx="419100" cy="419100"/>
                  </a:xfrm>
                </p:grpSpPr>
                <p:sp>
                  <p:nvSpPr>
                    <p:cNvPr id="25" name="Ellipse 25"/>
                    <p:cNvSpPr/>
                    <p:nvPr/>
                  </p:nvSpPr>
                  <p:spPr>
                    <a:xfrm>
                      <a:off x="4457700" y="20574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26" name="TextBox 26"/>
                    <p:cNvSpPr txBox="1"/>
                    <p:nvPr/>
                  </p:nvSpPr>
                  <p:spPr>
                    <a:xfrm>
                      <a:off x="4593240" y="22159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N3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30" name="Group 30"/>
                  <p:cNvGrpSpPr/>
                  <p:nvPr/>
                </p:nvGrpSpPr>
                <p:grpSpPr>
                  <a:xfrm>
                    <a:off x="4648200" y="3009900"/>
                    <a:ext cx="419100" cy="419100"/>
                    <a:chOff x="4648200" y="3009900"/>
                    <a:chExt cx="419100" cy="419100"/>
                  </a:xfrm>
                </p:grpSpPr>
                <p:sp>
                  <p:nvSpPr>
                    <p:cNvPr id="28" name="Ellipse 28"/>
                    <p:cNvSpPr/>
                    <p:nvPr/>
                  </p:nvSpPr>
                  <p:spPr>
                    <a:xfrm>
                      <a:off x="4648200" y="30099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29" name="TextBox 29"/>
                    <p:cNvSpPr txBox="1"/>
                    <p:nvPr/>
                  </p:nvSpPr>
                  <p:spPr>
                    <a:xfrm>
                      <a:off x="4783740" y="31684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N4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33" name="Group 33"/>
                  <p:cNvGrpSpPr/>
                  <p:nvPr/>
                </p:nvGrpSpPr>
                <p:grpSpPr>
                  <a:xfrm>
                    <a:off x="4457700" y="3962400"/>
                    <a:ext cx="419100" cy="419100"/>
                    <a:chOff x="4457700" y="3962400"/>
                    <a:chExt cx="419100" cy="419100"/>
                  </a:xfrm>
                </p:grpSpPr>
                <p:sp>
                  <p:nvSpPr>
                    <p:cNvPr id="31" name="Ellipse 31"/>
                    <p:cNvSpPr/>
                    <p:nvPr/>
                  </p:nvSpPr>
                  <p:spPr>
                    <a:xfrm>
                      <a:off x="4457700" y="39624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32" name="TextBox 32"/>
                    <p:cNvSpPr txBox="1"/>
                    <p:nvPr/>
                  </p:nvSpPr>
                  <p:spPr>
                    <a:xfrm>
                      <a:off x="4593240" y="41209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N5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36" name="Group 36"/>
                  <p:cNvGrpSpPr/>
                  <p:nvPr/>
                </p:nvGrpSpPr>
                <p:grpSpPr>
                  <a:xfrm>
                    <a:off x="2933700" y="4152900"/>
                    <a:ext cx="419100" cy="419100"/>
                    <a:chOff x="2933700" y="4152900"/>
                    <a:chExt cx="419100" cy="419100"/>
                  </a:xfrm>
                </p:grpSpPr>
                <p:sp>
                  <p:nvSpPr>
                    <p:cNvPr id="34" name="Ellipse 34"/>
                    <p:cNvSpPr/>
                    <p:nvPr/>
                  </p:nvSpPr>
                  <p:spPr>
                    <a:xfrm>
                      <a:off x="2933700" y="41529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35" name="TextBox 35"/>
                    <p:cNvSpPr txBox="1"/>
                    <p:nvPr/>
                  </p:nvSpPr>
                  <p:spPr>
                    <a:xfrm>
                      <a:off x="3069240" y="43114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N6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39" name="Group 39"/>
                  <p:cNvGrpSpPr/>
                  <p:nvPr/>
                </p:nvGrpSpPr>
                <p:grpSpPr>
                  <a:xfrm>
                    <a:off x="1409700" y="3962400"/>
                    <a:ext cx="419100" cy="419100"/>
                    <a:chOff x="1409700" y="3962400"/>
                    <a:chExt cx="419100" cy="419100"/>
                  </a:xfrm>
                </p:grpSpPr>
                <p:sp>
                  <p:nvSpPr>
                    <p:cNvPr id="37" name="Ellipse 37"/>
                    <p:cNvSpPr/>
                    <p:nvPr/>
                  </p:nvSpPr>
                  <p:spPr>
                    <a:xfrm>
                      <a:off x="1409700" y="39624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38" name="TextBox 38"/>
                    <p:cNvSpPr txBox="1"/>
                    <p:nvPr/>
                  </p:nvSpPr>
                  <p:spPr>
                    <a:xfrm>
                      <a:off x="1545240" y="41209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N7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  <p:grpSp>
                <p:nvGrpSpPr>
                  <p:cNvPr id="42" name="Group 42"/>
                  <p:cNvGrpSpPr/>
                  <p:nvPr/>
                </p:nvGrpSpPr>
                <p:grpSpPr>
                  <a:xfrm>
                    <a:off x="1219200" y="3009900"/>
                    <a:ext cx="419100" cy="419100"/>
                    <a:chOff x="1219200" y="3009900"/>
                    <a:chExt cx="419100" cy="419100"/>
                  </a:xfrm>
                </p:grpSpPr>
                <p:sp>
                  <p:nvSpPr>
                    <p:cNvPr id="40" name="Ellipse 40"/>
                    <p:cNvSpPr/>
                    <p:nvPr/>
                  </p:nvSpPr>
                  <p:spPr>
                    <a:xfrm>
                      <a:off x="1219200" y="3009900"/>
                      <a:ext cx="419100" cy="419100"/>
                    </a:xfrm>
                    <a:prstGeom prst="ellipse">
                      <a:avLst/>
                    </a:prstGeom>
                    <a:solidFill>
                      <a:srgbClr val="2B8AB8"/>
                    </a:solidFill>
                    <a:ln>
                      <a:noFill/>
                    </a:ln>
                  </p:spPr>
                </p:sp>
                <p:sp>
                  <p:nvSpPr>
                    <p:cNvPr id="41" name="TextBox 41"/>
                    <p:cNvSpPr txBox="1"/>
                    <p:nvPr/>
                  </p:nvSpPr>
                  <p:spPr>
                    <a:xfrm>
                      <a:off x="1354740" y="3168491"/>
                      <a:ext cx="148021" cy="16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none" lIns="0" tIns="0" rIns="0" bIns="0" anchor="t" anchorCtr="0">
                      <a:spAutoFit/>
                    </a:bodyPr>
                    <a:lstStyle/>
                    <a:p>
                      <a:pPr algn="ctr"/>
                      <a:r>
                        <a:rPr lang="zh-CN" sz="825" b="1" dirty="0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N8</a:t>
                      </a:r>
                      <a:endParaRPr lang="zh-CN" sz="825" b="1" dirty="0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p:txBody>
                </p:sp>
              </p:grpSp>
            </p:grpSp>
            <p:sp>
              <p:nvSpPr>
                <p:cNvPr id="44" name="Ellipse 44"/>
                <p:cNvSpPr/>
                <p:nvPr/>
              </p:nvSpPr>
              <p:spPr>
                <a:xfrm>
                  <a:off x="2781300" y="2857500"/>
                  <a:ext cx="723900" cy="723900"/>
                </a:xfrm>
                <a:prstGeom prst="ellipse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968704" y="3119438"/>
                  <a:ext cx="34909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FFFFFF">
                          <a:alphaMod val="7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CENTER</a:t>
                  </a:r>
                  <a:endParaRPr lang="zh-CN" sz="750" dirty="0">
                    <a:solidFill>
                      <a:srgbClr val="FFFFFF">
                        <a:alphaMod val="7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089485" y="3258502"/>
                  <a:ext cx="10753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53" name="Group 53"/>
            <p:cNvGrpSpPr/>
            <p:nvPr/>
          </p:nvGrpSpPr>
          <p:grpSpPr>
            <a:xfrm>
              <a:off x="749618" y="4962049"/>
              <a:ext cx="2580131" cy="743426"/>
              <a:chOff x="749618" y="4962049"/>
              <a:chExt cx="2580131" cy="74342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749618" y="49620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为什么是一跳？</a:t>
                </a:r>
                <a:endParaRPr lang="zh-CN" sz="97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50570" y="5179695"/>
                <a:ext cx="25791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深层传播放大噪声扩散 / 过平滑 / 训练不稳定；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50570" y="5351145"/>
                <a:ext cx="24351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一跳契合"等价实体具备相近直接关联语境"；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50570" y="5522595"/>
                <a:ext cx="20091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邻域上限 20 · 训练评测同构造策略。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93" name="Group 93"/>
          <p:cNvGrpSpPr/>
          <p:nvPr/>
        </p:nvGrpSpPr>
        <p:grpSpPr>
          <a:xfrm>
            <a:off x="5899309" y="406003"/>
            <a:ext cx="5536882" cy="4829651"/>
            <a:chOff x="5893118" y="1228249"/>
            <a:chExt cx="5536882" cy="4829651"/>
          </a:xfrm>
        </p:grpSpPr>
        <p:sp>
          <p:nvSpPr>
            <p:cNvPr id="55" name="TextBox 55"/>
            <p:cNvSpPr txBox="1"/>
            <p:nvPr/>
          </p:nvSpPr>
          <p:spPr>
            <a:xfrm>
              <a:off x="5893118" y="1228249"/>
              <a:ext cx="1766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3.3 MODEL · 语义 + 结构融合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5905500" y="1600200"/>
              <a:ext cx="5524500" cy="4457700"/>
              <a:chOff x="5905500" y="1600200"/>
              <a:chExt cx="5524500" cy="44577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5905500" y="1600200"/>
                <a:ext cx="5524500" cy="44577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6286500" y="1866900"/>
                <a:ext cx="1809750" cy="533400"/>
                <a:chOff x="6286500" y="1866900"/>
                <a:chExt cx="1809750" cy="533400"/>
              </a:xfrm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6286500" y="1866900"/>
                  <a:ext cx="1809750" cy="533400"/>
                </a:xfrm>
                <a:prstGeom prst="rect">
                  <a:avLst/>
                </a:prstGeom>
                <a:solidFill>
                  <a:srgbClr val="F8FAFC"/>
                </a:solidFill>
                <a:ln w="14288">
                  <a:solidFill>
                    <a:srgbClr val="2B8AB8"/>
                  </a:solidFill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769441" y="1971199"/>
                  <a:ext cx="84386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中心实体表示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694087" y="2177891"/>
                  <a:ext cx="99457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h_center (d=1024)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9239250" y="1866900"/>
                <a:ext cx="1809750" cy="533400"/>
                <a:chOff x="9239250" y="1866900"/>
                <a:chExt cx="1809750" cy="533400"/>
              </a:xfrm>
            </p:grpSpPr>
            <p:sp>
              <p:nvSpPr>
                <p:cNvPr id="61" name="Rectangle 61"/>
                <p:cNvSpPr/>
                <p:nvPr/>
              </p:nvSpPr>
              <p:spPr>
                <a:xfrm>
                  <a:off x="9239250" y="1866900"/>
                  <a:ext cx="1809750" cy="533400"/>
                </a:xfrm>
                <a:prstGeom prst="rect">
                  <a:avLst/>
                </a:prstGeom>
                <a:solidFill>
                  <a:srgbClr val="F8FAFC"/>
                </a:solidFill>
                <a:ln w="14288">
                  <a:solidFill>
                    <a:srgbClr val="2B8AB8"/>
                  </a:solidFill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9722191" y="1971199"/>
                  <a:ext cx="84386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一跳邻居序列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9630335" y="2177891"/>
                  <a:ext cx="1027581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{h_n1, ..., h_n20}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65" name="Line 65"/>
              <p:cNvSpPr/>
              <p:nvPr/>
            </p:nvSpPr>
            <p:spPr>
              <a:xfrm>
                <a:off x="7191375" y="2400300"/>
                <a:ext cx="9525" cy="17716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71650">
                    <a:moveTo>
                      <a:pt x="0" y="0"/>
                    </a:moveTo>
                    <a:lnTo>
                      <a:pt x="0" y="1771650"/>
                    </a:lnTo>
                  </a:path>
                </a:pathLst>
              </a:custGeom>
              <a:noFill/>
              <a:ln w="19050">
                <a:solidFill>
                  <a:srgbClr val="1A365D"/>
                </a:solidFill>
                <a:custDash>
                  <a:ds d="200000" sp="150000"/>
                </a:custDash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304722" y="322564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语义直通</a:t>
                </a:r>
                <a:endParaRPr lang="zh-CN" sz="82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10144125" y="2400300"/>
                <a:ext cx="1" cy="228600"/>
              </a:xfrm>
              <a:prstGeom prst="line">
                <a:avLst/>
              </a:prstGeom>
              <a:noFill/>
              <a:ln w="19050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71" name="Group 71"/>
              <p:cNvGrpSpPr/>
              <p:nvPr/>
            </p:nvGrpSpPr>
            <p:grpSpPr>
              <a:xfrm>
                <a:off x="9239250" y="2647950"/>
                <a:ext cx="1809750" cy="533400"/>
                <a:chOff x="9239250" y="2647950"/>
                <a:chExt cx="1809750" cy="533400"/>
              </a:xfrm>
            </p:grpSpPr>
            <p:sp>
              <p:nvSpPr>
                <p:cNvPr id="68" name="Rectangle 68"/>
                <p:cNvSpPr/>
                <p:nvPr/>
              </p:nvSpPr>
              <p:spPr>
                <a:xfrm>
                  <a:off x="9239250" y="2647950"/>
                  <a:ext cx="1809750" cy="5334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9589087" y="2752249"/>
                  <a:ext cx="111007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单层图注意力 GAT</a:t>
                  </a:r>
                  <a:endPara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9586329" y="2958941"/>
                  <a:ext cx="111559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Q · K · softmax 加权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72" name="Line 72"/>
              <p:cNvSpPr/>
              <p:nvPr/>
            </p:nvSpPr>
            <p:spPr>
              <a:xfrm>
                <a:off x="10144125" y="3181350"/>
                <a:ext cx="1" cy="228600"/>
              </a:xfrm>
              <a:prstGeom prst="line">
                <a:avLst/>
              </a:prstGeom>
              <a:noFill/>
              <a:ln w="19050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9239250" y="3429000"/>
                <a:ext cx="1809750" cy="533400"/>
                <a:chOff x="9239250" y="3429000"/>
                <a:chExt cx="1809750" cy="533400"/>
              </a:xfrm>
            </p:grpSpPr>
            <p:sp>
              <p:nvSpPr>
                <p:cNvPr id="73" name="Rectangle 73"/>
                <p:cNvSpPr/>
                <p:nvPr/>
              </p:nvSpPr>
              <p:spPr>
                <a:xfrm>
                  <a:off x="9239250" y="3429000"/>
                  <a:ext cx="1809750" cy="533400"/>
                </a:xfrm>
                <a:prstGeom prst="rect">
                  <a:avLst/>
                </a:prstGeom>
                <a:solidFill>
                  <a:srgbClr val="F8FAFC"/>
                </a:solidFill>
                <a:ln w="14288">
                  <a:solidFill>
                    <a:srgbClr val="2B8AB8"/>
                  </a:solidFill>
                </a:ln>
              </p:spPr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9763146" y="3533299"/>
                  <a:ext cx="76195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邻域聚合 h̃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9663339" y="3739991"/>
                  <a:ext cx="96157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加权求和 + L2 归一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77" name="Line 77"/>
              <p:cNvSpPr/>
              <p:nvPr/>
            </p:nvSpPr>
            <p:spPr>
              <a:xfrm>
                <a:off x="10144125" y="39624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noFill/>
              <a:ln w="19050">
                <a:solidFill>
                  <a:srgbClr val="1A365D"/>
                </a:solidFill>
              </a:ln>
            </p:spPr>
          </p:sp>
          <p:sp>
            <p:nvSpPr>
              <p:cNvPr id="78" name="Line 78"/>
              <p:cNvSpPr/>
              <p:nvPr/>
            </p:nvSpPr>
            <p:spPr>
              <a:xfrm>
                <a:off x="7191375" y="4171950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19050">
                <a:solidFill>
                  <a:srgbClr val="1A365D"/>
                </a:solidFill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8667750" y="4171950"/>
                <a:ext cx="1" cy="228600"/>
              </a:xfrm>
              <a:prstGeom prst="line">
                <a:avLst/>
              </a:prstGeom>
              <a:noFill/>
              <a:ln w="19050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8048625" y="4419600"/>
                <a:ext cx="1238250" cy="457200"/>
                <a:chOff x="8048625" y="4419600"/>
                <a:chExt cx="1238250" cy="457200"/>
              </a:xfrm>
            </p:grpSpPr>
            <p:sp>
              <p:nvSpPr>
                <p:cNvPr id="80" name="Rectangle 80"/>
                <p:cNvSpPr/>
                <p:nvPr/>
              </p:nvSpPr>
              <p:spPr>
                <a:xfrm>
                  <a:off x="8048625" y="4419600"/>
                  <a:ext cx="1238250" cy="4572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372095" y="4523899"/>
                  <a:ext cx="59131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Concat ‖</a:t>
                  </a:r>
                  <a:endPara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8270677" y="4719638"/>
                  <a:ext cx="79414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[h_center , h̃]</a:t>
                  </a:r>
                  <a:endParaRPr lang="zh-CN" sz="75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84" name="Line 84"/>
              <p:cNvSpPr/>
              <p:nvPr/>
            </p:nvSpPr>
            <p:spPr>
              <a:xfrm>
                <a:off x="8667750" y="4876800"/>
                <a:ext cx="1" cy="190500"/>
              </a:xfrm>
              <a:prstGeom prst="line">
                <a:avLst/>
              </a:prstGeom>
              <a:noFill/>
              <a:ln w="19050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87" name="Group 87"/>
              <p:cNvGrpSpPr/>
              <p:nvPr/>
            </p:nvGrpSpPr>
            <p:grpSpPr>
              <a:xfrm>
                <a:off x="7715250" y="5086350"/>
                <a:ext cx="1905000" cy="381000"/>
                <a:chOff x="7715250" y="5086350"/>
                <a:chExt cx="1905000" cy="381000"/>
              </a:xfrm>
            </p:grpSpPr>
            <p:sp>
              <p:nvSpPr>
                <p:cNvPr id="85" name="Rectangle 85"/>
                <p:cNvSpPr/>
                <p:nvPr/>
              </p:nvSpPr>
              <p:spPr>
                <a:xfrm>
                  <a:off x="7715250" y="5086350"/>
                  <a:ext cx="1905000" cy="381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7993260" y="5219224"/>
                  <a:ext cx="134898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Linear · d → d (MLP)</a:t>
                  </a:r>
                  <a:endParaRPr lang="zh-CN" sz="97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sp>
            <p:nvSpPr>
              <p:cNvPr id="88" name="Line 88"/>
              <p:cNvSpPr/>
              <p:nvPr/>
            </p:nvSpPr>
            <p:spPr>
              <a:xfrm>
                <a:off x="8667750" y="5467350"/>
                <a:ext cx="1" cy="171450"/>
              </a:xfrm>
              <a:prstGeom prst="line">
                <a:avLst/>
              </a:prstGeom>
              <a:noFill/>
              <a:ln w="19050">
                <a:solidFill>
                  <a:srgbClr val="1A365D"/>
                </a:solidFill>
                <a:tailEnd type="triangle" w="lg" len="lg"/>
              </a:ln>
            </p:spPr>
          </p:sp>
          <p:grpSp>
            <p:nvGrpSpPr>
              <p:cNvPr id="91" name="Group 91"/>
              <p:cNvGrpSpPr/>
              <p:nvPr/>
            </p:nvGrpSpPr>
            <p:grpSpPr>
              <a:xfrm>
                <a:off x="8001000" y="5657850"/>
                <a:ext cx="1333500" cy="285750"/>
                <a:chOff x="8001000" y="5657850"/>
                <a:chExt cx="1333500" cy="285750"/>
              </a:xfrm>
            </p:grpSpPr>
            <p:sp>
              <p:nvSpPr>
                <p:cNvPr id="89" name="Rectangle 89"/>
                <p:cNvSpPr/>
                <p:nvPr/>
              </p:nvSpPr>
              <p:spPr>
                <a:xfrm>
                  <a:off x="8001000" y="5657850"/>
                  <a:ext cx="1333500" cy="28575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E9B92"/>
                  </a:solidFill>
                </a:ln>
              </p:spPr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8350732" y="5751195"/>
                  <a:ext cx="63403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对齐表示 z</a:t>
                  </a:r>
                  <a:endPara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103" name="Group 103"/>
          <p:cNvGrpSpPr/>
          <p:nvPr/>
        </p:nvGrpSpPr>
        <p:grpSpPr>
          <a:xfrm>
            <a:off x="762000" y="5334000"/>
            <a:ext cx="10668000" cy="952500"/>
            <a:chOff x="762000" y="5334000"/>
            <a:chExt cx="10668000" cy="952500"/>
          </a:xfrm>
        </p:grpSpPr>
        <p:sp>
          <p:nvSpPr>
            <p:cNvPr id="94" name="Rectangle 94"/>
            <p:cNvSpPr/>
            <p:nvPr/>
          </p:nvSpPr>
          <p:spPr>
            <a:xfrm>
              <a:off x="762000" y="5334000"/>
              <a:ext cx="10668000" cy="9525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762000" y="5334000"/>
              <a:ext cx="38100" cy="952500"/>
            </a:xfrm>
            <a:prstGeom prst="rect">
              <a:avLst/>
            </a:prstGeom>
            <a:solidFill>
              <a:srgbClr val="0E9B92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1016318" y="5476399"/>
              <a:ext cx="1870996" cy="407670"/>
              <a:chOff x="1016318" y="5476399"/>
              <a:chExt cx="1870996" cy="407670"/>
            </a:xfrm>
          </p:grpSpPr>
          <p:sp>
            <p:nvSpPr>
              <p:cNvPr id="96" name="TextBox 96"/>
              <p:cNvSpPr txBox="1"/>
              <p:nvPr/>
            </p:nvSpPr>
            <p:spPr>
              <a:xfrm>
                <a:off x="1016318" y="5476399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Eq.(3-5) </a:t>
                </a:r>
                <a:r>
                  <a:rPr lang="zh-CN" sz="975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c = h_center ‖ h̃</a:t>
                </a:r>
                <a:endParaRPr lang="zh-CN" sz="975" dirty="0">
                  <a:solidFill>
                    <a:srgbClr val="1F29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16318" y="5685949"/>
                <a:ext cx="187099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Eq.(3-6) </a:t>
                </a:r>
                <a:r>
                  <a:rPr lang="zh-CN" sz="975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z = W · c (d = 1024)</a:t>
                </a:r>
                <a:endParaRPr lang="zh-CN" sz="975" dirty="0">
                  <a:solidFill>
                    <a:srgbClr val="1F293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5893118" y="5476399"/>
              <a:ext cx="2768108" cy="683656"/>
              <a:chOff x="5893118" y="5476399"/>
              <a:chExt cx="2768108" cy="683656"/>
            </a:xfrm>
          </p:grpSpPr>
          <p:sp>
            <p:nvSpPr>
              <p:cNvPr id="99" name="TextBox 99"/>
              <p:cNvSpPr txBox="1"/>
              <p:nvPr/>
            </p:nvSpPr>
            <p:spPr>
              <a:xfrm>
                <a:off x="5893118" y="5476399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轻量化结构：</a:t>
                </a:r>
                <a:r>
                  <a:rPr lang="zh-CN" sz="97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单层 GAT + 单层 MLP</a:t>
                </a:r>
                <a:endParaRPr lang="zh-CN" sz="9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5893118" y="5729764"/>
                <a:ext cx="27681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每侧 13347 实体规模下，更深层传播易过平滑，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5893118" y="5961935"/>
                <a:ext cx="27551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单层即可覆盖一跳关系环境内的主要判别信号。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04" name="TextBox 104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54" grpId="0"/>
      <p:bldP spid="93" grpId="0"/>
      <p:bldP spid="103" grpId="0"/>
      <p:bldP spid="10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331850" cy="659130"/>
            <a:chOff x="735330" y="379095"/>
            <a:chExt cx="3331850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03 · 实体对齐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动量对比学习 · 优化机制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533507" y="485299"/>
            <a:ext cx="908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3.3 · 训练机制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749618" y="1228249"/>
            <a:ext cx="10680382" cy="1514951"/>
            <a:chOff x="749618" y="1228249"/>
            <a:chExt cx="10680382" cy="1514951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228249"/>
              <a:ext cx="2937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WHY MOMENTUM CONTRAST · 为什么是动量对比？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62000" y="1600200"/>
              <a:ext cx="10668000" cy="1143000"/>
              <a:chOff x="762000" y="1600200"/>
              <a:chExt cx="10668000" cy="1143000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762000" y="1600200"/>
                <a:ext cx="3429000" cy="1143000"/>
                <a:chOff x="762000" y="1600200"/>
                <a:chExt cx="3429000" cy="1143000"/>
              </a:xfrm>
            </p:grpSpPr>
            <p:sp>
              <p:nvSpPr>
                <p:cNvPr id="9" name="Rectangle 9"/>
                <p:cNvSpPr/>
                <p:nvPr/>
              </p:nvSpPr>
              <p:spPr>
                <a:xfrm>
                  <a:off x="762000" y="1600200"/>
                  <a:ext cx="3429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0" name="Rectangle 10"/>
                <p:cNvSpPr/>
                <p:nvPr/>
              </p:nvSpPr>
              <p:spPr>
                <a:xfrm>
                  <a:off x="762000" y="1600200"/>
                  <a:ext cx="38100" cy="1143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940118" y="18187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候选密集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940118" y="2104549"/>
                  <a:ext cx="106489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每个源端实体需从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40118" y="2295049"/>
                  <a:ext cx="171497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数以万计目标端实体中匹配，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41070" y="2493645"/>
                  <a:ext cx="182308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单批负样本不足以表达任务难度。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4381500" y="1600200"/>
                <a:ext cx="3429000" cy="1143000"/>
                <a:chOff x="4381500" y="1600200"/>
                <a:chExt cx="3429000" cy="114300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4381500" y="1600200"/>
                  <a:ext cx="3429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4381500" y="1600200"/>
                  <a:ext cx="38100" cy="1143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4559618" y="1818799"/>
                  <a:ext cx="70735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负样本队列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559618" y="2104549"/>
                  <a:ext cx="145494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保留充足的跨批次候选，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559618" y="2295049"/>
                  <a:ext cx="132492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持续生成难例负样本，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560570" y="2493645"/>
                  <a:ext cx="158305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提升模型相对距离判别能力。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8001000" y="1600200"/>
                <a:ext cx="3429000" cy="1143000"/>
                <a:chOff x="8001000" y="1600200"/>
                <a:chExt cx="3429000" cy="11430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8001000" y="1600200"/>
                  <a:ext cx="3429000" cy="1143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4" name="Rectangle 24"/>
                <p:cNvSpPr/>
                <p:nvPr/>
              </p:nvSpPr>
              <p:spPr>
                <a:xfrm>
                  <a:off x="8001000" y="1600200"/>
                  <a:ext cx="38100" cy="1143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179118" y="18187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动量教师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179118" y="2104549"/>
                  <a:ext cx="145494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生成稳定的目标端表征，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179118" y="2295049"/>
                  <a:ext cx="1324928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缓解学生网络快速迭代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180070" y="2493645"/>
                  <a:ext cx="9829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造成的训练震荡。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36" name="Group 36"/>
          <p:cNvGrpSpPr/>
          <p:nvPr/>
        </p:nvGrpSpPr>
        <p:grpSpPr>
          <a:xfrm>
            <a:off x="762000" y="3009900"/>
            <a:ext cx="10668000" cy="933450"/>
            <a:chOff x="762000" y="3009900"/>
            <a:chExt cx="10668000" cy="933450"/>
          </a:xfrm>
        </p:grpSpPr>
        <p:sp>
          <p:nvSpPr>
            <p:cNvPr id="32" name="Rectangle 32"/>
            <p:cNvSpPr/>
            <p:nvPr/>
          </p:nvSpPr>
          <p:spPr>
            <a:xfrm>
              <a:off x="762000" y="3009900"/>
              <a:ext cx="10668000" cy="9334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16318" y="320944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LOSS · 对比学习损失 Eq.(3-7)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7745" y="3536632"/>
              <a:ext cx="64447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 = − log [ exp(q·k / τ) / ( exp(q·k / τ) + Σ exp(q·n / τ) ) ]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10848" y="3615214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τ : 温度系数 · n : 负样本 · k : 动量教师输出</a:t>
              </a:r>
              <a:endParaRPr lang="zh-CN" sz="975" dirty="0">
                <a:solidFill>
                  <a:srgbClr val="FFFFFF">
                    <a:alphaMod val="6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49618" y="4085749"/>
            <a:ext cx="10680382" cy="2029301"/>
            <a:chOff x="749618" y="4085749"/>
            <a:chExt cx="10680382" cy="2029301"/>
          </a:xfrm>
        </p:grpSpPr>
        <p:sp>
          <p:nvSpPr>
            <p:cNvPr id="37" name="TextBox 37"/>
            <p:cNvSpPr txBox="1"/>
            <p:nvPr/>
          </p:nvSpPr>
          <p:spPr>
            <a:xfrm>
              <a:off x="749618" y="4085749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TRAINING SETUP · 训练超参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762000" y="4400550"/>
              <a:ext cx="10668000" cy="1714500"/>
              <a:chOff x="762000" y="4400550"/>
              <a:chExt cx="10668000" cy="1714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62000" y="4400550"/>
                <a:ext cx="10668000" cy="171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1017270" y="4570095"/>
                <a:ext cx="6417755" cy="1459230"/>
                <a:chOff x="1017270" y="4570095"/>
                <a:chExt cx="6417755" cy="1459230"/>
              </a:xfrm>
            </p:grpSpPr>
            <p:grpSp>
              <p:nvGrpSpPr>
                <p:cNvPr id="45" name="Group 45"/>
                <p:cNvGrpSpPr/>
                <p:nvPr/>
              </p:nvGrpSpPr>
              <p:grpSpPr>
                <a:xfrm>
                  <a:off x="1017270" y="4570095"/>
                  <a:ext cx="754952" cy="1459230"/>
                  <a:chOff x="1017270" y="4570095"/>
                  <a:chExt cx="754952" cy="1459230"/>
                </a:xfrm>
              </p:grpSpPr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1017270" y="4570095"/>
                    <a:ext cx="40090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数据集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0" name="TextBox 40"/>
                  <p:cNvSpPr txBox="1"/>
                  <p:nvPr/>
                </p:nvSpPr>
                <p:spPr>
                  <a:xfrm>
                    <a:off x="1017270" y="4779645"/>
                    <a:ext cx="754952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DBP15K zh_en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1017270" y="5103495"/>
                    <a:ext cx="52692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训练轮数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1017270" y="5313045"/>
                    <a:ext cx="190881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150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1017270" y="5636895"/>
                    <a:ext cx="40090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学习率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1017270" y="5846445"/>
                    <a:ext cx="25688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1e-6</a:t>
                    </a:r>
                    <a:endPara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</p:grpSp>
            <p:grpSp>
              <p:nvGrpSpPr>
                <p:cNvPr id="52" name="Group 52"/>
                <p:cNvGrpSpPr/>
                <p:nvPr/>
              </p:nvGrpSpPr>
              <p:grpSpPr>
                <a:xfrm>
                  <a:off x="2846070" y="4570095"/>
                  <a:ext cx="652939" cy="1459230"/>
                  <a:chOff x="2846070" y="4570095"/>
                  <a:chExt cx="652939" cy="1459230"/>
                </a:xfrm>
              </p:grpSpPr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2846070" y="4570095"/>
                    <a:ext cx="65293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训练批大小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2846070" y="4779645"/>
                    <a:ext cx="15487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64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2846070" y="5103495"/>
                    <a:ext cx="65293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评测批大小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9" name="TextBox 49"/>
                  <p:cNvSpPr txBox="1"/>
                  <p:nvPr/>
                </p:nvSpPr>
                <p:spPr>
                  <a:xfrm>
                    <a:off x="2846070" y="5313045"/>
                    <a:ext cx="190881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128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2846070" y="5636895"/>
                    <a:ext cx="508021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Dropout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2846070" y="5846445"/>
                    <a:ext cx="22088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0.3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59" name="Group 59"/>
                <p:cNvGrpSpPr/>
                <p:nvPr/>
              </p:nvGrpSpPr>
              <p:grpSpPr>
                <a:xfrm>
                  <a:off x="4751070" y="4570095"/>
                  <a:ext cx="904970" cy="1459230"/>
                  <a:chOff x="4751070" y="4570095"/>
                  <a:chExt cx="904970" cy="1459230"/>
                </a:xfrm>
              </p:grpSpPr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4751070" y="4570095"/>
                    <a:ext cx="90497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负样本队列长度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4751070" y="4779645"/>
                    <a:ext cx="15487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64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4751070" y="5103495"/>
                    <a:ext cx="52692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邻域大小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4751070" y="5313045"/>
                    <a:ext cx="15487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20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4751070" y="5636895"/>
                    <a:ext cx="40090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图层数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4751070" y="5846445"/>
                    <a:ext cx="5886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1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66" name="Group 66"/>
                <p:cNvGrpSpPr/>
                <p:nvPr/>
              </p:nvGrpSpPr>
              <p:grpSpPr>
                <a:xfrm>
                  <a:off x="6656070" y="4570095"/>
                  <a:ext cx="778955" cy="1459230"/>
                  <a:chOff x="6656070" y="4570095"/>
                  <a:chExt cx="778955" cy="1459230"/>
                </a:xfrm>
              </p:grpSpPr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6656070" y="4570095"/>
                    <a:ext cx="77895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模型选择指标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6656070" y="4779645"/>
                    <a:ext cx="754952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验证集 Hits@1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6656070" y="5103495"/>
                    <a:ext cx="65293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候选实体数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6656070" y="5313045"/>
                    <a:ext cx="61693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13 347 / 侧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6656070" y="5636895"/>
                    <a:ext cx="65293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2B8AB8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测试集查询</a:t>
                    </a:r>
                    <a:endPara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6656070" y="5846445"/>
                    <a:ext cx="29289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1 206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grpSp>
            <p:nvGrpSpPr>
              <p:cNvPr id="73" name="Group 73"/>
              <p:cNvGrpSpPr/>
              <p:nvPr/>
            </p:nvGrpSpPr>
            <p:grpSpPr>
              <a:xfrm>
                <a:off x="8763000" y="4552950"/>
                <a:ext cx="2476500" cy="1409700"/>
                <a:chOff x="8763000" y="4552950"/>
                <a:chExt cx="2476500" cy="1409700"/>
              </a:xfrm>
            </p:grpSpPr>
            <p:sp>
              <p:nvSpPr>
                <p:cNvPr id="68" name="Rectangle 68"/>
                <p:cNvSpPr/>
                <p:nvPr/>
              </p:nvSpPr>
              <p:spPr>
                <a:xfrm>
                  <a:off x="8763000" y="4552950"/>
                  <a:ext cx="2476500" cy="14097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8942070" y="4760595"/>
                  <a:ext cx="65293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KEY RESULT</a:t>
                  </a:r>
                  <a:endPara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940165" y="5049202"/>
                  <a:ext cx="123782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+ 邻域增强</a:t>
                  </a:r>
                  <a:endParaRPr lang="zh-CN" sz="105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923020" y="5246370"/>
                  <a:ext cx="1707566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FFFFFF"/>
                      </a:solidFill>
                      <a:latin typeface="Georgia" panose="02040502050405020303"/>
                      <a:ea typeface="宋体" panose="02010600030101010101" pitchFamily="2" charset="-122"/>
                      <a:cs typeface="Georgia" panose="02040502050405020303"/>
                    </a:rPr>
                    <a:t>MRR 0.725</a:t>
                  </a:r>
                  <a:endParaRPr lang="zh-CN" sz="240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endParaRP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942070" y="5674995"/>
                  <a:ext cx="183508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Hits@1 = 0.670 · Hits@10 = 0.833</a:t>
                  </a:r>
                  <a:endPara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76" name="TextBox 76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31" grpId="0"/>
      <p:bldP spid="36" grpId="0"/>
      <p:bldP spid="75" grpId="0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2743776" cy="659130"/>
            <a:chOff x="735330" y="379095"/>
            <a:chExt cx="2743776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04 · KG-RAG 系统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274377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系统定位 · 分层架构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35595" y="485299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4.1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2000" y="1333500"/>
            <a:ext cx="10668000" cy="533400"/>
            <a:chOff x="762000" y="1333500"/>
            <a:chExt cx="10668000" cy="5334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10668000" cy="5334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533400"/>
            </a:xfrm>
            <a:prstGeom prst="rect">
              <a:avLst/>
            </a:prstGeom>
            <a:solidFill>
              <a:srgbClr val="0E9B9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8218" y="1437799"/>
              <a:ext cx="13216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SYSTEM POSITIONING</a:t>
              </a:r>
              <a:endParaRPr lang="zh-CN" sz="975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6312" y="1631156"/>
              <a:ext cx="61193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把前序模块产出的</a:t>
              </a:r>
              <a:r>
                <a:rPr lang="zh-CN" sz="1125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 / 关系 / 三元组 / 对齐扩展 / 参考来源</a:t>
              </a:r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组织为可复用的</a:t>
              </a:r>
              <a:r>
                <a:rPr lang="zh-CN" sz="112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检索上下文</a:t>
              </a:r>
              <a:r>
                <a:rPr lang="zh-CN" sz="112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。</a:t>
              </a:r>
              <a:endParaRPr lang="zh-CN" sz="1125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62000" y="2095500"/>
            <a:ext cx="10668000" cy="3886200"/>
            <a:chOff x="762000" y="2095500"/>
            <a:chExt cx="10668000" cy="3886200"/>
          </a:xfrm>
        </p:grpSpPr>
        <p:grpSp>
          <p:nvGrpSpPr>
            <p:cNvPr id="26" name="Group 26"/>
            <p:cNvGrpSpPr/>
            <p:nvPr/>
          </p:nvGrpSpPr>
          <p:grpSpPr>
            <a:xfrm>
              <a:off x="762000" y="2095500"/>
              <a:ext cx="10668000" cy="762000"/>
              <a:chOff x="762000" y="2095500"/>
              <a:chExt cx="106680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095500"/>
                <a:ext cx="10668000" cy="762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095500"/>
                <a:ext cx="1143000" cy="762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08496" y="2349341"/>
                <a:ext cx="45000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01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99637" y="25346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交互层</a:t>
                </a:r>
                <a:endPara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2083118" y="2161699"/>
                <a:ext cx="3437287" cy="479583"/>
                <a:chOff x="2083118" y="2161699"/>
                <a:chExt cx="3437287" cy="479583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2083118" y="2161699"/>
                  <a:ext cx="67322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Vue + Vite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083118" y="2458402"/>
                  <a:ext cx="343728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问答交互界面 / 检索结果可视化 / 实体详情展开 / 多路结果分区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8572500" y="2362200"/>
                <a:ext cx="1143000" cy="304800"/>
                <a:chOff x="8572500" y="2362200"/>
                <a:chExt cx="1143000" cy="30480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8572500" y="2362200"/>
                  <a:ext cx="11430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803481" y="2463641"/>
                  <a:ext cx="68103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用户查询输入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9906000" y="2362200"/>
                <a:ext cx="1143000" cy="304800"/>
                <a:chOff x="9906000" y="2362200"/>
                <a:chExt cx="1143000" cy="30480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9906000" y="2362200"/>
                  <a:ext cx="11430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0136981" y="2463641"/>
                  <a:ext cx="68103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分层结果展示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43" name="Group 43"/>
            <p:cNvGrpSpPr/>
            <p:nvPr/>
          </p:nvGrpSpPr>
          <p:grpSpPr>
            <a:xfrm>
              <a:off x="762000" y="3009900"/>
              <a:ext cx="10668000" cy="762000"/>
              <a:chOff x="762000" y="3009900"/>
              <a:chExt cx="10668000" cy="762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3009900"/>
                <a:ext cx="10668000" cy="762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3009900"/>
                <a:ext cx="1143000" cy="762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94744" y="3263741"/>
                <a:ext cx="4775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02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9637" y="344900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接口层</a:t>
                </a:r>
                <a:endPara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2083118" y="3076099"/>
                <a:ext cx="3713321" cy="474345"/>
                <a:chOff x="2083118" y="3076099"/>
                <a:chExt cx="3713321" cy="474345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2083118" y="3076099"/>
                  <a:ext cx="51622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FastAPI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083118" y="3367564"/>
                  <a:ext cx="371332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知识库查询 / 对话请求 / 实体详情 / 关系详情 · 参数校验 · 缓存调度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7810500" y="3276600"/>
                <a:ext cx="1047750" cy="304800"/>
                <a:chOff x="7810500" y="3276600"/>
                <a:chExt cx="1047750" cy="304800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7810500" y="3276600"/>
                  <a:ext cx="104775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142375" y="3378041"/>
                  <a:ext cx="38400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/query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8953500" y="3276600"/>
                <a:ext cx="1047750" cy="304800"/>
                <a:chOff x="8953500" y="3276600"/>
                <a:chExt cx="1047750" cy="30480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8953500" y="3276600"/>
                  <a:ext cx="104775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315629" y="3378041"/>
                  <a:ext cx="32349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/chat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10096500" y="3276600"/>
                <a:ext cx="952500" cy="304800"/>
                <a:chOff x="10096500" y="3276600"/>
                <a:chExt cx="952500" cy="304800"/>
              </a:xfrm>
            </p:grpSpPr>
            <p:sp>
              <p:nvSpPr>
                <p:cNvPr id="40" name="Rectangle 40"/>
                <p:cNvSpPr/>
                <p:nvPr/>
              </p:nvSpPr>
              <p:spPr>
                <a:xfrm>
                  <a:off x="10096500" y="3276600"/>
                  <a:ext cx="9525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0193726" y="3378041"/>
                  <a:ext cx="75804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/entity · /rel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grpSp>
          <p:nvGrpSpPr>
            <p:cNvPr id="67" name="Group 67"/>
            <p:cNvGrpSpPr/>
            <p:nvPr/>
          </p:nvGrpSpPr>
          <p:grpSpPr>
            <a:xfrm>
              <a:off x="762000" y="3924300"/>
              <a:ext cx="10668000" cy="1143000"/>
              <a:chOff x="762000" y="3924300"/>
              <a:chExt cx="10668000" cy="1143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2000" y="3924300"/>
                <a:ext cx="10668000" cy="1143000"/>
              </a:xfrm>
              <a:prstGeom prst="rect">
                <a:avLst/>
              </a:prstGeom>
              <a:solidFill>
                <a:srgbClr val="FFFFFF"/>
              </a:solidFill>
              <a:ln w="23812">
                <a:solidFill>
                  <a:srgbClr val="0E9B92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762000" y="3924300"/>
                <a:ext cx="1143000" cy="11430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94744" y="4216241"/>
                <a:ext cx="4775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03</a:t>
                </a:r>
                <a:endParaRPr lang="zh-CN" sz="825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26128" y="44205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检索服务</a:t>
                </a:r>
                <a:endPara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03983" y="4654391"/>
                <a:ext cx="65903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KG-RAG Core</a:t>
                </a:r>
                <a:endParaRPr lang="zh-CN" sz="825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083118" y="39714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五大核心能力</a:t>
                </a:r>
                <a:endParaRPr lang="zh-CN" sz="97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65" name="Group 65"/>
              <p:cNvGrpSpPr/>
              <p:nvPr/>
            </p:nvGrpSpPr>
            <p:grpSpPr>
              <a:xfrm>
                <a:off x="2095500" y="4267200"/>
                <a:ext cx="9144000" cy="304800"/>
                <a:chOff x="2095500" y="4267200"/>
                <a:chExt cx="9144000" cy="304800"/>
              </a:xfrm>
            </p:grpSpPr>
            <p:grpSp>
              <p:nvGrpSpPr>
                <p:cNvPr id="52" name="Group 52"/>
                <p:cNvGrpSpPr/>
                <p:nvPr/>
              </p:nvGrpSpPr>
              <p:grpSpPr>
                <a:xfrm>
                  <a:off x="2095500" y="4267200"/>
                  <a:ext cx="1619250" cy="304800"/>
                  <a:chOff x="2095500" y="4267200"/>
                  <a:chExt cx="1619250" cy="304800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2095500" y="4267200"/>
                    <a:ext cx="1619250" cy="304800"/>
                  </a:xfrm>
                  <a:prstGeom prst="rect">
                    <a:avLst/>
                  </a:prstGeom>
                  <a:solidFill>
                    <a:srgbClr val="F8FAFC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2198370" y="4360545"/>
                    <a:ext cx="60493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① 查询路由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55" name="Group 55"/>
                <p:cNvGrpSpPr/>
                <p:nvPr/>
              </p:nvGrpSpPr>
              <p:grpSpPr>
                <a:xfrm>
                  <a:off x="3810000" y="4267200"/>
                  <a:ext cx="1619250" cy="304800"/>
                  <a:chOff x="3810000" y="4267200"/>
                  <a:chExt cx="1619250" cy="304800"/>
                </a:xfrm>
              </p:grpSpPr>
              <p:sp>
                <p:nvSpPr>
                  <p:cNvPr id="53" name="Rectangle 53"/>
                  <p:cNvSpPr/>
                  <p:nvPr/>
                </p:nvSpPr>
                <p:spPr>
                  <a:xfrm>
                    <a:off x="3810000" y="4267200"/>
                    <a:ext cx="1619250" cy="304800"/>
                  </a:xfrm>
                  <a:prstGeom prst="rect">
                    <a:avLst/>
                  </a:prstGeom>
                  <a:solidFill>
                    <a:srgbClr val="F8FAFC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3912870" y="4360545"/>
                    <a:ext cx="96497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② 多路结构化检索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58" name="Group 58"/>
                <p:cNvGrpSpPr/>
                <p:nvPr/>
              </p:nvGrpSpPr>
              <p:grpSpPr>
                <a:xfrm>
                  <a:off x="5524500" y="4267200"/>
                  <a:ext cx="1619250" cy="304800"/>
                  <a:chOff x="5524500" y="4267200"/>
                  <a:chExt cx="1619250" cy="304800"/>
                </a:xfrm>
              </p:grpSpPr>
              <p:sp>
                <p:nvSpPr>
                  <p:cNvPr id="56" name="Rectangle 56"/>
                  <p:cNvSpPr/>
                  <p:nvPr/>
                </p:nvSpPr>
                <p:spPr>
                  <a:xfrm>
                    <a:off x="5524500" y="4267200"/>
                    <a:ext cx="1619250" cy="304800"/>
                  </a:xfrm>
                  <a:prstGeom prst="rect">
                    <a:avLst/>
                  </a:prstGeom>
                  <a:solidFill>
                    <a:srgbClr val="F8FAFC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5627370" y="4360545"/>
                    <a:ext cx="60493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③ 来源分层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61" name="Group 61"/>
                <p:cNvGrpSpPr/>
                <p:nvPr/>
              </p:nvGrpSpPr>
              <p:grpSpPr>
                <a:xfrm>
                  <a:off x="7239000" y="4267200"/>
                  <a:ext cx="1619250" cy="304800"/>
                  <a:chOff x="7239000" y="4267200"/>
                  <a:chExt cx="1619250" cy="304800"/>
                </a:xfrm>
              </p:grpSpPr>
              <p:sp>
                <p:nvSpPr>
                  <p:cNvPr id="59" name="Rectangle 59"/>
                  <p:cNvSpPr/>
                  <p:nvPr/>
                </p:nvSpPr>
                <p:spPr>
                  <a:xfrm>
                    <a:off x="7239000" y="4267200"/>
                    <a:ext cx="1619250" cy="304800"/>
                  </a:xfrm>
                  <a:prstGeom prst="rect">
                    <a:avLst/>
                  </a:prstGeom>
                  <a:solidFill>
                    <a:srgbClr val="F8FAFC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60" name="TextBox 60"/>
                  <p:cNvSpPr txBox="1"/>
                  <p:nvPr/>
                </p:nvSpPr>
                <p:spPr>
                  <a:xfrm>
                    <a:off x="7341870" y="4360545"/>
                    <a:ext cx="72494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④ 跨语言扩展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64" name="Group 64"/>
                <p:cNvGrpSpPr/>
                <p:nvPr/>
              </p:nvGrpSpPr>
              <p:grpSpPr>
                <a:xfrm>
                  <a:off x="8953500" y="4267200"/>
                  <a:ext cx="2286000" cy="304800"/>
                  <a:chOff x="8953500" y="4267200"/>
                  <a:chExt cx="2286000" cy="304800"/>
                </a:xfrm>
              </p:grpSpPr>
              <p:sp>
                <p:nvSpPr>
                  <p:cNvPr id="62" name="Rectangle 62"/>
                  <p:cNvSpPr/>
                  <p:nvPr/>
                </p:nvSpPr>
                <p:spPr>
                  <a:xfrm>
                    <a:off x="8953500" y="4267200"/>
                    <a:ext cx="2286000" cy="304800"/>
                  </a:xfrm>
                  <a:prstGeom prst="rect">
                    <a:avLst/>
                  </a:prstGeom>
                  <a:solidFill>
                    <a:srgbClr val="F8FAFC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9056370" y="4360545"/>
                    <a:ext cx="96497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⑤ 生成上下文构造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sp>
            <p:nvSpPr>
              <p:cNvPr id="66" name="TextBox 66"/>
              <p:cNvSpPr txBox="1"/>
              <p:nvPr/>
            </p:nvSpPr>
            <p:spPr>
              <a:xfrm>
                <a:off x="2083118" y="4680585"/>
                <a:ext cx="6245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实体路径 → 实体局部关系 / 样例三元组 / 对齐扩展 | 关系路径 → 关系定义 / 样例事实 | 混合 → 外部命中 + 本地结构化</a:t>
                </a:r>
                <a:endParaRPr lang="zh-CN" sz="900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762000" y="5219700"/>
              <a:ext cx="10668000" cy="762000"/>
              <a:chOff x="762000" y="5219700"/>
              <a:chExt cx="10668000" cy="762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762000" y="5219700"/>
                <a:ext cx="10668000" cy="762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762000" y="5219700"/>
                <a:ext cx="1143000" cy="762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94744" y="5473541"/>
                <a:ext cx="4775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LAYER 04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26128" y="56588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数据底座</a:t>
                </a:r>
                <a:endParaRPr lang="zh-CN" sz="10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74" name="Group 74"/>
              <p:cNvGrpSpPr/>
              <p:nvPr/>
            </p:nvGrpSpPr>
            <p:grpSpPr>
              <a:xfrm>
                <a:off x="2083118" y="5285899"/>
                <a:ext cx="4128325" cy="479379"/>
                <a:chOff x="2083118" y="5285899"/>
                <a:chExt cx="4128325" cy="479379"/>
              </a:xfrm>
            </p:grpSpPr>
            <p:sp>
              <p:nvSpPr>
                <p:cNvPr id="72" name="TextBox 72"/>
                <p:cNvSpPr txBox="1"/>
                <p:nvPr/>
              </p:nvSpPr>
              <p:spPr>
                <a:xfrm>
                  <a:off x="2083118" y="52858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本地资源</a:t>
                  </a:r>
                  <a:endParaRPr lang="zh-CN" sz="975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2084070" y="5582398"/>
                  <a:ext cx="41273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ES 多字段实体索引 · DBP15K 三元组 · 训练完成的对齐模型 · 原始语义向量集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77" name="Group 77"/>
              <p:cNvGrpSpPr/>
              <p:nvPr/>
            </p:nvGrpSpPr>
            <p:grpSpPr>
              <a:xfrm>
                <a:off x="7810500" y="5486400"/>
                <a:ext cx="762000" cy="304800"/>
                <a:chOff x="7810500" y="5486400"/>
                <a:chExt cx="762000" cy="304800"/>
              </a:xfrm>
            </p:grpSpPr>
            <p:sp>
              <p:nvSpPr>
                <p:cNvPr id="75" name="Rectangle 75"/>
                <p:cNvSpPr/>
                <p:nvPr/>
              </p:nvSpPr>
              <p:spPr>
                <a:xfrm>
                  <a:off x="7810500" y="5486400"/>
                  <a:ext cx="7620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120515" y="5587841"/>
                  <a:ext cx="14197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ES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8667750" y="5486400"/>
                <a:ext cx="952500" cy="304800"/>
                <a:chOff x="8667750" y="5486400"/>
                <a:chExt cx="952500" cy="304800"/>
              </a:xfrm>
            </p:grpSpPr>
            <p:sp>
              <p:nvSpPr>
                <p:cNvPr id="78" name="Rectangle 78"/>
                <p:cNvSpPr/>
                <p:nvPr/>
              </p:nvSpPr>
              <p:spPr>
                <a:xfrm>
                  <a:off x="8667750" y="5486400"/>
                  <a:ext cx="9525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965752" y="5587841"/>
                  <a:ext cx="35649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DBP15K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83" name="Group 83"/>
              <p:cNvGrpSpPr/>
              <p:nvPr/>
            </p:nvGrpSpPr>
            <p:grpSpPr>
              <a:xfrm>
                <a:off x="9715500" y="5486400"/>
                <a:ext cx="1333500" cy="304800"/>
                <a:chOff x="9715500" y="5486400"/>
                <a:chExt cx="1333500" cy="304800"/>
              </a:xfrm>
            </p:grpSpPr>
            <p:sp>
              <p:nvSpPr>
                <p:cNvPr id="81" name="Rectangle 81"/>
                <p:cNvSpPr/>
                <p:nvPr/>
              </p:nvSpPr>
              <p:spPr>
                <a:xfrm>
                  <a:off x="9715500" y="5486400"/>
                  <a:ext cx="1333500" cy="3048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9928967" y="5587841"/>
                  <a:ext cx="90656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Align Model · Vec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86" name="TextBox 86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2" grpId="0"/>
      <p:bldP spid="85" grpId="0"/>
      <p:bldP spid="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905221" cy="659130"/>
            <a:chOff x="735330" y="379095"/>
            <a:chExt cx="3905221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04 · KG-RAG 系统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905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RAG 检索增强机制 · 查询路由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4.2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2000" y="1314450"/>
            <a:ext cx="10668000" cy="638175"/>
            <a:chOff x="762000" y="1314450"/>
            <a:chExt cx="10668000" cy="638175"/>
          </a:xfrm>
        </p:grpSpPr>
        <p:sp>
          <p:nvSpPr>
            <p:cNvPr id="8" name="Rectangle 8"/>
            <p:cNvSpPr/>
            <p:nvPr/>
          </p:nvSpPr>
          <p:spPr>
            <a:xfrm>
              <a:off x="762000" y="1314450"/>
              <a:ext cx="10668000" cy="609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79170" y="14839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RAG · Eq.(4-1)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1550" y="1647825"/>
              <a:ext cx="24884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y = Generator( q , C(q) )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1273" y="1647984"/>
              <a:ext cx="2820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C(q) 的质量决定了可用的知识范围和来源可靠性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62000" y="2209800"/>
            <a:ext cx="10668000" cy="3048000"/>
            <a:chOff x="762000" y="2209800"/>
            <a:chExt cx="10668000" cy="3048000"/>
          </a:xfrm>
        </p:grpSpPr>
        <p:grpSp>
          <p:nvGrpSpPr>
            <p:cNvPr id="33" name="Group 33"/>
            <p:cNvGrpSpPr/>
            <p:nvPr/>
          </p:nvGrpSpPr>
          <p:grpSpPr>
            <a:xfrm>
              <a:off x="762000" y="2209800"/>
              <a:ext cx="2476500" cy="3048000"/>
              <a:chOff x="762000" y="2209800"/>
              <a:chExt cx="2476500" cy="3048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209800"/>
                <a:ext cx="2476500" cy="3048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209800"/>
                <a:ext cx="2476500" cy="43815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4872" y="2311241"/>
                <a:ext cx="3289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STEP 1</a:t>
                </a:r>
                <a:endParaRPr lang="zh-CN" sz="82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1062" y="24503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查询路由</a:t>
                </a:r>
                <a:endPara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883920" y="2722245"/>
                <a:ext cx="2221230" cy="2080736"/>
                <a:chOff x="883920" y="2722245"/>
                <a:chExt cx="2221230" cy="2080736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883920" y="2722245"/>
                  <a:ext cx="77895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输入意图分流</a:t>
                  </a:r>
                  <a:endParaRPr lang="zh-CN" sz="90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20" name="Group 20"/>
                <p:cNvGrpSpPr/>
                <p:nvPr/>
              </p:nvGrpSpPr>
              <p:grpSpPr>
                <a:xfrm>
                  <a:off x="895350" y="3028950"/>
                  <a:ext cx="2209800" cy="266700"/>
                  <a:chOff x="895350" y="3028950"/>
                  <a:chExt cx="2209800" cy="266700"/>
                </a:xfrm>
              </p:grpSpPr>
              <p:sp>
                <p:nvSpPr>
                  <p:cNvPr id="18" name="Rectangle 18"/>
                  <p:cNvSpPr/>
                  <p:nvPr/>
                </p:nvSpPr>
                <p:spPr>
                  <a:xfrm>
                    <a:off x="895350" y="3028950"/>
                    <a:ext cx="22098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979170" y="3103245"/>
                    <a:ext cx="112099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实体编号 → 实体详情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23" name="Group 23"/>
                <p:cNvGrpSpPr/>
                <p:nvPr/>
              </p:nvGrpSpPr>
              <p:grpSpPr>
                <a:xfrm>
                  <a:off x="895350" y="3352800"/>
                  <a:ext cx="2209800" cy="266700"/>
                  <a:chOff x="895350" y="3352800"/>
                  <a:chExt cx="2209800" cy="266700"/>
                </a:xfrm>
              </p:grpSpPr>
              <p:sp>
                <p:nvSpPr>
                  <p:cNvPr id="21" name="Rectangle 21"/>
                  <p:cNvSpPr/>
                  <p:nvPr/>
                </p:nvSpPr>
                <p:spPr>
                  <a:xfrm>
                    <a:off x="895350" y="3352800"/>
                    <a:ext cx="22098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979170" y="3427095"/>
                    <a:ext cx="112099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关系编号 → 关系详情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26" name="Group 26"/>
                <p:cNvGrpSpPr/>
                <p:nvPr/>
              </p:nvGrpSpPr>
              <p:grpSpPr>
                <a:xfrm>
                  <a:off x="895350" y="3676650"/>
                  <a:ext cx="2209800" cy="266700"/>
                  <a:chOff x="895350" y="3676650"/>
                  <a:chExt cx="2209800" cy="266700"/>
                </a:xfrm>
              </p:grpSpPr>
              <p:sp>
                <p:nvSpPr>
                  <p:cNvPr id="24" name="Rectangle 24"/>
                  <p:cNvSpPr/>
                  <p:nvPr/>
                </p:nvSpPr>
                <p:spPr>
                  <a:xfrm>
                    <a:off x="895350" y="3676650"/>
                    <a:ext cx="22098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979170" y="3750945"/>
                    <a:ext cx="106099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"关系/三元组"线索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29" name="Group 29"/>
                <p:cNvGrpSpPr/>
                <p:nvPr/>
              </p:nvGrpSpPr>
              <p:grpSpPr>
                <a:xfrm>
                  <a:off x="895350" y="4000500"/>
                  <a:ext cx="2209800" cy="266700"/>
                  <a:chOff x="895350" y="4000500"/>
                  <a:chExt cx="2209800" cy="266700"/>
                </a:xfrm>
              </p:grpSpPr>
              <p:sp>
                <p:nvSpPr>
                  <p:cNvPr id="27" name="Rectangle 27"/>
                  <p:cNvSpPr/>
                  <p:nvPr/>
                </p:nvSpPr>
                <p:spPr>
                  <a:xfrm>
                    <a:off x="895350" y="4000500"/>
                    <a:ext cx="2209800" cy="266700"/>
                  </a:xfrm>
                  <a:prstGeom prst="rect">
                    <a:avLst/>
                  </a:prstGeom>
                  <a:solidFill>
                    <a:srgbClr val="F8FAFC"/>
                  </a:solidFill>
                  <a:ln>
                    <a:noFill/>
                  </a:ln>
                </p:spPr>
              </p:sp>
              <p:sp>
                <p:nvSpPr>
                  <p:cNvPr id="28" name="TextBox 28"/>
                  <p:cNvSpPr txBox="1"/>
                  <p:nvPr/>
                </p:nvSpPr>
                <p:spPr>
                  <a:xfrm>
                    <a:off x="979170" y="4074795"/>
                    <a:ext cx="88096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其他 → 混合检索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sp>
              <p:nvSpPr>
                <p:cNvPr id="30" name="TextBox 30"/>
                <p:cNvSpPr txBox="1"/>
                <p:nvPr/>
              </p:nvSpPr>
              <p:spPr>
                <a:xfrm>
                  <a:off x="884872" y="4482941"/>
                  <a:ext cx="134112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区分知识对象的结构特征，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84872" y="4635341"/>
                  <a:ext cx="112109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避免一刀切召回模式。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34" name="Line 34"/>
            <p:cNvSpPr/>
            <p:nvPr/>
          </p:nvSpPr>
          <p:spPr>
            <a:xfrm>
              <a:off x="3257550" y="3733800"/>
              <a:ext cx="190500" cy="1"/>
            </a:xfrm>
            <a:prstGeom prst="line">
              <a:avLst/>
            </a:prstGeom>
            <a:noFill/>
            <a:ln w="23812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467100" y="2209800"/>
              <a:ext cx="2476500" cy="3048000"/>
              <a:chOff x="3467100" y="2209800"/>
              <a:chExt cx="2476500" cy="3048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467100" y="2209800"/>
                <a:ext cx="2476500" cy="3048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467100" y="2209800"/>
                <a:ext cx="2476500" cy="438150"/>
              </a:xfrm>
              <a:prstGeom prst="rect">
                <a:avLst/>
              </a:prstGeom>
              <a:solidFill>
                <a:srgbClr val="2B8AB8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589972" y="2311241"/>
                <a:ext cx="3564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STEP 2</a:t>
                </a:r>
                <a:endParaRPr lang="zh-CN" sz="825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586162" y="24503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多路检索</a:t>
                </a:r>
                <a:endPara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3589020" y="2722245"/>
                <a:ext cx="1397032" cy="2385536"/>
                <a:chOff x="3589020" y="2722245"/>
                <a:chExt cx="1397032" cy="2385536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3589020" y="2722245"/>
                  <a:ext cx="103098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并行调用四类后端</a:t>
                  </a:r>
                  <a:endParaRPr lang="zh-CN" sz="90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589020" y="2988945"/>
                  <a:ext cx="101298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ES 外部百科索引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3589020" y="3179445"/>
                  <a:ext cx="125901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返回标题 / 链接 / 分数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3589020" y="3446145"/>
                  <a:ext cx="84496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本地实体集合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589020" y="3636645"/>
                  <a:ext cx="105498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DBP15K + ES 多字段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3589020" y="3903345"/>
                  <a:ext cx="84496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本地关系集合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3589020" y="4093845"/>
                  <a:ext cx="139703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relation_id / 样例三元组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589020" y="4360545"/>
                  <a:ext cx="72494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跨语言对齐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3589020" y="4551045"/>
                  <a:ext cx="100098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测评标准 + 预测式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3589972" y="4940141"/>
                  <a:ext cx="138512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ES 不可用时仍保留本地路径</a:t>
                  </a:r>
                  <a:endParaRPr lang="zh-CN" sz="825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51" name="Line 51"/>
            <p:cNvSpPr/>
            <p:nvPr/>
          </p:nvSpPr>
          <p:spPr>
            <a:xfrm>
              <a:off x="5962650" y="3733800"/>
              <a:ext cx="190500" cy="1"/>
            </a:xfrm>
            <a:prstGeom prst="line">
              <a:avLst/>
            </a:prstGeom>
            <a:noFill/>
            <a:ln w="23812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172200" y="2209800"/>
              <a:ext cx="2476500" cy="3048000"/>
              <a:chOff x="6172200" y="2209800"/>
              <a:chExt cx="2476500" cy="30480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172200" y="2209800"/>
                <a:ext cx="2476500" cy="3048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365D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6172200" y="2209800"/>
                <a:ext cx="2476500" cy="438150"/>
              </a:xfrm>
              <a:prstGeom prst="rect">
                <a:avLst/>
              </a:prstGeom>
              <a:solidFill>
                <a:srgbClr val="2B8AB8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295072" y="2311241"/>
                <a:ext cx="3564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STEP 3</a:t>
                </a:r>
                <a:endParaRPr lang="zh-CN" sz="825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291262" y="24503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来源分层</a:t>
                </a:r>
                <a:endPara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6294120" y="2722245"/>
                <a:ext cx="2221230" cy="2078355"/>
                <a:chOff x="6294120" y="2722245"/>
                <a:chExt cx="2221230" cy="2078355"/>
              </a:xfrm>
            </p:grpSpPr>
            <p:sp>
              <p:nvSpPr>
                <p:cNvPr id="56" name="TextBox 56"/>
                <p:cNvSpPr txBox="1"/>
                <p:nvPr/>
              </p:nvSpPr>
              <p:spPr>
                <a:xfrm>
                  <a:off x="6294120" y="2722245"/>
                  <a:ext cx="115700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四类来源分级落字段</a:t>
                  </a:r>
                  <a:endParaRPr lang="zh-CN" sz="90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60" name="Group 60"/>
                <p:cNvGrpSpPr/>
                <p:nvPr/>
              </p:nvGrpSpPr>
              <p:grpSpPr>
                <a:xfrm>
                  <a:off x="6305550" y="3028950"/>
                  <a:ext cx="2209800" cy="400050"/>
                  <a:chOff x="6305550" y="3028950"/>
                  <a:chExt cx="2209800" cy="400050"/>
                </a:xfrm>
              </p:grpSpPr>
              <p:sp>
                <p:nvSpPr>
                  <p:cNvPr id="57" name="Rectangle 57"/>
                  <p:cNvSpPr/>
                  <p:nvPr/>
                </p:nvSpPr>
                <p:spPr>
                  <a:xfrm>
                    <a:off x="6305550" y="3028950"/>
                    <a:ext cx="2209800" cy="400050"/>
                  </a:xfrm>
                  <a:prstGeom prst="rect">
                    <a:avLst/>
                  </a:prstGeom>
                  <a:solidFill>
                    <a:srgbClr val="DEF4F1"/>
                  </a:solidFill>
                  <a:ln>
                    <a:noFill/>
                  </a:ln>
                </p:spPr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6390322" y="3111341"/>
                    <a:ext cx="1060585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L1 · 结构化图谱命中</a:t>
                    </a:r>
                    <a:endParaRPr lang="zh-CN" sz="82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6391275" y="3271838"/>
                    <a:ext cx="146423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最高可信 · 实体 / 关系 / 三元组</a:t>
                    </a:r>
                    <a:endPara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64" name="Group 64"/>
                <p:cNvGrpSpPr/>
                <p:nvPr/>
              </p:nvGrpSpPr>
              <p:grpSpPr>
                <a:xfrm>
                  <a:off x="6305550" y="3486150"/>
                  <a:ext cx="2209800" cy="400050"/>
                  <a:chOff x="6305550" y="3486150"/>
                  <a:chExt cx="2209800" cy="400050"/>
                </a:xfrm>
              </p:grpSpPr>
              <p:sp>
                <p:nvSpPr>
                  <p:cNvPr id="61" name="Rectangle 61"/>
                  <p:cNvSpPr/>
                  <p:nvPr/>
                </p:nvSpPr>
                <p:spPr>
                  <a:xfrm>
                    <a:off x="6305550" y="3486150"/>
                    <a:ext cx="2209800" cy="40005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6390322" y="3568541"/>
                    <a:ext cx="973949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L2 · 测评标准对齐</a:t>
                    </a:r>
                    <a:endParaRPr lang="zh-CN" sz="82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6391275" y="3729038"/>
                    <a:ext cx="81915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人工划分参考关系</a:t>
                    </a:r>
                    <a:endPara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68" name="Group 68"/>
                <p:cNvGrpSpPr/>
                <p:nvPr/>
              </p:nvGrpSpPr>
              <p:grpSpPr>
                <a:xfrm>
                  <a:off x="6305550" y="3943350"/>
                  <a:ext cx="2209800" cy="400050"/>
                  <a:chOff x="6305550" y="3943350"/>
                  <a:chExt cx="2209800" cy="400050"/>
                </a:xfrm>
              </p:grpSpPr>
              <p:sp>
                <p:nvSpPr>
                  <p:cNvPr id="65" name="Rectangle 65"/>
                  <p:cNvSpPr/>
                  <p:nvPr/>
                </p:nvSpPr>
                <p:spPr>
                  <a:xfrm>
                    <a:off x="6305550" y="3943350"/>
                    <a:ext cx="2209800" cy="40005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6390322" y="4025741"/>
                    <a:ext cx="858435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L3 · 预测式对齐</a:t>
                    </a:r>
                    <a:endParaRPr lang="zh-CN" sz="82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6391275" y="4186238"/>
                    <a:ext cx="71913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语义向量族候选</a:t>
                    </a:r>
                    <a:endPara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72" name="Group 72"/>
                <p:cNvGrpSpPr/>
                <p:nvPr/>
              </p:nvGrpSpPr>
              <p:grpSpPr>
                <a:xfrm>
                  <a:off x="6305550" y="4400550"/>
                  <a:ext cx="2209800" cy="400050"/>
                  <a:chOff x="6305550" y="4400550"/>
                  <a:chExt cx="2209800" cy="400050"/>
                </a:xfrm>
              </p:grpSpPr>
              <p:sp>
                <p:nvSpPr>
                  <p:cNvPr id="69" name="Rectangle 69"/>
                  <p:cNvSpPr/>
                  <p:nvPr/>
                </p:nvSpPr>
                <p:spPr>
                  <a:xfrm>
                    <a:off x="6305550" y="4400550"/>
                    <a:ext cx="2209800" cy="40005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E5E7EB"/>
                    </a:solidFill>
                  </a:ln>
                </p:spPr>
              </p:sp>
              <p:sp>
                <p:nvSpPr>
                  <p:cNvPr id="70" name="TextBox 70"/>
                  <p:cNvSpPr txBox="1"/>
                  <p:nvPr/>
                </p:nvSpPr>
                <p:spPr>
                  <a:xfrm>
                    <a:off x="6390322" y="4482941"/>
                    <a:ext cx="973949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L4 · 外部参考链接</a:t>
                    </a:r>
                    <a:endParaRPr lang="zh-CN" sz="82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71" name="TextBox 71"/>
                  <p:cNvSpPr txBox="1"/>
                  <p:nvPr/>
                </p:nvSpPr>
                <p:spPr>
                  <a:xfrm>
                    <a:off x="6391275" y="4643438"/>
                    <a:ext cx="78914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百科 ES 文本来源</a:t>
                    </a:r>
                    <a:endPara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</p:grpSp>
        <p:sp>
          <p:nvSpPr>
            <p:cNvPr id="75" name="Line 75"/>
            <p:cNvSpPr/>
            <p:nvPr/>
          </p:nvSpPr>
          <p:spPr>
            <a:xfrm>
              <a:off x="8667750" y="3733800"/>
              <a:ext cx="190500" cy="1"/>
            </a:xfrm>
            <a:prstGeom prst="line">
              <a:avLst/>
            </a:prstGeom>
            <a:noFill/>
            <a:ln w="23812">
              <a:solidFill>
                <a:srgbClr val="1A365D"/>
              </a:solidFill>
              <a:tailEnd type="triangle" w="lg" len="lg"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8877300" y="2209800"/>
              <a:ext cx="2552700" cy="3048000"/>
              <a:chOff x="8877300" y="2209800"/>
              <a:chExt cx="2552700" cy="3048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877300" y="2209800"/>
                <a:ext cx="2552700" cy="30480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9000172" y="2425541"/>
                <a:ext cx="3564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FFFFFF">
                        <a:alphaMod val="8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STEP 4</a:t>
                </a:r>
                <a:endParaRPr lang="zh-CN" sz="825" dirty="0">
                  <a:solidFill>
                    <a:srgbClr val="FFFFFF">
                      <a:alphaMod val="8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996362" y="26217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上下文构造</a:t>
                </a:r>
                <a:endPara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grpSp>
            <p:nvGrpSpPr>
              <p:cNvPr id="90" name="Group 90"/>
              <p:cNvGrpSpPr/>
              <p:nvPr/>
            </p:nvGrpSpPr>
            <p:grpSpPr>
              <a:xfrm>
                <a:off x="8999220" y="2893695"/>
                <a:ext cx="1215556" cy="2252186"/>
                <a:chOff x="8999220" y="2893695"/>
                <a:chExt cx="1215556" cy="2252186"/>
              </a:xfrm>
            </p:grpSpPr>
            <p:sp>
              <p:nvSpPr>
                <p:cNvPr id="79" name="TextBox 79"/>
                <p:cNvSpPr txBox="1"/>
                <p:nvPr/>
              </p:nvSpPr>
              <p:spPr>
                <a:xfrm>
                  <a:off x="8999220" y="2893695"/>
                  <a:ext cx="115700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分层 JSON 字段输出</a:t>
                  </a:r>
                  <a:endParaRPr lang="zh-CN" sz="900" b="1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87" name="Group 87"/>
                <p:cNvGrpSpPr/>
                <p:nvPr/>
              </p:nvGrpSpPr>
              <p:grpSpPr>
                <a:xfrm>
                  <a:off x="9000172" y="3206591"/>
                  <a:ext cx="725043" cy="1424940"/>
                  <a:chOff x="9000172" y="3206591"/>
                  <a:chExt cx="725043" cy="1424940"/>
                </a:xfrm>
              </p:grpSpPr>
              <p:sp>
                <p:nvSpPr>
                  <p:cNvPr id="80" name="TextBox 80"/>
                  <p:cNvSpPr txBox="1"/>
                  <p:nvPr/>
                </p:nvSpPr>
                <p:spPr>
                  <a:xfrm>
                    <a:off x="9000172" y="3206591"/>
                    <a:ext cx="450009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entities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1" name="TextBox 81"/>
                  <p:cNvSpPr txBox="1"/>
                  <p:nvPr/>
                </p:nvSpPr>
                <p:spPr>
                  <a:xfrm>
                    <a:off x="9000172" y="3416141"/>
                    <a:ext cx="725043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relationships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2" name="TextBox 82"/>
                  <p:cNvSpPr txBox="1"/>
                  <p:nvPr/>
                </p:nvSpPr>
                <p:spPr>
                  <a:xfrm>
                    <a:off x="9000172" y="3625691"/>
                    <a:ext cx="389501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triples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3" name="TextBox 83"/>
                  <p:cNvSpPr txBox="1"/>
                  <p:nvPr/>
                </p:nvSpPr>
                <p:spPr>
                  <a:xfrm>
                    <a:off x="9000172" y="3835241"/>
                    <a:ext cx="593026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alignments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4" name="TextBox 84"/>
                  <p:cNvSpPr txBox="1"/>
                  <p:nvPr/>
                </p:nvSpPr>
                <p:spPr>
                  <a:xfrm>
                    <a:off x="9000172" y="4044791"/>
                    <a:ext cx="384000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chunks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5" name="TextBox 85"/>
                  <p:cNvSpPr txBox="1"/>
                  <p:nvPr/>
                </p:nvSpPr>
                <p:spPr>
                  <a:xfrm>
                    <a:off x="9000172" y="4254341"/>
                    <a:ext cx="626031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references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  <p:sp>
                <p:nvSpPr>
                  <p:cNvPr id="86" name="TextBox 86"/>
                  <p:cNvSpPr txBox="1"/>
                  <p:nvPr/>
                </p:nvSpPr>
                <p:spPr>
                  <a:xfrm>
                    <a:off x="9000172" y="446389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FFFFF">
                            <a:alphaMod val="92000"/>
                          </a:srgbClr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rPr>
                      <a:t>metadata</a:t>
                    </a:r>
                    <a:endParaRPr lang="zh-CN" sz="825" dirty="0">
                      <a:solidFill>
                        <a:srgbClr val="FFFFFF">
                          <a:alphaMod val="92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endParaRPr>
                  </a:p>
                </p:txBody>
              </p:sp>
            </p:grpSp>
            <p:sp>
              <p:nvSpPr>
                <p:cNvPr id="88" name="TextBox 88"/>
                <p:cNvSpPr txBox="1"/>
                <p:nvPr/>
              </p:nvSpPr>
              <p:spPr>
                <a:xfrm>
                  <a:off x="9000172" y="4806791"/>
                  <a:ext cx="121460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上层生成模块按需选用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9000172" y="4978241"/>
                  <a:ext cx="110459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→ 来源清晰、层级明确</a:t>
                  </a:r>
                  <a:endParaRPr lang="zh-CN" sz="825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93" name="TextBox 93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2" grpId="0"/>
      <p:bldP spid="92" grpId="0"/>
      <p:bldP spid="9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1866900" cy="640080"/>
            <a:chOff x="735330" y="379095"/>
            <a:chExt cx="1866900" cy="64008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04 · KG-RAG 系统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18669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结构化知识输出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4.3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8665" y="1220152"/>
            <a:ext cx="6775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设计目标：降低上层生成模块与底层检索实现之间的</a:t>
            </a:r>
            <a:r>
              <a:rPr lang="zh-CN" sz="105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耦合</a:t>
            </a:r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——让上层读取到的是"可解释、可组合"的知识输入。</a:t>
            </a:r>
            <a:endParaRPr lang="zh-CN" sz="1050" dirty="0">
              <a:solidFill>
                <a:srgbClr val="1F2937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66" name="Group 66"/>
          <p:cNvGrpSpPr/>
          <p:nvPr/>
        </p:nvGrpSpPr>
        <p:grpSpPr>
          <a:xfrm>
            <a:off x="638810" y="1842135"/>
            <a:ext cx="10668000" cy="4095750"/>
            <a:chOff x="762000" y="1714500"/>
            <a:chExt cx="106680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10668000" cy="3619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1070" y="184594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字段</a:t>
              </a:r>
              <a:endParaRPr lang="zh-CN" sz="9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46070" y="18459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主要内容</a:t>
              </a:r>
              <a:endParaRPr lang="zh-CN" sz="9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46570" y="18459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知识作用</a:t>
              </a:r>
              <a:endParaRPr lang="zh-CN" sz="9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762000" y="2076450"/>
              <a:ext cx="10668000" cy="3733800"/>
              <a:chOff x="762000" y="2076450"/>
              <a:chExt cx="10668000" cy="3733800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762000" y="2076450"/>
                <a:ext cx="10668000" cy="533400"/>
                <a:chOff x="762000" y="2076450"/>
                <a:chExt cx="10668000" cy="533400"/>
              </a:xfrm>
            </p:grpSpPr>
            <p:sp>
              <p:nvSpPr>
                <p:cNvPr id="13" name="Rectangle 13"/>
                <p:cNvSpPr/>
                <p:nvPr/>
              </p:nvSpPr>
              <p:spPr>
                <a:xfrm>
                  <a:off x="762000" y="2076450"/>
                  <a:ext cx="10668000" cy="5334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14" name="Rectangle 14"/>
                <p:cNvSpPr/>
                <p:nvPr/>
              </p:nvSpPr>
              <p:spPr>
                <a:xfrm>
                  <a:off x="762000" y="2076450"/>
                  <a:ext cx="57150" cy="5334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940594" y="2203847"/>
                  <a:ext cx="535751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entities</a:t>
                  </a:r>
                  <a:endParaRPr lang="zh-CN" sz="94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2022" y="2425541"/>
                  <a:ext cx="36199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L1 / L2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845594" y="2203847"/>
                  <a:ext cx="208032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实体编号 / 名称 / 来源侧 / 匹配分数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847022" y="2425541"/>
                  <a:ext cx="120360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9CA3A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core knowledge object</a:t>
                  </a:r>
                  <a:endParaRPr lang="zh-CN" sz="825" dirty="0">
                    <a:solidFill>
                      <a:srgbClr val="9CA3A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846094" y="2203847"/>
                  <a:ext cx="1899047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标识当前查询命中的核心知识对象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847522" y="2425541"/>
                  <a:ext cx="15776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9CA3A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支撑事实陈述的主语 / 宾语锚点</a:t>
                  </a:r>
                  <a:endParaRPr lang="zh-CN" sz="825" dirty="0">
                    <a:solidFill>
                      <a:srgbClr val="9CA3A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762000" y="2609850"/>
                <a:ext cx="10668000" cy="533400"/>
                <a:chOff x="762000" y="2609850"/>
                <a:chExt cx="10668000" cy="533400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762000" y="2609850"/>
                  <a:ext cx="10668000" cy="5334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3" name="Rectangle 23"/>
                <p:cNvSpPr/>
                <p:nvPr/>
              </p:nvSpPr>
              <p:spPr>
                <a:xfrm>
                  <a:off x="762000" y="2609850"/>
                  <a:ext cx="57150" cy="5334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40594" y="2737247"/>
                  <a:ext cx="86391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2B8AB8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relationships</a:t>
                  </a:r>
                  <a:endParaRPr lang="zh-CN" sz="940" b="1" dirty="0">
                    <a:solidFill>
                      <a:srgbClr val="2B8A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42022" y="2958941"/>
                  <a:ext cx="11446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L1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845594" y="2737247"/>
                  <a:ext cx="1811536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关系编号 / 关系名称 / 样例数量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846094" y="2737247"/>
                  <a:ext cx="2024062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描述实体周围的关系类型与结构线索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62000" y="3143250"/>
                <a:ext cx="10668000" cy="533400"/>
                <a:chOff x="762000" y="3143250"/>
                <a:chExt cx="10668000" cy="53340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762000" y="3143250"/>
                  <a:ext cx="10668000" cy="5334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762000" y="3143250"/>
                  <a:ext cx="57150" cy="5334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40594" y="3270647"/>
                  <a:ext cx="463555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triples</a:t>
                  </a:r>
                  <a:endParaRPr lang="zh-CN" sz="94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42022" y="3492341"/>
                  <a:ext cx="11446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L1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845594" y="3270647"/>
                  <a:ext cx="1955304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头实体 — 关系 — 尾实体 · 局部事实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846094" y="3270647"/>
                  <a:ext cx="214907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为生成端提供可直接引用的结构化事实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62000" y="3676650"/>
                <a:ext cx="10668000" cy="533400"/>
                <a:chOff x="762000" y="3676650"/>
                <a:chExt cx="10668000" cy="533400"/>
              </a:xfrm>
            </p:grpSpPr>
            <p:sp>
              <p:nvSpPr>
                <p:cNvPr id="36" name="Rectangle 36"/>
                <p:cNvSpPr/>
                <p:nvPr/>
              </p:nvSpPr>
              <p:spPr>
                <a:xfrm>
                  <a:off x="762000" y="3676650"/>
                  <a:ext cx="10668000" cy="5334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762000" y="3676650"/>
                  <a:ext cx="57150" cy="5334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40594" y="3804047"/>
                  <a:ext cx="70639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2B8AB8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alignments</a:t>
                  </a:r>
                  <a:endParaRPr lang="zh-CN" sz="940" b="1" dirty="0">
                    <a:solidFill>
                      <a:srgbClr val="2B8A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42022" y="4025741"/>
                  <a:ext cx="389501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L2 / L3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2845594" y="3804047"/>
                  <a:ext cx="1955304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测评标准 / 预测式 跨语言对齐结果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846094" y="3804047"/>
                  <a:ext cx="214907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支撑外部知识扩展并标记来源置信层级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62000" y="4210050"/>
                <a:ext cx="10668000" cy="533400"/>
                <a:chOff x="762000" y="4210050"/>
                <a:chExt cx="10668000" cy="533400"/>
              </a:xfrm>
            </p:grpSpPr>
            <p:sp>
              <p:nvSpPr>
                <p:cNvPr id="43" name="Rectangle 43"/>
                <p:cNvSpPr/>
                <p:nvPr/>
              </p:nvSpPr>
              <p:spPr>
                <a:xfrm>
                  <a:off x="762000" y="4210050"/>
                  <a:ext cx="10668000" cy="5334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762000" y="4210050"/>
                  <a:ext cx="57150" cy="5334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940594" y="4337447"/>
                  <a:ext cx="456992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1A365D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chunks</a:t>
                  </a:r>
                  <a:endParaRPr lang="zh-CN" sz="940" b="1" dirty="0">
                    <a:solidFill>
                      <a:srgbClr val="1A365D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942022" y="4559141"/>
                  <a:ext cx="29598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L1+L4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2845594" y="4337447"/>
                  <a:ext cx="2186583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 / 关系 / 检索组合而成的文本片段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846094" y="4337447"/>
                  <a:ext cx="1899047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便于上层生成模块直接读取上下文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762000" y="4743450"/>
                <a:ext cx="10668000" cy="533400"/>
                <a:chOff x="762000" y="4743450"/>
                <a:chExt cx="10668000" cy="533400"/>
              </a:xfrm>
            </p:grpSpPr>
            <p:sp>
              <p:nvSpPr>
                <p:cNvPr id="50" name="Rectangle 50"/>
                <p:cNvSpPr/>
                <p:nvPr/>
              </p:nvSpPr>
              <p:spPr>
                <a:xfrm>
                  <a:off x="762000" y="4743450"/>
                  <a:ext cx="10668000" cy="5334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1" name="Rectangle 51"/>
                <p:cNvSpPr/>
                <p:nvPr/>
              </p:nvSpPr>
              <p:spPr>
                <a:xfrm>
                  <a:off x="762000" y="4743450"/>
                  <a:ext cx="57150" cy="5334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940594" y="4870847"/>
                  <a:ext cx="74577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1A365D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references</a:t>
                  </a:r>
                  <a:endParaRPr lang="zh-CN" sz="940" b="1" dirty="0">
                    <a:solidFill>
                      <a:srgbClr val="1A365D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942022" y="5092541"/>
                  <a:ext cx="14197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L4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2845594" y="4870847"/>
                  <a:ext cx="1861542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ES 检索命中的标题 / 链接 / 分数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6846094" y="4870847"/>
                  <a:ext cx="1774031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提供外部参考来源与可追溯线索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762000" y="5276850"/>
                <a:ext cx="10668000" cy="533400"/>
                <a:chOff x="762000" y="5276850"/>
                <a:chExt cx="10668000" cy="533400"/>
              </a:xfrm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762000" y="5276850"/>
                  <a:ext cx="10668000" cy="5334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58" name="Rectangle 58"/>
                <p:cNvSpPr/>
                <p:nvPr/>
              </p:nvSpPr>
              <p:spPr>
                <a:xfrm>
                  <a:off x="762000" y="5276850"/>
                  <a:ext cx="57150" cy="533400"/>
                </a:xfrm>
                <a:prstGeom prst="rect">
                  <a:avLst/>
                </a:prstGeom>
                <a:solidFill>
                  <a:srgbClr val="6B7280"/>
                </a:solidFill>
                <a:ln>
                  <a:noFill/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940594" y="5404247"/>
                  <a:ext cx="627638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b="1" dirty="0">
                      <a:solidFill>
                        <a:srgbClr val="6B7280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metadata</a:t>
                  </a:r>
                  <a:endParaRPr lang="zh-CN" sz="940" b="1" dirty="0">
                    <a:solidFill>
                      <a:srgbClr val="6B728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942022" y="5625941"/>
                  <a:ext cx="14197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9CA3A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--</a:t>
                  </a:r>
                  <a:endParaRPr lang="zh-CN" sz="825" dirty="0">
                    <a:solidFill>
                      <a:srgbClr val="9CA3A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2845594" y="5404247"/>
                  <a:ext cx="1811536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查询模式 / 意图识别 / 回退状态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846094" y="5404247"/>
                  <a:ext cx="15240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支持调试、审计与错误归因</a:t>
                  </a:r>
                  <a:endParaRPr lang="zh-CN" sz="94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65" name="Rectangle 65"/>
            <p:cNvSpPr/>
            <p:nvPr/>
          </p:nvSpPr>
          <p:spPr>
            <a:xfrm>
              <a:off x="762000" y="2076450"/>
              <a:ext cx="10668000" cy="37338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8" grpId="0"/>
      <p:bldP spid="66" grpId="0"/>
      <p:bldP spid="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438150" y="1029652"/>
            <a:ext cx="3013138" cy="3299460"/>
            <a:chOff x="438150" y="1029652"/>
            <a:chExt cx="3013138" cy="3299460"/>
          </a:xfrm>
        </p:grpSpPr>
        <p:sp>
          <p:nvSpPr>
            <p:cNvPr id="5" name="TextBox 5"/>
            <p:cNvSpPr txBox="1"/>
            <p:nvPr/>
          </p:nvSpPr>
          <p:spPr>
            <a:xfrm>
              <a:off x="596265" y="1029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05</a:t>
              </a:r>
              <a:endParaRPr lang="zh-CN" sz="1050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8150" y="1209675"/>
              <a:ext cx="242216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rgbClr val="FFFFFF">
                      <a:alphaMod val="95000"/>
                    </a:srgbClr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05</a:t>
              </a:r>
              <a:endParaRPr lang="zh-CN" sz="13500" b="1" dirty="0">
                <a:solidFill>
                  <a:srgbClr val="FFFFFF">
                    <a:alphaMod val="95000"/>
                  </a:srgbClr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0407" y="3143387"/>
              <a:ext cx="184423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实验分析</a:t>
              </a:r>
              <a:endParaRPr lang="zh-CN" sz="31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6024" y="3605213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Experiments</a:t>
              </a:r>
              <a:endParaRPr lang="zh-CN" sz="135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3905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265" y="4115752"/>
              <a:ext cx="2855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实体链接 / 实体对齐 / KG-RAG 检索 三类验证</a:t>
              </a:r>
              <a:endParaRPr lang="zh-CN" sz="1050" dirty="0">
                <a:solidFill>
                  <a:srgbClr val="FFFFFF">
                    <a:alphaMod val="8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31118" y="1113949"/>
            <a:ext cx="6108382" cy="4753451"/>
            <a:chOff x="5131118" y="1113949"/>
            <a:chExt cx="6108382" cy="4753451"/>
          </a:xfrm>
        </p:grpSpPr>
        <p:sp>
          <p:nvSpPr>
            <p:cNvPr id="12" name="TextBox 12"/>
            <p:cNvSpPr txBox="1"/>
            <p:nvPr/>
          </p:nvSpPr>
          <p:spPr>
            <a:xfrm>
              <a:off x="5131118" y="1113949"/>
              <a:ext cx="1701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SETUP · 实验环境与数据配置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143500" y="1485900"/>
              <a:ext cx="6096000" cy="2131219"/>
              <a:chOff x="5143500" y="1485900"/>
              <a:chExt cx="6096000" cy="2131219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143500" y="1485900"/>
                <a:ext cx="6096000" cy="20955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321618" y="1666399"/>
                <a:ext cx="2995636" cy="1950720"/>
                <a:chOff x="5321618" y="1666399"/>
                <a:chExt cx="2995636" cy="1950720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5321618" y="1666399"/>
                  <a:ext cx="98038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实体链接评测集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321618" y="1875949"/>
                  <a:ext cx="165646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find.xlsx · 444 条标注查询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321618" y="2180749"/>
                  <a:ext cx="98038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跨语言对齐基准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321618" y="2390299"/>
                  <a:ext cx="299563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DBP15K zh_en · 测试 1206 / 验证 1250 / 候选 13347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5321618" y="269509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训练设备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5321618" y="2904649"/>
                  <a:ext cx="199451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CPU · 2026-03-31 至 2026-04-03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321618" y="3209449"/>
                  <a:ext cx="57083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评价指标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321618" y="3418999"/>
                  <a:ext cx="191000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MRR · Hits@1 · Hits@5 · Hits@10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  <p:sp>
          <p:nvSpPr>
            <p:cNvPr id="24" name="TextBox 24"/>
            <p:cNvSpPr txBox="1"/>
            <p:nvPr/>
          </p:nvSpPr>
          <p:spPr>
            <a:xfrm>
              <a:off x="5131118" y="3780949"/>
              <a:ext cx="11884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METRICS · 评价指标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143500" y="4152900"/>
              <a:ext cx="6096000" cy="1714500"/>
              <a:chOff x="5143500" y="4152900"/>
              <a:chExt cx="6096000" cy="1714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143500" y="4152900"/>
                <a:ext cx="6096000" cy="17145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322570" y="4360545"/>
                <a:ext cx="1931098" cy="1325880"/>
                <a:chOff x="5322570" y="4360545"/>
                <a:chExt cx="1931098" cy="1325880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5322570" y="4360545"/>
                  <a:ext cx="145103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5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Eq.(5-1) Token Accuracy</a:t>
                  </a:r>
                  <a:endParaRPr lang="zh-CN" sz="900" dirty="0">
                    <a:solidFill>
                      <a:srgbClr val="FFFFFF">
                        <a:alphaMod val="75000"/>
                      </a:srgbClr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322570" y="4551045"/>
                  <a:ext cx="152304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Acc = N_correct / N_total</a:t>
                  </a:r>
                  <a:endParaRPr lang="zh-CN" sz="9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322570" y="4836795"/>
                  <a:ext cx="183508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5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Eq.(5-2) Precision / Recall / F1</a:t>
                  </a:r>
                  <a:endParaRPr lang="zh-CN" sz="900" dirty="0">
                    <a:solidFill>
                      <a:srgbClr val="FFFFFF">
                        <a:alphaMod val="75000"/>
                      </a:srgbClr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322570" y="5027295"/>
                  <a:ext cx="19310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P = TP / (TP+FP) R = TP / (TP+FN)</a:t>
                  </a:r>
                  <a:endParaRPr lang="zh-CN" sz="9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322570" y="5313045"/>
                  <a:ext cx="181108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5000"/>
                        </a:srgbClr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Eq.(5-3) Mean Reciprocal Rank</a:t>
                  </a:r>
                  <a:endParaRPr lang="zh-CN" sz="900" dirty="0">
                    <a:solidFill>
                      <a:srgbClr val="FFFFFF">
                        <a:alphaMod val="75000"/>
                      </a:srgbClr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22570" y="5503545"/>
                  <a:ext cx="158905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MRR = (1/|Q|) · Σ 1 / rank_q</a:t>
                  </a:r>
                  <a:endParaRPr lang="zh-CN" sz="900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</p:grpSp>
      </p:grpSp>
      <p:sp>
        <p:nvSpPr>
          <p:cNvPr id="35" name="TextBox 35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4" grpId="0"/>
      <p:bldP spid="11" grpId="0"/>
      <p:bldP spid="34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4258066" cy="659130"/>
            <a:chOff x="735330" y="379095"/>
            <a:chExt cx="4258066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05 · 实验分析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42580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实体链接实验 · 索引 × 检索模式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5.2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62000" y="1333500"/>
            <a:ext cx="10668000" cy="1281112"/>
            <a:chOff x="762000" y="1333500"/>
            <a:chExt cx="10668000" cy="1281112"/>
          </a:xfrm>
        </p:grpSpPr>
        <p:grpSp>
          <p:nvGrpSpPr>
            <p:cNvPr id="12" name="Group 12"/>
            <p:cNvGrpSpPr/>
            <p:nvPr/>
          </p:nvGrpSpPr>
          <p:grpSpPr>
            <a:xfrm>
              <a:off x="762000" y="1333500"/>
              <a:ext cx="2667000" cy="1281112"/>
              <a:chOff x="762000" y="1333500"/>
              <a:chExt cx="2667000" cy="1281112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333500"/>
                <a:ext cx="2667000" cy="11430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41070" y="1541145"/>
                <a:ext cx="11510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FINAL · BEST CONFIG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9165" y="1753552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MRR</a:t>
                </a:r>
                <a:endParaRPr lang="zh-CN" sz="10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08685" y="1913572"/>
                <a:ext cx="1416046" cy="701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45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0.827</a:t>
                </a:r>
                <a:endParaRPr lang="zh-CN" sz="3450" b="1" dirty="0">
                  <a:solidFill>
                    <a:srgbClr val="FFFFF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24250" y="1333500"/>
              <a:ext cx="2667000" cy="1281112"/>
              <a:chOff x="3524250" y="1333500"/>
              <a:chExt cx="2667000" cy="1281112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524250" y="1333500"/>
                <a:ext cx="2667000" cy="1143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703320" y="1541145"/>
                <a:ext cx="3589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Hits@1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701415" y="1753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首位命中率</a:t>
                </a:r>
                <a:endParaRPr lang="zh-CN" sz="10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70935" y="1913572"/>
                <a:ext cx="1416046" cy="701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45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0.782</a:t>
                </a:r>
                <a:endParaRPr lang="zh-CN" sz="3450" b="1" dirty="0">
                  <a:solidFill>
                    <a:srgbClr val="FFFFF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86500" y="1333500"/>
              <a:ext cx="2667000" cy="1281112"/>
              <a:chOff x="6286500" y="1333500"/>
              <a:chExt cx="2667000" cy="1281112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333500"/>
                <a:ext cx="2667000" cy="1143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465570" y="1541145"/>
                <a:ext cx="4249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Hits@10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63665" y="1753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候选覆盖率</a:t>
                </a:r>
                <a:endParaRPr lang="zh-CN" sz="10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33185" y="1913572"/>
                <a:ext cx="1416046" cy="701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45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0.903</a:t>
                </a:r>
                <a:endParaRPr lang="zh-CN" sz="3450" b="1" dirty="0">
                  <a:solidFill>
                    <a:srgbClr val="FFFFF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048750" y="1333500"/>
              <a:ext cx="2381250" cy="1223962"/>
              <a:chOff x="9048750" y="1333500"/>
              <a:chExt cx="2381250" cy="1223962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048750" y="1333500"/>
                <a:ext cx="2381250" cy="1143000"/>
              </a:xfrm>
              <a:prstGeom prst="rect">
                <a:avLst/>
              </a:prstGeom>
              <a:solidFill>
                <a:srgbClr val="2B8AB8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227820" y="1541145"/>
                <a:ext cx="6709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vs 中文基础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225915" y="1753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英文增强收益</a:t>
                </a:r>
                <a:endParaRPr lang="zh-CN" sz="1050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203055" y="1978342"/>
                <a:ext cx="138925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FFFFFF"/>
                    </a:solidFill>
                    <a:latin typeface="Georgia" panose="02040502050405020303"/>
                    <a:ea typeface="宋体" panose="02010600030101010101" pitchFamily="2" charset="-122"/>
                    <a:cs typeface="Georgia" panose="02040502050405020303"/>
                  </a:rPr>
                  <a:t>+0.008</a:t>
                </a:r>
                <a:endParaRPr lang="zh-CN" sz="2850" b="1" dirty="0">
                  <a:solidFill>
                    <a:srgbClr val="FFFFF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endParaRP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749618" y="2656999"/>
            <a:ext cx="10680382" cy="2334101"/>
            <a:chOff x="749618" y="2656999"/>
            <a:chExt cx="10680382" cy="2334101"/>
          </a:xfrm>
        </p:grpSpPr>
        <p:sp>
          <p:nvSpPr>
            <p:cNvPr id="29" name="TextBox 29"/>
            <p:cNvSpPr txBox="1"/>
            <p:nvPr/>
          </p:nvSpPr>
          <p:spPr>
            <a:xfrm>
              <a:off x="749618" y="2656999"/>
              <a:ext cx="2066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MRR MATRIX · 索引配置 × 检索模式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762000" y="2933700"/>
              <a:ext cx="10668000" cy="304800"/>
              <a:chOff x="762000" y="2933700"/>
              <a:chExt cx="10668000" cy="304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2933700"/>
                <a:ext cx="10668000" cy="3048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84872" y="3035141"/>
                <a:ext cx="10779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检索模式 \ 索引配置</a:t>
                </a:r>
                <a:endParaRPr lang="zh-CN" sz="8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89446" y="3035141"/>
                <a:ext cx="8411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NER 编码 + 过滤</a:t>
                </a:r>
                <a:endParaRPr lang="zh-CN" sz="8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78932" y="3035141"/>
                <a:ext cx="10721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NER 编码 + 对齐增强</a:t>
                </a:r>
                <a:endParaRPr lang="zh-CN" sz="8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09923" y="3035141"/>
                <a:ext cx="10201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BGE-M3 + 英文增强</a:t>
                </a:r>
                <a:endParaRPr lang="zh-CN" sz="8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54516" y="3035141"/>
                <a:ext cx="9219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BGE-M3 中文基础</a:t>
                </a:r>
                <a:endParaRPr lang="zh-CN" sz="8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762000" y="3238500"/>
              <a:ext cx="10668000" cy="1752600"/>
              <a:chOff x="762000" y="3238500"/>
              <a:chExt cx="10668000" cy="1752600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762000" y="3238500"/>
                <a:ext cx="10668000" cy="342900"/>
                <a:chOff x="762000" y="3238500"/>
                <a:chExt cx="10668000" cy="34290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762000" y="3238500"/>
                  <a:ext cx="10668000" cy="3429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83920" y="3350895"/>
                  <a:ext cx="62293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纯向量检索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600545" y="33508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0.0000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520547" y="3350895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0.0144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410545" y="33508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0.7333</a:t>
                  </a:r>
                  <a:endParaRPr lang="zh-CN" sz="900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521047" y="3350895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0.7149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762000" y="3581400"/>
                <a:ext cx="10668000" cy="342900"/>
                <a:chOff x="762000" y="3581400"/>
                <a:chExt cx="10668000" cy="342900"/>
              </a:xfrm>
            </p:grpSpPr>
            <p:sp>
              <p:nvSpPr>
                <p:cNvPr id="44" name="Rectangle 44"/>
                <p:cNvSpPr/>
                <p:nvPr/>
              </p:nvSpPr>
              <p:spPr>
                <a:xfrm>
                  <a:off x="762000" y="3581400"/>
                  <a:ext cx="10668000" cy="342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83920" y="3693795"/>
                  <a:ext cx="62293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纯文本检索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600545" y="36937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0.6976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5505545" y="36937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0.6976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410545" y="36937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0.6976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9506045" y="36937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0.6905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762000" y="3924300"/>
                <a:ext cx="10668000" cy="342900"/>
                <a:chOff x="762000" y="3924300"/>
                <a:chExt cx="10668000" cy="342900"/>
              </a:xfrm>
            </p:grpSpPr>
            <p:sp>
              <p:nvSpPr>
                <p:cNvPr id="51" name="Rectangle 51"/>
                <p:cNvSpPr/>
                <p:nvPr/>
              </p:nvSpPr>
              <p:spPr>
                <a:xfrm>
                  <a:off x="762000" y="3924300"/>
                  <a:ext cx="10668000" cy="34290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883920" y="4036695"/>
                  <a:ext cx="113900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文本召回 + LLM 重排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3600545" y="40366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0.7087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5520547" y="4036695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0.7158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410545" y="40366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0.7086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511896" y="4036695"/>
                  <a:ext cx="40720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A365D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0.7810</a:t>
                  </a:r>
                  <a:endParaRPr lang="zh-CN" sz="900" b="1" dirty="0">
                    <a:solidFill>
                      <a:srgbClr val="1A365D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62000" y="4267200"/>
                <a:ext cx="10668000" cy="342900"/>
                <a:chOff x="762000" y="4267200"/>
                <a:chExt cx="10668000" cy="342900"/>
              </a:xfrm>
            </p:grpSpPr>
            <p:sp>
              <p:nvSpPr>
                <p:cNvPr id="58" name="Rectangle 58"/>
                <p:cNvSpPr/>
                <p:nvPr/>
              </p:nvSpPr>
              <p:spPr>
                <a:xfrm>
                  <a:off x="762000" y="4267200"/>
                  <a:ext cx="10668000" cy="3429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83920" y="4379595"/>
                  <a:ext cx="141503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向量召回 + 全量 LLM 重排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3600545" y="43795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0.0000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5505545" y="43795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0.0260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7425547" y="4379595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0.7512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9506045" y="437959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0.7759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762000" y="4610100"/>
                <a:ext cx="10668000" cy="381000"/>
                <a:chOff x="762000" y="4610100"/>
                <a:chExt cx="10668000" cy="381000"/>
              </a:xfrm>
            </p:grpSpPr>
            <p:sp>
              <p:nvSpPr>
                <p:cNvPr id="65" name="Rectangle 65"/>
                <p:cNvSpPr/>
                <p:nvPr/>
              </p:nvSpPr>
              <p:spPr>
                <a:xfrm>
                  <a:off x="762000" y="4610100"/>
                  <a:ext cx="10668000" cy="381000"/>
                </a:xfrm>
                <a:prstGeom prst="rect">
                  <a:avLst/>
                </a:prstGeom>
                <a:solidFill>
                  <a:srgbClr val="DEF4F1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83920" y="4741545"/>
                  <a:ext cx="161065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向量召回 + 自适应 LLM 重排</a:t>
                  </a:r>
                  <a:endParaRPr lang="zh-CN" sz="900" b="1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3615547" y="4741545"/>
                  <a:ext cx="38890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0.6881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505545" y="474154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0.6948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319979" y="4725352"/>
                  <a:ext cx="60004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0.8271 ★</a:t>
                  </a:r>
                  <a:endParaRPr lang="zh-CN" sz="105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9511896" y="4741545"/>
                  <a:ext cx="40720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0.8192</a:t>
                  </a:r>
                  <a:endParaRPr lang="zh-CN" sz="900" b="1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</p:grpSp>
        <p:sp>
          <p:nvSpPr>
            <p:cNvPr id="73" name="Rectangle 73"/>
            <p:cNvSpPr/>
            <p:nvPr/>
          </p:nvSpPr>
          <p:spPr>
            <a:xfrm>
              <a:off x="762000" y="2933700"/>
              <a:ext cx="10668000" cy="20574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62000" y="5372100"/>
            <a:ext cx="10668000" cy="1028700"/>
            <a:chOff x="762000" y="5372100"/>
            <a:chExt cx="10668000" cy="1028700"/>
          </a:xfrm>
        </p:grpSpPr>
        <p:sp>
          <p:nvSpPr>
            <p:cNvPr id="75" name="Rectangle 75"/>
            <p:cNvSpPr/>
            <p:nvPr/>
          </p:nvSpPr>
          <p:spPr>
            <a:xfrm>
              <a:off x="762000" y="5372100"/>
              <a:ext cx="10668000" cy="10287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62000" y="5372100"/>
              <a:ext cx="38100" cy="1028700"/>
            </a:xfrm>
            <a:prstGeom prst="rect">
              <a:avLst/>
            </a:prstGeom>
            <a:solidFill>
              <a:srgbClr val="0E9B9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0118" y="5514499"/>
              <a:ext cx="1287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THREE CONCLUSIONS</a:t>
              </a:r>
              <a:endParaRPr lang="zh-CN" sz="975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941070" y="5770245"/>
              <a:ext cx="6227636" cy="544264"/>
              <a:chOff x="941070" y="5770245"/>
              <a:chExt cx="6227636" cy="544264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941070" y="5770245"/>
                <a:ext cx="52915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① 编码器至关重要：</a:t>
                </a:r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NER 向量在纯向量检索下几乎失效（MRR ≤ 0.014），BGE-M3 单独可达 0.715；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41070" y="5979795"/>
                <a:ext cx="62276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② 英文增强条件依赖：</a:t>
                </a:r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纯向量 +0.018，自适应重排 +0.008；但文本召回 + LLM 反而 -0.072（中英混杂干扰判别）；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41070" y="6189345"/>
                <a:ext cx="4726940" cy="125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③ 自适应重排：</a:t>
                </a:r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用"是否覆盖"分流，把召回错误与排序错误拆开，是 MRR 0.827 的核心来源。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83" name="TextBox 83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7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28" grpId="0"/>
      <p:bldP spid="74" grpId="0"/>
      <p:bldP spid="82" grpId="0"/>
      <p:bldP spid="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919923" cy="659130"/>
            <a:chOff x="735330" y="379095"/>
            <a:chExt cx="3919923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05 · 实验分析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9199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实体对齐实验 · 邻域增强收益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5.3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749618" y="1228249"/>
            <a:ext cx="5727382" cy="1915001"/>
            <a:chOff x="749618" y="1228249"/>
            <a:chExt cx="5727382" cy="1915001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228249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MAIN RESULT · DBP15K zh_en 测试集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62000" y="1504950"/>
              <a:ext cx="5715000" cy="304800"/>
              <a:chOff x="762000" y="1504950"/>
              <a:chExt cx="5715000" cy="3048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504950"/>
                <a:ext cx="5715000" cy="3048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83920" y="159829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方法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17570" y="1598295"/>
                <a:ext cx="25598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MRR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274820" y="1598295"/>
                <a:ext cx="37570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Hits@1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32070" y="1598295"/>
                <a:ext cx="4072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Hits@5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894070" y="1598295"/>
                <a:ext cx="4450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Hits@10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62000" y="1809750"/>
              <a:ext cx="5715000" cy="1333500"/>
              <a:chOff x="762000" y="1809750"/>
              <a:chExt cx="5715000" cy="133350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762000" y="1809750"/>
                <a:ext cx="5715000" cy="323850"/>
                <a:chOff x="762000" y="1809750"/>
                <a:chExt cx="5715000" cy="323850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762000" y="1809750"/>
                  <a:ext cx="5715000" cy="32385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83920" y="1922145"/>
                  <a:ext cx="86896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LaBSE 原始表示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417570" y="19221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0.478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274820" y="1922145"/>
                  <a:ext cx="3228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0.410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132070" y="19221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0.559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894070" y="19221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0.606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762000" y="2133600"/>
                <a:ext cx="5715000" cy="323850"/>
                <a:chOff x="762000" y="2133600"/>
                <a:chExt cx="5715000" cy="32385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762000" y="2133600"/>
                  <a:ext cx="5715000" cy="3238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883920" y="2245995"/>
                  <a:ext cx="109099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LaBSE + 邻域图增强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417570" y="2245995"/>
                  <a:ext cx="36940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2B8AB8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0.696</a:t>
                  </a:r>
                  <a:endParaRPr lang="zh-CN" sz="900" b="1" dirty="0">
                    <a:solidFill>
                      <a:srgbClr val="2B8AB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274820" y="2245995"/>
                  <a:ext cx="3228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0.631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132070" y="224599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0.773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894070" y="2245995"/>
                  <a:ext cx="3228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0.810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762000" y="2457450"/>
                <a:ext cx="5715000" cy="323850"/>
                <a:chOff x="762000" y="2457450"/>
                <a:chExt cx="5715000" cy="32385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762000" y="2457450"/>
                  <a:ext cx="5715000" cy="32385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83920" y="2569845"/>
                  <a:ext cx="9589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BGE-M3 原始表示</a:t>
                  </a:r>
                  <a:endParaRPr lang="zh-CN" sz="900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417570" y="25698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0.679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274820" y="25698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0.624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132070" y="25698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0.745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894070" y="2569845"/>
                  <a:ext cx="35290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0.776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762000" y="2781300"/>
                <a:ext cx="5715000" cy="361950"/>
                <a:chOff x="762000" y="2781300"/>
                <a:chExt cx="5715000" cy="36195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762000" y="2781300"/>
                  <a:ext cx="5715000" cy="361950"/>
                </a:xfrm>
                <a:prstGeom prst="rect">
                  <a:avLst/>
                </a:prstGeom>
                <a:solidFill>
                  <a:srgbClr val="DEF4F1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83920" y="2912745"/>
                  <a:ext cx="134602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1F293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BGE-M3 + 邻域图增强 ★</a:t>
                  </a:r>
                  <a:endParaRPr lang="zh-CN" sz="900" b="1" dirty="0">
                    <a:solidFill>
                      <a:srgbClr val="1F2937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417570" y="2912745"/>
                  <a:ext cx="36940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0.725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274820" y="2912745"/>
                  <a:ext cx="36940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0.670</a:t>
                  </a:r>
                  <a:endParaRPr lang="zh-CN" sz="900" b="1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132070" y="2912745"/>
                  <a:ext cx="36940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0.794</a:t>
                  </a:r>
                  <a:endParaRPr lang="zh-CN" sz="900" b="1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894070" y="2912745"/>
                  <a:ext cx="36940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0.833</a:t>
                  </a:r>
                  <a:endParaRPr lang="zh-CN" sz="900" b="1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</p:grpSp>
        <p:sp>
          <p:nvSpPr>
            <p:cNvPr id="45" name="Rectangle 45"/>
            <p:cNvSpPr/>
            <p:nvPr/>
          </p:nvSpPr>
          <p:spPr>
            <a:xfrm>
              <a:off x="762000" y="1504950"/>
              <a:ext cx="5715000" cy="16383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749618" y="3438049"/>
            <a:ext cx="5727382" cy="2672239"/>
            <a:chOff x="749618" y="3438049"/>
            <a:chExt cx="5727382" cy="2672239"/>
          </a:xfrm>
        </p:grpSpPr>
        <p:sp>
          <p:nvSpPr>
            <p:cNvPr id="47" name="TextBox 47"/>
            <p:cNvSpPr txBox="1"/>
            <p:nvPr/>
          </p:nvSpPr>
          <p:spPr>
            <a:xfrm>
              <a:off x="749618" y="3438049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GAIN · 结构增强的边际收益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762000" y="3810000"/>
              <a:ext cx="5715000" cy="2300288"/>
              <a:chOff x="762000" y="3810000"/>
              <a:chExt cx="5715000" cy="2300288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62000" y="3810000"/>
                <a:ext cx="5715000" cy="2286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1333500" y="4000500"/>
                <a:ext cx="9525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0">
                    <a:moveTo>
                      <a:pt x="0" y="0"/>
                    </a:moveTo>
                    <a:lnTo>
                      <a:pt x="0" y="171450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333500" y="5715000"/>
                <a:ext cx="495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">
                    <a:moveTo>
                      <a:pt x="0" y="0"/>
                    </a:moveTo>
                    <a:lnTo>
                      <a:pt x="4953000" y="0"/>
                    </a:lnTo>
                  </a:path>
                </a:pathLst>
              </a:custGeom>
              <a:noFill/>
              <a:ln w="9525">
                <a:solidFill>
                  <a:srgbClr val="9CA3AF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1001316" y="3957638"/>
                <a:ext cx="5285184" cy="1866900"/>
                <a:chOff x="1001316" y="3957638"/>
                <a:chExt cx="5285184" cy="1866900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1001316" y="3957638"/>
                  <a:ext cx="29408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+0.25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2" name="Line 52"/>
                <p:cNvSpPr/>
                <p:nvPr/>
              </p:nvSpPr>
              <p:spPr>
                <a:xfrm>
                  <a:off x="1333500" y="4000500"/>
                  <a:ext cx="4953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0" h="9525">
                      <a:moveTo>
                        <a:pt x="0" y="0"/>
                      </a:moveTo>
                      <a:lnTo>
                        <a:pt x="4953000" y="0"/>
                      </a:lnTo>
                    </a:path>
                  </a:pathLst>
                </a:custGeom>
                <a:noFill/>
                <a:ln w="9525">
                  <a:solidFill>
                    <a:srgbClr val="E5E7EB"/>
                  </a:solidFill>
                  <a:custDash>
                    <a:ds d="200000" sp="300000"/>
                  </a:custDash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26319" y="4452938"/>
                  <a:ext cx="26908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+0.18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4" name="Line 54"/>
                <p:cNvSpPr/>
                <p:nvPr/>
              </p:nvSpPr>
              <p:spPr>
                <a:xfrm>
                  <a:off x="1333500" y="4495800"/>
                  <a:ext cx="4953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0" h="9525">
                      <a:moveTo>
                        <a:pt x="0" y="0"/>
                      </a:moveTo>
                      <a:lnTo>
                        <a:pt x="4953000" y="0"/>
                      </a:lnTo>
                    </a:path>
                  </a:pathLst>
                </a:custGeom>
                <a:noFill/>
                <a:ln w="9525">
                  <a:solidFill>
                    <a:srgbClr val="E5E7EB"/>
                  </a:solidFill>
                  <a:custDash>
                    <a:ds d="200000" sp="300000"/>
                  </a:custDash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026319" y="4986338"/>
                  <a:ext cx="26908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+0.10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6" name="Line 56"/>
                <p:cNvSpPr/>
                <p:nvPr/>
              </p:nvSpPr>
              <p:spPr>
                <a:xfrm>
                  <a:off x="1333500" y="5029200"/>
                  <a:ext cx="4953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0" h="9525">
                      <a:moveTo>
                        <a:pt x="0" y="0"/>
                      </a:moveTo>
                      <a:lnTo>
                        <a:pt x="4953000" y="0"/>
                      </a:lnTo>
                    </a:path>
                  </a:pathLst>
                </a:custGeom>
                <a:noFill/>
                <a:ln w="9525">
                  <a:solidFill>
                    <a:srgbClr val="E5E7EB"/>
                  </a:solidFill>
                  <a:custDash>
                    <a:ds d="200000" sp="300000"/>
                  </a:custDash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1001316" y="5443538"/>
                  <a:ext cx="29408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+0.04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8" name="Line 58"/>
                <p:cNvSpPr/>
                <p:nvPr/>
              </p:nvSpPr>
              <p:spPr>
                <a:xfrm>
                  <a:off x="1333500" y="5486400"/>
                  <a:ext cx="4953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00" h="9525">
                      <a:moveTo>
                        <a:pt x="0" y="0"/>
                      </a:moveTo>
                      <a:lnTo>
                        <a:pt x="4953000" y="0"/>
                      </a:lnTo>
                    </a:path>
                  </a:pathLst>
                </a:custGeom>
                <a:noFill/>
                <a:ln w="9525">
                  <a:solidFill>
                    <a:srgbClr val="E5E7EB"/>
                  </a:solidFill>
                  <a:custDash>
                    <a:ds d="200000" sp="300000"/>
                  </a:custDash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056322" y="5672138"/>
                  <a:ext cx="23907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0.00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1809750" y="4238149"/>
                <a:ext cx="1600200" cy="1872139"/>
                <a:chOff x="1809750" y="4238149"/>
                <a:chExt cx="1600200" cy="1872139"/>
              </a:xfrm>
            </p:grpSpPr>
            <p:sp>
              <p:nvSpPr>
                <p:cNvPr id="61" name="Rectangle 61"/>
                <p:cNvSpPr/>
                <p:nvPr/>
              </p:nvSpPr>
              <p:spPr>
                <a:xfrm>
                  <a:off x="1809750" y="4400550"/>
                  <a:ext cx="457200" cy="131445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817779" y="4238149"/>
                  <a:ext cx="44114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+0.218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3" name="Rectangle 63"/>
                <p:cNvSpPr/>
                <p:nvPr/>
              </p:nvSpPr>
              <p:spPr>
                <a:xfrm>
                  <a:off x="2381250" y="4400550"/>
                  <a:ext cx="457200" cy="1314450"/>
                </a:xfrm>
                <a:prstGeom prst="rect">
                  <a:avLst/>
                </a:prstGeom>
                <a:solidFill>
                  <a:srgbClr val="2B8AB8">
                    <a:alpha val="55000"/>
                  </a:srgbClr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2389279" y="4238149"/>
                  <a:ext cx="44114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+0.221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2952750" y="4400550"/>
                  <a:ext cx="457200" cy="1314450"/>
                </a:xfrm>
                <a:prstGeom prst="rect">
                  <a:avLst/>
                </a:prstGeom>
                <a:solidFill>
                  <a:srgbClr val="2B8AB8">
                    <a:alpha val="30000"/>
                  </a:srgbClr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2960779" y="4238149"/>
                  <a:ext cx="44114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+0.214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2343238" y="5808345"/>
                  <a:ext cx="53322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线</a:t>
                  </a:r>
                  <a:endParaRPr lang="zh-CN" sz="90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2100262" y="5957888"/>
                  <a:ext cx="10191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MRR / Hits@1 / Hits@5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78" name="Group 78"/>
              <p:cNvGrpSpPr/>
              <p:nvPr/>
            </p:nvGrpSpPr>
            <p:grpSpPr>
              <a:xfrm>
                <a:off x="3991464" y="5285899"/>
                <a:ext cx="1618271" cy="824389"/>
                <a:chOff x="3991464" y="5285899"/>
                <a:chExt cx="1618271" cy="824389"/>
              </a:xfrm>
            </p:grpSpPr>
            <p:sp>
              <p:nvSpPr>
                <p:cNvPr id="70" name="Rectangle 70"/>
                <p:cNvSpPr/>
                <p:nvPr/>
              </p:nvSpPr>
              <p:spPr>
                <a:xfrm>
                  <a:off x="4000500" y="5438775"/>
                  <a:ext cx="457200" cy="276225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3991464" y="5285899"/>
                  <a:ext cx="47527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+0.046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2" name="Rectangle 72"/>
                <p:cNvSpPr/>
                <p:nvPr/>
              </p:nvSpPr>
              <p:spPr>
                <a:xfrm>
                  <a:off x="4572000" y="5438775"/>
                  <a:ext cx="457200" cy="276225"/>
                </a:xfrm>
                <a:prstGeom prst="rect">
                  <a:avLst/>
                </a:prstGeom>
                <a:solidFill>
                  <a:srgbClr val="0E9B92">
                    <a:alpha val="70000"/>
                  </a:srgbClr>
                </a:soli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4562964" y="5285899"/>
                  <a:ext cx="47527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+0.046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4" name="Rectangle 74"/>
                <p:cNvSpPr/>
                <p:nvPr/>
              </p:nvSpPr>
              <p:spPr>
                <a:xfrm>
                  <a:off x="5143500" y="5429250"/>
                  <a:ext cx="457200" cy="285750"/>
                </a:xfrm>
                <a:prstGeom prst="rect">
                  <a:avLst/>
                </a:prstGeom>
                <a:solidFill>
                  <a:srgbClr val="0E9B92">
                    <a:alpha val="45000"/>
                  </a:srgbClr>
                </a:solidFill>
                <a:ln>
                  <a:noFill/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5134464" y="5285899"/>
                  <a:ext cx="47527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+0.049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4486732" y="5808345"/>
                  <a:ext cx="62773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线</a:t>
                  </a:r>
                  <a:endParaRPr lang="zh-CN" sz="90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4291012" y="5957888"/>
                  <a:ext cx="10191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75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MRR / Hits@1 / Hits@5</a:t>
                  </a:r>
                  <a:endParaRPr lang="zh-CN" sz="75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104" name="Group 104"/>
          <p:cNvGrpSpPr/>
          <p:nvPr/>
        </p:nvGrpSpPr>
        <p:grpSpPr>
          <a:xfrm>
            <a:off x="6845618" y="1228249"/>
            <a:ext cx="4584382" cy="4677251"/>
            <a:chOff x="6845618" y="1228249"/>
            <a:chExt cx="4584382" cy="4677251"/>
          </a:xfrm>
        </p:grpSpPr>
        <p:sp>
          <p:nvSpPr>
            <p:cNvPr id="81" name="TextBox 81"/>
            <p:cNvSpPr txBox="1"/>
            <p:nvPr/>
          </p:nvSpPr>
          <p:spPr>
            <a:xfrm>
              <a:off x="6845618" y="1228249"/>
              <a:ext cx="1571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OBSERVATIONS · 三点观察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03" name="Group 103"/>
            <p:cNvGrpSpPr/>
            <p:nvPr/>
          </p:nvGrpSpPr>
          <p:grpSpPr>
            <a:xfrm>
              <a:off x="6858000" y="1600200"/>
              <a:ext cx="4572000" cy="4305300"/>
              <a:chOff x="6858000" y="1600200"/>
              <a:chExt cx="4572000" cy="4305300"/>
            </a:xfrm>
          </p:grpSpPr>
          <p:grpSp>
            <p:nvGrpSpPr>
              <p:cNvPr id="88" name="Group 88"/>
              <p:cNvGrpSpPr/>
              <p:nvPr/>
            </p:nvGrpSpPr>
            <p:grpSpPr>
              <a:xfrm>
                <a:off x="6858000" y="1600200"/>
                <a:ext cx="4572000" cy="1333500"/>
                <a:chOff x="6858000" y="1600200"/>
                <a:chExt cx="4572000" cy="1333500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6858000" y="1600200"/>
                  <a:ext cx="4572000" cy="13335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83" name="Rectangle 83"/>
                <p:cNvSpPr/>
                <p:nvPr/>
              </p:nvSpPr>
              <p:spPr>
                <a:xfrm>
                  <a:off x="6858000" y="1600200"/>
                  <a:ext cx="38100" cy="13335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7035165" y="1791652"/>
                  <a:ext cx="162181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① 语义起点直接决定上限</a:t>
                  </a:r>
                  <a:endParaRPr lang="zh-CN" sz="105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7037070" y="2112645"/>
                  <a:ext cx="24891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基线 0.679 远高于 LaBSE 的 0.478。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7037070" y="2322195"/>
                  <a:ext cx="134302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检索目标贴近排序任务，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7037070" y="2512695"/>
                  <a:ext cx="206311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保留了句级主题之外的</a:t>
                  </a:r>
                  <a:r>
                    <a:rPr lang="zh-CN" sz="90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局部判别信号</a:t>
                  </a:r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6858000" y="3086100"/>
                <a:ext cx="4572000" cy="1333500"/>
                <a:chOff x="6858000" y="3086100"/>
                <a:chExt cx="4572000" cy="1333500"/>
              </a:xfrm>
            </p:grpSpPr>
            <p:sp>
              <p:nvSpPr>
                <p:cNvPr id="89" name="Rectangle 89"/>
                <p:cNvSpPr/>
                <p:nvPr/>
              </p:nvSpPr>
              <p:spPr>
                <a:xfrm>
                  <a:off x="6858000" y="3086100"/>
                  <a:ext cx="4572000" cy="13335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90" name="Rectangle 90"/>
                <p:cNvSpPr/>
                <p:nvPr/>
              </p:nvSpPr>
              <p:spPr>
                <a:xfrm>
                  <a:off x="6858000" y="3086100"/>
                  <a:ext cx="38100" cy="13335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7035165" y="3277552"/>
                  <a:ext cx="147480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② 一跳邻域两线均生效</a:t>
                  </a:r>
                  <a:endParaRPr lang="zh-CN" sz="105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7037070" y="3598545"/>
                  <a:ext cx="187709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提升 0.218（首位 +53.9%）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7037070" y="3808095"/>
                  <a:ext cx="19310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提升 0.046（首位 +7.4%）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7037070" y="3998595"/>
                  <a:ext cx="194310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结构信号与语义表示</a:t>
                  </a:r>
                  <a:r>
                    <a:rPr lang="zh-CN" sz="90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并非完全重合</a:t>
                  </a:r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102" name="Group 102"/>
              <p:cNvGrpSpPr/>
              <p:nvPr/>
            </p:nvGrpSpPr>
            <p:grpSpPr>
              <a:xfrm>
                <a:off x="6858000" y="4572000"/>
                <a:ext cx="4572000" cy="1333500"/>
                <a:chOff x="6858000" y="4572000"/>
                <a:chExt cx="4572000" cy="1333500"/>
              </a:xfrm>
            </p:grpSpPr>
            <p:sp>
              <p:nvSpPr>
                <p:cNvPr id="96" name="Rectangle 96"/>
                <p:cNvSpPr/>
                <p:nvPr/>
              </p:nvSpPr>
              <p:spPr>
                <a:xfrm>
                  <a:off x="6858000" y="4572000"/>
                  <a:ext cx="4572000" cy="13335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97" name="Rectangle 97"/>
                <p:cNvSpPr/>
                <p:nvPr/>
              </p:nvSpPr>
              <p:spPr>
                <a:xfrm>
                  <a:off x="6858000" y="4572000"/>
                  <a:ext cx="38100" cy="13335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7035165" y="4763452"/>
                  <a:ext cx="176883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③ 边际收益随基线增强递减</a:t>
                  </a:r>
                  <a:endPara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7037070" y="5084445"/>
                  <a:ext cx="159505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弱基线主要"补偿语义缺陷"，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7037070" y="5293995"/>
                  <a:ext cx="1355026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强基线主要"细化排序"。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7037070" y="5484495"/>
                  <a:ext cx="218313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不能将其外推到任意数据集与种子设置。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sp>
        <p:nvSpPr>
          <p:cNvPr id="105" name="TextBox 105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46" grpId="0"/>
      <p:bldP spid="80" grpId="0"/>
      <p:bldP spid="104" grpId="0"/>
      <p:bldP spid="1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4390382" cy="659130"/>
            <a:chOff x="735330" y="379095"/>
            <a:chExt cx="4390382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05 · 实验分析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439038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KG-RAG 检索实验 · 多路检索覆盖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5.4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8665" y="1220152"/>
            <a:ext cx="59284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不计算回答准确率 — 关注</a:t>
            </a:r>
            <a:r>
              <a:rPr lang="zh-CN" sz="105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字段覆盖能力</a:t>
            </a:r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：能否依查询类型返回可构造生成上下文的结构化结果。</a:t>
            </a:r>
            <a:endParaRPr lang="zh-CN" sz="1050" dirty="0">
              <a:solidFill>
                <a:srgbClr val="1F2937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72" name="Group 72"/>
          <p:cNvGrpSpPr/>
          <p:nvPr/>
        </p:nvGrpSpPr>
        <p:grpSpPr>
          <a:xfrm>
            <a:off x="749618" y="1609249"/>
            <a:ext cx="10680382" cy="2219801"/>
            <a:chOff x="749618" y="1609249"/>
            <a:chExt cx="10680382" cy="2219801"/>
          </a:xfrm>
        </p:grpSpPr>
        <p:sp>
          <p:nvSpPr>
            <p:cNvPr id="9" name="TextBox 9"/>
            <p:cNvSpPr txBox="1"/>
            <p:nvPr/>
          </p:nvSpPr>
          <p:spPr>
            <a:xfrm>
              <a:off x="749618" y="160924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REPRESENTATIVE QUERIES · 五类查询的字段返回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62000" y="1885950"/>
              <a:ext cx="10668000" cy="323850"/>
              <a:chOff x="762000" y="1885950"/>
              <a:chExt cx="10668000" cy="323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885950"/>
                <a:ext cx="10668000" cy="32385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83920" y="19983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查询类型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46070" y="199834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查询输入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387054" y="19983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实体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39554" y="19983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关系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229046" y="1998345"/>
                <a:ext cx="4009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三元组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44554" y="19983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对齐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197054" y="19983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片段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49554" y="1998345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参考</a:t>
                </a:r>
                <a:endParaRPr lang="zh-CN" sz="9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62000" y="2209800"/>
              <a:ext cx="10668000" cy="1619250"/>
              <a:chOff x="762000" y="2209800"/>
              <a:chExt cx="10668000" cy="1619250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762000" y="2209800"/>
                <a:ext cx="10668000" cy="323850"/>
                <a:chOff x="762000" y="2209800"/>
                <a:chExt cx="10668000" cy="32385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762000" y="2209800"/>
                  <a:ext cx="10668000" cy="32385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83920" y="23221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中文实体查询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2846070" y="2322195"/>
                  <a:ext cx="38290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装甲车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459513" y="2322195"/>
                  <a:ext cx="1299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447568" y="2322195"/>
                  <a:ext cx="588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400068" y="2322195"/>
                  <a:ext cx="588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337566" y="23221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3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9290066" y="23221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5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224564" y="2322195"/>
                  <a:ext cx="1248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762000" y="2533650"/>
                <a:ext cx="10668000" cy="323850"/>
                <a:chOff x="762000" y="2533650"/>
                <a:chExt cx="10668000" cy="32385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762000" y="2533650"/>
                  <a:ext cx="10668000" cy="3238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83920" y="264604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英文实体查询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846070" y="2646045"/>
                  <a:ext cx="60493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M1 Abrams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495068" y="2646045"/>
                  <a:ext cx="588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12013" y="2646045"/>
                  <a:ext cx="1299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364513" y="2646045"/>
                  <a:ext cx="1299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337566" y="26460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2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290066" y="26460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5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0224564" y="2646045"/>
                  <a:ext cx="1248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62000" y="2857500"/>
                <a:ext cx="10668000" cy="323850"/>
                <a:chOff x="762000" y="2857500"/>
                <a:chExt cx="10668000" cy="323850"/>
              </a:xfrm>
            </p:grpSpPr>
            <p:sp>
              <p:nvSpPr>
                <p:cNvPr id="40" name="Rectangle 40"/>
                <p:cNvSpPr/>
                <p:nvPr/>
              </p:nvSpPr>
              <p:spPr>
                <a:xfrm>
                  <a:off x="762000" y="2857500"/>
                  <a:ext cx="10668000" cy="32385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83920" y="29698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关系编号查询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2846070" y="2969895"/>
                  <a:ext cx="72494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relation:1:4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480066" y="29698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447568" y="2969895"/>
                  <a:ext cx="588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364513" y="2969895"/>
                  <a:ext cx="1299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337566" y="29698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9290066" y="29698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4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0224564" y="2969895"/>
                  <a:ext cx="1248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762000" y="3181350"/>
                <a:ext cx="10668000" cy="323850"/>
                <a:chOff x="762000" y="3181350"/>
                <a:chExt cx="10668000" cy="323850"/>
              </a:xfrm>
            </p:grpSpPr>
            <p:sp>
              <p:nvSpPr>
                <p:cNvPr id="50" name="Rectangle 50"/>
                <p:cNvSpPr/>
                <p:nvPr/>
              </p:nvSpPr>
              <p:spPr>
                <a:xfrm>
                  <a:off x="762000" y="3181350"/>
                  <a:ext cx="10668000" cy="32385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83920" y="329374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自由问句查询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2846070" y="3293745"/>
                  <a:ext cx="86296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美国有哪些导弹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5480066" y="32937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9CA3A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9CA3A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432566" y="32937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9CA3A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9CA3A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385066" y="32937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9CA3A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9CA3A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337566" y="32937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9CA3AF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0</a:t>
                  </a:r>
                  <a:endParaRPr lang="zh-CN" sz="900" dirty="0">
                    <a:solidFill>
                      <a:srgbClr val="9CA3A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9290066" y="329374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3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10224564" y="3293745"/>
                  <a:ext cx="1248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762000" y="3505200"/>
                <a:ext cx="10668000" cy="323850"/>
                <a:chOff x="762000" y="3505200"/>
                <a:chExt cx="10668000" cy="323850"/>
              </a:xfrm>
            </p:grpSpPr>
            <p:sp>
              <p:nvSpPr>
                <p:cNvPr id="60" name="Rectangle 60"/>
                <p:cNvSpPr/>
                <p:nvPr/>
              </p:nvSpPr>
              <p:spPr>
                <a:xfrm>
                  <a:off x="762000" y="3505200"/>
                  <a:ext cx="10668000" cy="323850"/>
                </a:xfrm>
                <a:prstGeom prst="rect">
                  <a:avLst/>
                </a:prstGeom>
                <a:solidFill>
                  <a:srgbClr val="F8FAFC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83920" y="3617595"/>
                  <a:ext cx="74295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型号实体查询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2846070" y="3617595"/>
                  <a:ext cx="98298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SdKfz 234 装甲车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5495068" y="3617595"/>
                  <a:ext cx="588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6430916" y="3617595"/>
                  <a:ext cx="9216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9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7364513" y="3617595"/>
                  <a:ext cx="1299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b="1" dirty="0">
                      <a:solidFill>
                        <a:srgbClr val="0E9B92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b="1" dirty="0">
                    <a:solidFill>
                      <a:srgbClr val="0E9B92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337566" y="36175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2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9290066" y="3617595"/>
                  <a:ext cx="888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5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0224564" y="3617595"/>
                  <a:ext cx="12487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rgbClr val="1F2937"/>
                      </a:solidFill>
                      <a:latin typeface="Consolas" panose="020B0609020204030204"/>
                      <a:ea typeface="微软雅黑" panose="020B0503020204020204" charset="-122"/>
                      <a:cs typeface="Consolas" panose="020B0609020204030204"/>
                    </a:rPr>
                    <a:t>10</a:t>
                  </a:r>
                  <a:endParaRPr lang="zh-CN" sz="900" dirty="0">
                    <a:solidFill>
                      <a:srgbClr val="1F2937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endParaRPr>
                </a:p>
              </p:txBody>
            </p:sp>
          </p:grpSp>
        </p:grpSp>
        <p:sp>
          <p:nvSpPr>
            <p:cNvPr id="71" name="Rectangle 71"/>
            <p:cNvSpPr/>
            <p:nvPr/>
          </p:nvSpPr>
          <p:spPr>
            <a:xfrm>
              <a:off x="762000" y="1885950"/>
              <a:ext cx="10668000" cy="1943100"/>
            </a:xfrm>
            <a:prstGeom prst="rect">
              <a:avLst/>
            </a:prstGeom>
            <a:noFill/>
            <a:ln w="9525">
              <a:solidFill>
                <a:srgbClr val="E5E7EB"/>
              </a:solidFill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749618" y="4085749"/>
            <a:ext cx="10680382" cy="2238851"/>
            <a:chOff x="749618" y="4085749"/>
            <a:chExt cx="10680382" cy="2238851"/>
          </a:xfrm>
        </p:grpSpPr>
        <p:sp>
          <p:nvSpPr>
            <p:cNvPr id="73" name="TextBox 73"/>
            <p:cNvSpPr txBox="1"/>
            <p:nvPr/>
          </p:nvSpPr>
          <p:spPr>
            <a:xfrm>
              <a:off x="749618" y="4085749"/>
              <a:ext cx="24105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VS BASELINE · 普通检索 vs RAG 检索增强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98" name="Group 98"/>
            <p:cNvGrpSpPr/>
            <p:nvPr/>
          </p:nvGrpSpPr>
          <p:grpSpPr>
            <a:xfrm>
              <a:off x="762000" y="4419600"/>
              <a:ext cx="10668000" cy="1905000"/>
              <a:chOff x="762000" y="4419600"/>
              <a:chExt cx="10668000" cy="1905000"/>
            </a:xfrm>
          </p:grpSpPr>
          <p:grpSp>
            <p:nvGrpSpPr>
              <p:cNvPr id="85" name="Group 85"/>
              <p:cNvGrpSpPr/>
              <p:nvPr/>
            </p:nvGrpSpPr>
            <p:grpSpPr>
              <a:xfrm>
                <a:off x="762000" y="4419600"/>
                <a:ext cx="5143500" cy="1905000"/>
                <a:chOff x="762000" y="4419600"/>
                <a:chExt cx="5143500" cy="1905000"/>
              </a:xfrm>
            </p:grpSpPr>
            <p:sp>
              <p:nvSpPr>
                <p:cNvPr id="74" name="Rectangle 74"/>
                <p:cNvSpPr/>
                <p:nvPr/>
              </p:nvSpPr>
              <p:spPr>
                <a:xfrm>
                  <a:off x="762000" y="4419600"/>
                  <a:ext cx="5143500" cy="1905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1A365D"/>
                  </a:solidFill>
                </a:ln>
              </p:spPr>
            </p:sp>
            <p:sp>
              <p:nvSpPr>
                <p:cNvPr id="75" name="Rectangle 75"/>
                <p:cNvSpPr/>
                <p:nvPr/>
              </p:nvSpPr>
              <p:spPr>
                <a:xfrm>
                  <a:off x="762000" y="4419600"/>
                  <a:ext cx="5143500" cy="40005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941070" y="4484370"/>
                  <a:ext cx="52092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70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BASELINE</a:t>
                  </a:r>
                  <a:endParaRPr lang="zh-CN" sz="900" dirty="0">
                    <a:solidFill>
                      <a:srgbClr val="FFFFFF">
                        <a:alphaMod val="70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939165" y="4639627"/>
                  <a:ext cx="1283677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普通检索 · ES 百科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84" name="Group 84"/>
                <p:cNvGrpSpPr/>
                <p:nvPr/>
              </p:nvGrpSpPr>
              <p:grpSpPr>
                <a:xfrm>
                  <a:off x="940594" y="5004197"/>
                  <a:ext cx="2255662" cy="1284684"/>
                  <a:chOff x="940594" y="5004197"/>
                  <a:chExt cx="2255662" cy="1284684"/>
                </a:xfrm>
              </p:grpSpPr>
              <p:sp>
                <p:nvSpPr>
                  <p:cNvPr id="78" name="TextBox 78"/>
                  <p:cNvSpPr txBox="1"/>
                  <p:nvPr/>
                </p:nvSpPr>
                <p:spPr>
                  <a:xfrm>
                    <a:off x="940594" y="5004197"/>
                    <a:ext cx="648891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返回内容：</a:t>
                    </a:r>
                    <a:endPara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79" name="TextBox 79"/>
                  <p:cNvSpPr txBox="1"/>
                  <p:nvPr/>
                </p:nvSpPr>
                <p:spPr>
                  <a:xfrm>
                    <a:off x="940594" y="5213747"/>
                    <a:ext cx="1417737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标题 / 链接 / 匹配分数</a:t>
                    </a:r>
                    <a:endParaRPr lang="zh-CN" sz="94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80" name="TextBox 80"/>
                  <p:cNvSpPr txBox="1"/>
                  <p:nvPr/>
                </p:nvSpPr>
                <p:spPr>
                  <a:xfrm>
                    <a:off x="940594" y="5404247"/>
                    <a:ext cx="898922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文本片段 3 条</a:t>
                    </a:r>
                    <a:endParaRPr lang="zh-CN" sz="94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81" name="TextBox 81"/>
                  <p:cNvSpPr txBox="1"/>
                  <p:nvPr/>
                </p:nvSpPr>
                <p:spPr>
                  <a:xfrm>
                    <a:off x="940594" y="5594747"/>
                    <a:ext cx="936427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参考链接 10 条</a:t>
                    </a:r>
                    <a:endParaRPr lang="zh-CN" sz="94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82" name="TextBox 82"/>
                  <p:cNvSpPr txBox="1"/>
                  <p:nvPr/>
                </p:nvSpPr>
                <p:spPr>
                  <a:xfrm>
                    <a:off x="940594" y="5918597"/>
                    <a:ext cx="286345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b="1" dirty="0">
                        <a:solidFill>
                          <a:srgbClr val="0E9B92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局限</a:t>
                    </a:r>
                    <a:endParaRPr lang="zh-CN" sz="94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83" name="TextBox 83"/>
                  <p:cNvSpPr txBox="1"/>
                  <p:nvPr/>
                </p:nvSpPr>
                <p:spPr>
                  <a:xfrm>
                    <a:off x="942022" y="6121241"/>
                    <a:ext cx="2254234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无法表达实体归一 / 关系类型 / 局部事实结构</a:t>
                    </a:r>
                    <a:endPara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grpSp>
            <p:nvGrpSpPr>
              <p:cNvPr id="97" name="Group 97"/>
              <p:cNvGrpSpPr/>
              <p:nvPr/>
            </p:nvGrpSpPr>
            <p:grpSpPr>
              <a:xfrm>
                <a:off x="6286500" y="4419600"/>
                <a:ext cx="5143500" cy="1905000"/>
                <a:chOff x="6286500" y="4419600"/>
                <a:chExt cx="5143500" cy="1905000"/>
              </a:xfrm>
            </p:grpSpPr>
            <p:sp>
              <p:nvSpPr>
                <p:cNvPr id="86" name="Rectangle 86"/>
                <p:cNvSpPr/>
                <p:nvPr/>
              </p:nvSpPr>
              <p:spPr>
                <a:xfrm>
                  <a:off x="6286500" y="4419600"/>
                  <a:ext cx="5143500" cy="1905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E9B92"/>
                  </a:solidFill>
                </a:ln>
              </p:spPr>
            </p:sp>
            <p:sp>
              <p:nvSpPr>
                <p:cNvPr id="87" name="Rectangle 87"/>
                <p:cNvSpPr/>
                <p:nvPr/>
              </p:nvSpPr>
              <p:spPr>
                <a:xfrm>
                  <a:off x="6286500" y="4419600"/>
                  <a:ext cx="5143500" cy="40005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6465570" y="4490085"/>
                  <a:ext cx="41891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FFFFFF">
                          <a:alphaMod val="85000"/>
                        </a:srgbClr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KG-RAG</a:t>
                  </a:r>
                  <a:endParaRPr lang="zh-CN" sz="900" dirty="0">
                    <a:solidFill>
                      <a:srgbClr val="FFFFFF">
                        <a:alphaMod val="85000"/>
                      </a:srgbClr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6463665" y="4645342"/>
                  <a:ext cx="182764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RAG 检索增强 · 图谱 + 百科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96" name="Group 96"/>
                <p:cNvGrpSpPr/>
                <p:nvPr/>
              </p:nvGrpSpPr>
              <p:grpSpPr>
                <a:xfrm>
                  <a:off x="6465094" y="5004197"/>
                  <a:ext cx="2222658" cy="1284684"/>
                  <a:chOff x="6465094" y="5004197"/>
                  <a:chExt cx="2222658" cy="1284684"/>
                </a:xfrm>
              </p:grpSpPr>
              <p:sp>
                <p:nvSpPr>
                  <p:cNvPr id="90" name="TextBox 90"/>
                  <p:cNvSpPr txBox="1"/>
                  <p:nvPr/>
                </p:nvSpPr>
                <p:spPr>
                  <a:xfrm>
                    <a:off x="6465094" y="5004197"/>
                    <a:ext cx="648891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额外补充：</a:t>
                    </a:r>
                    <a:endParaRPr lang="zh-CN" sz="94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91" name="TextBox 91"/>
                  <p:cNvSpPr txBox="1"/>
                  <p:nvPr/>
                </p:nvSpPr>
                <p:spPr>
                  <a:xfrm>
                    <a:off x="6465094" y="5213747"/>
                    <a:ext cx="1167705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+ 实体 10</a:t>
                    </a:r>
                    <a:r>
                      <a:rPr lang="zh-CN" sz="94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 </a:t>
                    </a:r>
                    <a:r>
                      <a:rPr lang="zh-CN" sz="940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+ 关系 1–10</a:t>
                    </a:r>
                    <a:endParaRPr lang="zh-CN" sz="94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92" name="TextBox 92"/>
                  <p:cNvSpPr txBox="1"/>
                  <p:nvPr/>
                </p:nvSpPr>
                <p:spPr>
                  <a:xfrm>
                    <a:off x="6465094" y="5404247"/>
                    <a:ext cx="1767780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+ 三元组 1–10</a:t>
                    </a:r>
                    <a:r>
                      <a:rPr lang="zh-CN" sz="94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 </a:t>
                    </a:r>
                    <a:r>
                      <a:rPr lang="zh-CN" sz="940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+ 跨语言对齐 0–3</a:t>
                    </a:r>
                    <a:endParaRPr lang="zh-CN" sz="94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93" name="TextBox 93"/>
                  <p:cNvSpPr txBox="1"/>
                  <p:nvPr/>
                </p:nvSpPr>
                <p:spPr>
                  <a:xfrm>
                    <a:off x="6465094" y="5728097"/>
                    <a:ext cx="548878" cy="19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40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增益形式</a:t>
                    </a:r>
                    <a:endParaRPr lang="zh-CN" sz="94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94" name="TextBox 94"/>
                  <p:cNvSpPr txBox="1"/>
                  <p:nvPr/>
                </p:nvSpPr>
                <p:spPr>
                  <a:xfrm>
                    <a:off x="6466522" y="5949791"/>
                    <a:ext cx="1572149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不是简单"增加参考链接数量"，</a:t>
                    </a:r>
                    <a:endPara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95" name="TextBox 95"/>
                  <p:cNvSpPr txBox="1"/>
                  <p:nvPr/>
                </p:nvSpPr>
                <p:spPr>
                  <a:xfrm>
                    <a:off x="6466522" y="6121241"/>
                    <a:ext cx="2221230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而是</a:t>
                    </a:r>
                    <a:r>
                      <a:rPr lang="zh-CN" sz="825" b="1" dirty="0">
                        <a:solidFill>
                          <a:srgbClr val="0E9B92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把无法表达的结构化事实显式组织出来</a:t>
                    </a:r>
                    <a:r>
                      <a:rPr lang="zh-CN" sz="825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。</a:t>
                    </a:r>
                    <a:endPara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</p:grpSp>
      </p:grpSp>
      <p:sp>
        <p:nvSpPr>
          <p:cNvPr id="100" name="TextBox 100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19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8" grpId="0"/>
      <p:bldP spid="72" grpId="0"/>
      <p:bldP spid="99" grpId="0"/>
      <p:bldP spid="10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3331850" cy="659130"/>
            <a:chOff x="735330" y="379095"/>
            <a:chExt cx="3331850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05 · 实验分析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33318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系统界面演示 · 实测交互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247471" y="48529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5.4 · System Demo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8665" y="1201102"/>
            <a:ext cx="7272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前端 Vue · 后端 FastAPI · 检索服务 Python；问答交互与检索结果分区呈现，所有字段均来自</a:t>
            </a:r>
            <a:r>
              <a:rPr lang="zh-CN" sz="105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前序结构化检索链路</a:t>
            </a:r>
            <a:r>
              <a: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。</a:t>
            </a:r>
            <a:endParaRPr lang="zh-CN" sz="1050" dirty="0">
              <a:solidFill>
                <a:srgbClr val="1F2937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762000" y="1733550"/>
            <a:ext cx="5334000" cy="4095750"/>
            <a:chOff x="762000" y="1733550"/>
            <a:chExt cx="53340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733550"/>
              <a:ext cx="5334000" cy="40957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733550"/>
              <a:ext cx="5334000" cy="3048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3920" y="1845945"/>
              <a:ext cx="4729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DEMO 01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2118" y="1837849"/>
              <a:ext cx="1451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问答主界面 · Q&amp;A View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2228850"/>
              <a:ext cx="4953000" cy="2628900"/>
              <a:chOff x="952500" y="2228850"/>
              <a:chExt cx="4953000" cy="26289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52500" y="2228850"/>
                <a:ext cx="4953000" cy="2628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52500" y="2235343"/>
                <a:ext cx="4953000" cy="2615914"/>
              </a:xfrm>
              <a:prstGeom prst="rect">
                <a:avLst/>
              </a:prstGeom>
            </p:spPr>
          </p:pic>
        </p:grpSp>
        <p:grpSp>
          <p:nvGrpSpPr>
            <p:cNvPr id="20" name="Group 20"/>
            <p:cNvGrpSpPr/>
            <p:nvPr/>
          </p:nvGrpSpPr>
          <p:grpSpPr>
            <a:xfrm>
              <a:off x="941070" y="4912995"/>
              <a:ext cx="2063115" cy="811530"/>
              <a:chOff x="941070" y="4912995"/>
              <a:chExt cx="2063115" cy="81153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1070" y="491299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输出分区</a:t>
                </a:r>
                <a:endParaRPr lang="zh-CN" sz="90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1070" y="512254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生成问答文本 · 实体命中匹配结果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1070" y="5332095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关联关系检索 · 结构化三元组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1070" y="5541645"/>
                <a:ext cx="20631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跨语言对齐对应关系 · 参考资源链接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286500" y="1733550"/>
            <a:ext cx="5143500" cy="4095750"/>
            <a:chOff x="6286500" y="1733550"/>
            <a:chExt cx="5143500" cy="409575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33550"/>
              <a:ext cx="5143500" cy="409575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E5E7E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1733550"/>
              <a:ext cx="5143500" cy="304800"/>
            </a:xfrm>
            <a:prstGeom prst="rect">
              <a:avLst/>
            </a:prstGeom>
            <a:solidFill>
              <a:srgbClr val="0E9B9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8420" y="18459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Mod val="8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DEMO 02</a:t>
              </a:r>
              <a:endParaRPr lang="zh-CN" sz="900" dirty="0">
                <a:solidFill>
                  <a:srgbClr val="FFFFFF">
                    <a:alphaMod val="8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6618" y="1837849"/>
              <a:ext cx="17175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检索结果详情 · Detail View</a:t>
              </a:r>
              <a:endParaRPr lang="zh-CN" sz="975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477000" y="2228850"/>
              <a:ext cx="4762500" cy="2628900"/>
              <a:chOff x="6477000" y="2228850"/>
              <a:chExt cx="4762500" cy="2628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477000" y="2228850"/>
                <a:ext cx="4762500" cy="2628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pic>
            <p:nvPicPr>
              <p:cNvPr id="27" name="Image 2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77000" y="2298323"/>
                <a:ext cx="4762500" cy="2489955"/>
              </a:xfrm>
              <a:prstGeom prst="rect">
                <a:avLst/>
              </a:prstGeom>
            </p:spPr>
          </p:pic>
        </p:grpSp>
        <p:grpSp>
          <p:nvGrpSpPr>
            <p:cNvPr id="33" name="Group 33"/>
            <p:cNvGrpSpPr/>
            <p:nvPr/>
          </p:nvGrpSpPr>
          <p:grpSpPr>
            <a:xfrm>
              <a:off x="6465570" y="4912995"/>
              <a:ext cx="2687193" cy="811530"/>
              <a:chOff x="6465570" y="4912995"/>
              <a:chExt cx="2687193" cy="811530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6465570" y="4912995"/>
                <a:ext cx="526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分层展开</a:t>
                </a:r>
                <a:endParaRPr lang="zh-CN" sz="90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65570" y="5122545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文本佐证片段 · 文献参考链接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65570" y="533209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· 知识图谱结构化字段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5570" y="5541645"/>
                <a:ext cx="26871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→ 清晰区分百科文本与 RAG 补充的实体/关系/事实</a:t>
                </a:r>
                <a:endParaRPr lang="zh-CN" sz="90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62000" y="6038850"/>
            <a:ext cx="10668000" cy="381000"/>
            <a:chOff x="762000" y="6038850"/>
            <a:chExt cx="10668000" cy="381000"/>
          </a:xfrm>
        </p:grpSpPr>
        <p:sp>
          <p:nvSpPr>
            <p:cNvPr id="35" name="Rectangle 35"/>
            <p:cNvSpPr/>
            <p:nvPr/>
          </p:nvSpPr>
          <p:spPr>
            <a:xfrm>
              <a:off x="762000" y="6038850"/>
              <a:ext cx="10668000" cy="381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0118" y="6181249"/>
              <a:ext cx="4620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VALIDATION · 问答交互效果与底层支撑链路一体化验证，知识来源全程可追溯。</a:t>
              </a:r>
              <a:endParaRPr lang="zh-CN" sz="9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 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8" grpId="0"/>
      <p:bldP spid="21" grpId="0"/>
      <p:bldP spid="34" grpId="0"/>
      <p:bldP spid="37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1229487" cy="659130"/>
            <a:chOff x="735330" y="379095"/>
            <a:chExt cx="1229487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93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06 · 结论与展望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研究结论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35595" y="485299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6.1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2000" y="1333500"/>
            <a:ext cx="10668000" cy="933450"/>
            <a:chOff x="762000" y="1333500"/>
            <a:chExt cx="10668000" cy="93345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10668000" cy="9334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318" y="1533049"/>
              <a:ext cx="129540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CORE CLAIM · 核心</a:t>
              </a:r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结论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1778318"/>
              <a:ext cx="4240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面向 RAG 的核心问题不是单独提升某一模型指标，</a:t>
              </a:r>
              <a:endParaRPr lang="zh-CN" sz="13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1555" y="2006918"/>
              <a:ext cx="550926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bg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而是在</a:t>
              </a:r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生成之前</a:t>
              </a:r>
              <a:r>
                <a:rPr lang="zh-CN" sz="1350" b="1" dirty="0">
                  <a:solidFill>
                    <a:schemeClr val="bg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把零散的知识来源组织为</a:t>
              </a:r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可调用的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</a:t>
              </a:r>
              <a:r>
                <a:rPr lang="en-US" altLang="zh-CN" sz="1350" b="1" dirty="0">
                  <a:solidFill>
                    <a:srgbClr val="92D05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KG + </a:t>
              </a:r>
              <a:r>
                <a:rPr lang="zh-CN" altLang="en-US" sz="1350" b="1" dirty="0">
                  <a:solidFill>
                    <a:srgbClr val="92D05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多路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</a:t>
              </a:r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结构化输入</a:t>
              </a:r>
              <a:endParaRPr lang="zh-CN" sz="1350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2428399"/>
            <a:ext cx="10680382" cy="2276951"/>
            <a:chOff x="749618" y="2428399"/>
            <a:chExt cx="10680382" cy="2276951"/>
          </a:xfrm>
        </p:grpSpPr>
        <p:sp>
          <p:nvSpPr>
            <p:cNvPr id="13" name="TextBox 13"/>
            <p:cNvSpPr txBox="1"/>
            <p:nvPr/>
          </p:nvSpPr>
          <p:spPr>
            <a:xfrm>
              <a:off x="749618" y="242839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THREE PILLARS · 三类系统能力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62000" y="2800350"/>
              <a:ext cx="10668000" cy="1905000"/>
              <a:chOff x="762000" y="2800350"/>
              <a:chExt cx="10668000" cy="1905000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762000" y="2800350"/>
                <a:ext cx="3429000" cy="1905000"/>
                <a:chOff x="762000" y="2800350"/>
                <a:chExt cx="3429000" cy="1905000"/>
              </a:xfrm>
            </p:grpSpPr>
            <p:sp>
              <p:nvSpPr>
                <p:cNvPr id="14" name="Rectangle 14"/>
                <p:cNvSpPr/>
                <p:nvPr/>
              </p:nvSpPr>
              <p:spPr>
                <a:xfrm>
                  <a:off x="762000" y="2800350"/>
                  <a:ext cx="3429000" cy="1905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15" name="Rectangle 15"/>
                <p:cNvSpPr/>
                <p:nvPr/>
              </p:nvSpPr>
              <p:spPr>
                <a:xfrm>
                  <a:off x="762000" y="2800350"/>
                  <a:ext cx="38100" cy="19050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39165" y="2991802"/>
                  <a:ext cx="147480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① 查询对象的精准定位</a:t>
                  </a:r>
                  <a:endPara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940118" y="3266599"/>
                  <a:ext cx="114940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语义召回 +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40118" y="3438049"/>
                  <a:ext cx="106489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候选池自适应重排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940118" y="3666649"/>
                  <a:ext cx="118841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基础配置 MRR </a:t>
                  </a:r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0.819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0118" y="3838099"/>
                  <a:ext cx="122091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最优配置 MRR </a:t>
                  </a:r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0.827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40118" y="4009549"/>
                  <a:ext cx="856869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Hits@10 </a:t>
                  </a:r>
                  <a:r>
                    <a:rPr lang="zh-CN" sz="975" b="1" dirty="0">
                      <a:solidFill>
                        <a:srgbClr val="0E9B92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0.903</a:t>
                  </a:r>
                  <a:endParaRPr lang="zh-CN" sz="975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42022" y="4368641"/>
                  <a:ext cx="189118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用户查询与标准实体之间建立稳定映射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381500" y="2800350"/>
                <a:ext cx="3429000" cy="1905000"/>
                <a:chOff x="4381500" y="2800350"/>
                <a:chExt cx="3429000" cy="1905000"/>
              </a:xfrm>
            </p:grpSpPr>
            <p:sp>
              <p:nvSpPr>
                <p:cNvPr id="24" name="Rectangle 24"/>
                <p:cNvSpPr/>
                <p:nvPr/>
              </p:nvSpPr>
              <p:spPr>
                <a:xfrm>
                  <a:off x="4381500" y="2800350"/>
                  <a:ext cx="3429000" cy="1905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25" name="Rectangle 25"/>
                <p:cNvSpPr/>
                <p:nvPr/>
              </p:nvSpPr>
              <p:spPr>
                <a:xfrm>
                  <a:off x="4381500" y="2800350"/>
                  <a:ext cx="38100" cy="1905000"/>
                </a:xfrm>
                <a:prstGeom prst="rect">
                  <a:avLst/>
                </a:prstGeom>
                <a:solidFill>
                  <a:srgbClr val="2B8AB8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558665" y="2991802"/>
                  <a:ext cx="1327783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② 知识扩展来源可控</a:t>
                  </a:r>
                  <a:endParaRPr lang="zh-CN" sz="105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559618" y="3266599"/>
                  <a:ext cx="1474446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一跳邻域 + 动量对比学习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559618" y="3495199"/>
                  <a:ext cx="1285923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LaBSE 0.478 → </a:t>
                  </a:r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0.696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559618" y="3666649"/>
                  <a:ext cx="1383435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BGE-M3 0.679 → </a:t>
                  </a:r>
                  <a:r>
                    <a:rPr lang="zh-CN" sz="975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0.725</a:t>
                  </a:r>
                  <a:endParaRPr lang="zh-CN" sz="975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561522" y="4025741"/>
                  <a:ext cx="101107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局部拓扑关系语境在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561522" y="4197191"/>
                  <a:ext cx="134112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实体名称与基础描述之外，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561522" y="4368641"/>
                  <a:ext cx="101107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提供细粒度判别约束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8001000" y="2800350"/>
                <a:ext cx="3429000" cy="1905000"/>
                <a:chOff x="8001000" y="2800350"/>
                <a:chExt cx="3429000" cy="1905000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8001000" y="2800350"/>
                  <a:ext cx="3429000" cy="1905000"/>
                </a:xfrm>
                <a:prstGeom prst="rect">
                  <a:avLst/>
                </a:prstGeom>
                <a:solidFill>
                  <a:srgbClr val="F8FAFC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35" name="Rectangle 35"/>
                <p:cNvSpPr/>
                <p:nvPr/>
              </p:nvSpPr>
              <p:spPr>
                <a:xfrm>
                  <a:off x="8001000" y="2800350"/>
                  <a:ext cx="38100" cy="1905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178165" y="2991802"/>
                  <a:ext cx="162181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③ 结构化语境的高效利用</a:t>
                  </a:r>
                  <a:endParaRPr lang="zh-CN" sz="105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179118" y="3266599"/>
                  <a:ext cx="1402937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KG-RAG 把普通文本检索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179118" y="3457099"/>
                  <a:ext cx="15849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拓展为面向</a:t>
                  </a:r>
                  <a:r>
                    <a:rPr lang="zh-CN" sz="975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知识对象</a:t>
                  </a:r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的检索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179118" y="3723799"/>
                  <a:ext cx="1604462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补充实体 / 关系 / 三元组 /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179118" y="3895249"/>
                  <a:ext cx="1454944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对齐扩展四类结构化字段</a:t>
                  </a:r>
                  <a:endPara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181022" y="4235291"/>
                  <a:ext cx="123110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生成端接收的上下文具备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181022" y="4406741"/>
                  <a:ext cx="134112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明确的知识类型与来源层级</a:t>
                  </a:r>
                  <a:endParaRPr lang="zh-CN" sz="82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51" name="Group 51"/>
          <p:cNvGrpSpPr/>
          <p:nvPr/>
        </p:nvGrpSpPr>
        <p:grpSpPr>
          <a:xfrm>
            <a:off x="762000" y="4991100"/>
            <a:ext cx="10668000" cy="1409700"/>
            <a:chOff x="762000" y="4991100"/>
            <a:chExt cx="10668000" cy="1409700"/>
          </a:xfrm>
        </p:grpSpPr>
        <p:sp>
          <p:nvSpPr>
            <p:cNvPr id="46" name="Rectangle 46"/>
            <p:cNvSpPr/>
            <p:nvPr/>
          </p:nvSpPr>
          <p:spPr>
            <a:xfrm>
              <a:off x="762000" y="4991100"/>
              <a:ext cx="10668000" cy="1409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E9B9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6318" y="5209699"/>
              <a:ext cx="2161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CONTRIBUTION · 与既有研究的区别</a:t>
              </a:r>
              <a:endParaRPr lang="zh-CN" sz="975" b="1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5365" y="5525452"/>
              <a:ext cx="25609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既有研究多聚焦"某一模型的孤立性能"。</a:t>
              </a:r>
              <a:endPara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5365" y="5754052"/>
              <a:ext cx="59634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本研究强调</a:t>
              </a:r>
              <a:r>
                <a: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三模块统一服务于同一目标</a:t>
              </a:r>
              <a:r>
                <a:rPr lang="zh-CN" sz="1050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—— 在问答生成前，先完成高质量结构化知识输入的构建：</a:t>
              </a:r>
              <a:endParaRPr lang="zh-CN" sz="1050" dirty="0">
                <a:solidFill>
                  <a:srgbClr val="1F2937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6318" y="6028849"/>
              <a:ext cx="7383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实体链接负责查询目标精准定位；实体对齐使跨语言扩展可控可溯源；KG-RAG 让结构化事实与外部参考稳定适配上层问答业务。</a:t>
              </a:r>
              <a:endParaRPr lang="zh-CN" sz="975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306493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2" grpId="0"/>
      <p:bldP spid="45" grpId="0"/>
      <p:bldP spid="51" grpId="0"/>
      <p:bldP spid="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1523524" cy="659130"/>
            <a:chOff x="735330" y="379095"/>
            <a:chExt cx="1523524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93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06 · 结论与展望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不足与展望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203091" y="4852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6.2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749618" y="1304449"/>
            <a:ext cx="6673590" cy="2642076"/>
            <a:chOff x="749618" y="1304449"/>
            <a:chExt cx="6673590" cy="2642076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304449"/>
              <a:ext cx="1435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LIMITATIONS · 研究边界</a:t>
              </a:r>
              <a:endParaRPr lang="zh-CN" sz="975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62000" y="1676400"/>
              <a:ext cx="6661208" cy="2270125"/>
              <a:chOff x="762000" y="1676400"/>
              <a:chExt cx="6661208" cy="22701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676400"/>
                <a:ext cx="5143500" cy="22098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676400"/>
                <a:ext cx="38100" cy="22098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978218" y="1856899"/>
                <a:ext cx="6444990" cy="2089626"/>
                <a:chOff x="978218" y="1856899"/>
                <a:chExt cx="6444990" cy="2089626"/>
              </a:xfrm>
            </p:grpSpPr>
            <p:grpSp>
              <p:nvGrpSpPr>
                <p:cNvPr id="14" name="Group 14"/>
                <p:cNvGrpSpPr/>
                <p:nvPr/>
              </p:nvGrpSpPr>
              <p:grpSpPr>
                <a:xfrm>
                  <a:off x="978218" y="1856899"/>
                  <a:ext cx="2460116" cy="571976"/>
                  <a:chOff x="978218" y="1856899"/>
                  <a:chExt cx="2460116" cy="571976"/>
                </a:xfrm>
              </p:grpSpPr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978218" y="1856899"/>
                    <a:ext cx="1526453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数据规模与任务范围有限</a:t>
                    </a:r>
                    <a:endPara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979170" y="2074545"/>
                    <a:ext cx="178108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EL 实验基于 444 条人工标注查询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979170" y="2245995"/>
                    <a:ext cx="245916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未覆盖开放式长文本 / 多实体组合 / 跨句提及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18" name="Group 18"/>
                <p:cNvGrpSpPr/>
                <p:nvPr/>
              </p:nvGrpSpPr>
              <p:grpSpPr>
                <a:xfrm>
                  <a:off x="978218" y="2637949"/>
                  <a:ext cx="2064067" cy="571976"/>
                  <a:chOff x="978218" y="2637949"/>
                  <a:chExt cx="2064067" cy="571976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978218" y="2637949"/>
                    <a:ext cx="1574234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实体对齐评测限定 DBP15K</a:t>
                    </a:r>
                    <a:endPara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979170" y="2855595"/>
                    <a:ext cx="158305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未在多语言对 / 多随机种子 /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979170" y="3027045"/>
                    <a:ext cx="2063115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真实业务知识图谱条件下系统泛化测试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  <p:grpSp>
              <p:nvGrpSpPr>
                <p:cNvPr id="22" name="Group 22"/>
                <p:cNvGrpSpPr/>
                <p:nvPr/>
              </p:nvGrpSpPr>
              <p:grpSpPr>
                <a:xfrm>
                  <a:off x="978218" y="3418999"/>
                  <a:ext cx="6444990" cy="527526"/>
                  <a:chOff x="978218" y="3418999"/>
                  <a:chExt cx="6444990" cy="527526"/>
                </a:xfrm>
              </p:grpSpPr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978218" y="3418999"/>
                    <a:ext cx="843867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1A365D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实验设备约束</a:t>
                    </a:r>
                    <a:endParaRPr lang="zh-CN" sz="975" b="1" dirty="0">
                      <a:solidFill>
                        <a:srgbClr val="1A365D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979170" y="3636645"/>
                    <a:ext cx="6444038" cy="27686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全部训练评测在 CPU 完成，结论侧重</a:t>
                    </a:r>
                    <a:r>
                      <a:rPr lang="zh-CN" sz="900" dirty="0">
                        <a:solidFill>
                          <a:srgbClr val="6B7280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  <a:sym typeface="+mn-ea"/>
                      </a:rPr>
                      <a:t>"离线可复现性"而非超大规模优化</a:t>
                    </a:r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  <a:p>
                    <a:pPr algn="l"/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21" name="TextBox 21"/>
                  <p:cNvSpPr txBox="1"/>
                  <p:nvPr/>
                </p:nvSpPr>
                <p:spPr>
                  <a:xfrm>
                    <a:off x="979170" y="3808095"/>
                    <a:ext cx="127000" cy="1384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endPara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</p:grpSp>
      </p:grpSp>
      <p:grpSp>
        <p:nvGrpSpPr>
          <p:cNvPr id="40" name="Group 40"/>
          <p:cNvGrpSpPr/>
          <p:nvPr/>
        </p:nvGrpSpPr>
        <p:grpSpPr>
          <a:xfrm>
            <a:off x="6274118" y="1304449"/>
            <a:ext cx="5155882" cy="2581751"/>
            <a:chOff x="6274118" y="1304449"/>
            <a:chExt cx="5155882" cy="2581751"/>
          </a:xfrm>
        </p:grpSpPr>
        <p:sp>
          <p:nvSpPr>
            <p:cNvPr id="26" name="TextBox 26"/>
            <p:cNvSpPr txBox="1"/>
            <p:nvPr/>
          </p:nvSpPr>
          <p:spPr>
            <a:xfrm>
              <a:off x="6274118" y="130444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FUTURE WORK · 后续工作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286500" y="1676400"/>
              <a:ext cx="5143500" cy="2209800"/>
              <a:chOff x="6286500" y="1676400"/>
              <a:chExt cx="5143500" cy="2209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676400"/>
                <a:ext cx="5143500" cy="22098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2B8AB8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501765" y="1829752"/>
                <a:ext cx="2545080" cy="961073"/>
                <a:chOff x="6501765" y="1829752"/>
                <a:chExt cx="2545080" cy="961073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6501765" y="1829752"/>
                  <a:ext cx="145274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A · 知识理解链路强化</a:t>
                  </a:r>
                  <a:endParaRPr lang="zh-CN" sz="105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503670" y="2055495"/>
                  <a:ext cx="168506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向量字段与文本字段</a:t>
                  </a:r>
                  <a:r>
                    <a:rPr lang="zh-CN" sz="9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分开存储</a:t>
                  </a:r>
                  <a:endParaRPr lang="zh-CN" sz="9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503670" y="2226945"/>
                  <a:ext cx="254317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英文增强只影响向量近邻，避免污染 BM25 词频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503670" y="2436495"/>
                  <a:ext cx="196110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引入</a:t>
                  </a:r>
                  <a:r>
                    <a:rPr lang="zh-CN" sz="9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关系类型 / 属性 / 置信度加权</a:t>
                  </a:r>
                  <a:endParaRPr lang="zh-CN" sz="900" b="1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503670" y="2607945"/>
                  <a:ext cx="218313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到实体对齐模型，获得更可控的结构增强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501765" y="2855912"/>
                <a:ext cx="2665095" cy="893763"/>
                <a:chOff x="6501765" y="2855912"/>
                <a:chExt cx="2665095" cy="893763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6501765" y="2855912"/>
                  <a:ext cx="130573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2B8AB8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B · 系统级闭环验证</a:t>
                  </a:r>
                  <a:endParaRPr lang="zh-CN" sz="105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503670" y="3140710"/>
                  <a:ext cx="1757077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KG-RAG 与</a:t>
                  </a:r>
                  <a:r>
                    <a:rPr lang="zh-CN" sz="9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大模型问答模块</a:t>
                  </a:r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联合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503670" y="3337560"/>
                  <a:ext cx="244116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· 定义</a:t>
                  </a:r>
                  <a:r>
                    <a:rPr lang="zh-CN" sz="900" b="1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回答正确性 / 引用忠实性 / 幻觉率</a:t>
                  </a:r>
                  <a:r>
                    <a: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指标</a:t>
                  </a:r>
                  <a:endParaRPr lang="zh-CN" sz="900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503670" y="3566795"/>
                  <a:ext cx="2663190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6B7280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在真实业务图谱上检验对齐模型与支撑层迁移效果</a:t>
                  </a:r>
                  <a:endParaRPr lang="zh-CN" sz="900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</p:grpSp>
        </p:grpSp>
      </p:grpSp>
      <p:grpSp>
        <p:nvGrpSpPr>
          <p:cNvPr id="70" name="Group 70"/>
          <p:cNvGrpSpPr/>
          <p:nvPr/>
        </p:nvGrpSpPr>
        <p:grpSpPr>
          <a:xfrm>
            <a:off x="749618" y="4066699"/>
            <a:ext cx="10680382" cy="2238851"/>
            <a:chOff x="749618" y="4066699"/>
            <a:chExt cx="10680382" cy="2238851"/>
          </a:xfrm>
        </p:grpSpPr>
        <p:sp>
          <p:nvSpPr>
            <p:cNvPr id="41" name="TextBox 41"/>
            <p:cNvSpPr txBox="1"/>
            <p:nvPr/>
          </p:nvSpPr>
          <p:spPr>
            <a:xfrm>
              <a:off x="749618" y="4066699"/>
              <a:ext cx="2222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TOWARD APPLICATION · 落地推进方向</a:t>
              </a:r>
              <a:endParaRPr lang="zh-CN" sz="975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762000" y="4400550"/>
              <a:ext cx="10668000" cy="1905000"/>
              <a:chOff x="762000" y="4400550"/>
              <a:chExt cx="10668000" cy="1905000"/>
            </a:xfrm>
          </p:grpSpPr>
          <p:grpSp>
            <p:nvGrpSpPr>
              <p:cNvPr id="50" name="Group 50"/>
              <p:cNvGrpSpPr/>
              <p:nvPr/>
            </p:nvGrpSpPr>
            <p:grpSpPr>
              <a:xfrm>
                <a:off x="762000" y="4400550"/>
                <a:ext cx="3409950" cy="1905000"/>
                <a:chOff x="762000" y="4400550"/>
                <a:chExt cx="3409950" cy="1905000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762000" y="4400550"/>
                  <a:ext cx="3409950" cy="1905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43" name="Rectangle 43"/>
                <p:cNvSpPr/>
                <p:nvPr/>
              </p:nvSpPr>
              <p:spPr>
                <a:xfrm>
                  <a:off x="762000" y="4400550"/>
                  <a:ext cx="3409950" cy="381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01065" y="4534852"/>
                  <a:ext cx="90878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面向行业落地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49" name="Group 49"/>
                <p:cNvGrpSpPr/>
                <p:nvPr/>
              </p:nvGrpSpPr>
              <p:grpSpPr>
                <a:xfrm>
                  <a:off x="901065" y="4874895"/>
                  <a:ext cx="1446943" cy="1241425"/>
                  <a:chOff x="901065" y="4874895"/>
                  <a:chExt cx="1446943" cy="1241425"/>
                </a:xfrm>
              </p:grpSpPr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902970" y="4874895"/>
                    <a:ext cx="132502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接入真实业务知识图谱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902970" y="5252720"/>
                    <a:ext cx="120500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验证特殊领域稳定性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902970" y="5595620"/>
                    <a:ext cx="144503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建立离线审计与回退机制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901065" y="5933440"/>
                    <a:ext cx="108499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与多模态来源集成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grpSp>
            <p:nvGrpSpPr>
              <p:cNvPr id="59" name="Group 59"/>
              <p:cNvGrpSpPr/>
              <p:nvPr/>
            </p:nvGrpSpPr>
            <p:grpSpPr>
              <a:xfrm>
                <a:off x="4381500" y="4400550"/>
                <a:ext cx="3409950" cy="1905000"/>
                <a:chOff x="4381500" y="4400550"/>
                <a:chExt cx="3409950" cy="1905000"/>
              </a:xfrm>
            </p:grpSpPr>
            <p:sp>
              <p:nvSpPr>
                <p:cNvPr id="51" name="Rectangle 51"/>
                <p:cNvSpPr/>
                <p:nvPr/>
              </p:nvSpPr>
              <p:spPr>
                <a:xfrm>
                  <a:off x="4381500" y="4400550"/>
                  <a:ext cx="3409950" cy="1905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52" name="Rectangle 52"/>
                <p:cNvSpPr/>
                <p:nvPr/>
              </p:nvSpPr>
              <p:spPr>
                <a:xfrm>
                  <a:off x="4381500" y="4400550"/>
                  <a:ext cx="3409950" cy="381000"/>
                </a:xfrm>
                <a:prstGeom prst="rect">
                  <a:avLst/>
                </a:prstGeom>
                <a:solidFill>
                  <a:srgbClr val="1A365D"/>
                </a:solidFill>
                <a:ln>
                  <a:noFill/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520565" y="4534852"/>
                  <a:ext cx="90878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面向算法推进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58" name="Group 58"/>
                <p:cNvGrpSpPr/>
                <p:nvPr/>
              </p:nvGrpSpPr>
              <p:grpSpPr>
                <a:xfrm>
                  <a:off x="4520565" y="4874895"/>
                  <a:ext cx="1806988" cy="1241425"/>
                  <a:chOff x="4520565" y="4874895"/>
                  <a:chExt cx="1806988" cy="1241425"/>
                </a:xfrm>
              </p:grpSpPr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4522470" y="4874895"/>
                    <a:ext cx="156505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自适应重排无标注信号近似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4522470" y="5252720"/>
                    <a:ext cx="180508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关系感知的图增强（异质邻域）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6" name="TextBox 56"/>
                  <p:cNvSpPr txBox="1"/>
                  <p:nvPr/>
                </p:nvSpPr>
                <p:spPr>
                  <a:xfrm>
                    <a:off x="4520565" y="5595620"/>
                    <a:ext cx="156505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跨语言增益的条件依赖建模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4522470" y="5933440"/>
                    <a:ext cx="1703070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长尾别名 / 低频实体的稳健性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  <p:grpSp>
            <p:nvGrpSpPr>
              <p:cNvPr id="68" name="Group 68"/>
              <p:cNvGrpSpPr/>
              <p:nvPr/>
            </p:nvGrpSpPr>
            <p:grpSpPr>
              <a:xfrm>
                <a:off x="8001000" y="4400550"/>
                <a:ext cx="3429000" cy="1905000"/>
                <a:chOff x="8001000" y="4400550"/>
                <a:chExt cx="3429000" cy="1905000"/>
              </a:xfrm>
            </p:grpSpPr>
            <p:sp>
              <p:nvSpPr>
                <p:cNvPr id="60" name="Rectangle 60"/>
                <p:cNvSpPr/>
                <p:nvPr/>
              </p:nvSpPr>
              <p:spPr>
                <a:xfrm>
                  <a:off x="8001000" y="4400550"/>
                  <a:ext cx="3429000" cy="1905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E5E7EB"/>
                  </a:solidFill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8001000" y="4400550"/>
                  <a:ext cx="3429000" cy="381000"/>
                </a:xfrm>
                <a:prstGeom prst="rect">
                  <a:avLst/>
                </a:prstGeom>
                <a:solidFill>
                  <a:srgbClr val="0E9B92"/>
                </a:solidFill>
                <a:ln>
                  <a:noFill/>
                </a:ln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8140065" y="4534852"/>
                  <a:ext cx="90878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FFFFFF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rPr>
                    <a:t>面向工程优化</a:t>
                  </a:r>
                  <a:endParaRPr lang="zh-CN" sz="10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endParaRPr>
                </a:p>
              </p:txBody>
            </p:sp>
            <p:grpSp>
              <p:nvGrpSpPr>
                <p:cNvPr id="67" name="Group 67"/>
                <p:cNvGrpSpPr/>
                <p:nvPr/>
              </p:nvGrpSpPr>
              <p:grpSpPr>
                <a:xfrm>
                  <a:off x="8141970" y="4874895"/>
                  <a:ext cx="1565053" cy="1241425"/>
                  <a:chOff x="8141970" y="4874895"/>
                  <a:chExt cx="1565053" cy="1241425"/>
                </a:xfrm>
              </p:grpSpPr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8141970" y="4874895"/>
                    <a:ext cx="1199007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GPU 训练加速与蒸馏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8141970" y="5252720"/>
                    <a:ext cx="144503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索引增量更新与冷热分层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8141970" y="5595620"/>
                    <a:ext cx="1445038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接口缓存策略与回退路径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8141970" y="5933440"/>
                    <a:ext cx="1565053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1F2937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rPr>
                      <a:t>· 检索时延与召回深度的权衡</a:t>
                    </a:r>
                    <a:endParaRPr lang="zh-CN" sz="900" dirty="0">
                      <a:solidFill>
                        <a:srgbClr val="1F2937"/>
                      </a:solidFill>
                      <a:latin typeface="Segoe UI" panose="020B0502040204020203"/>
                      <a:ea typeface="微软雅黑" panose="020B0503020204020204" charset="-122"/>
                      <a:cs typeface="Segoe UI" panose="020B0502040204020203"/>
                    </a:endParaRPr>
                  </a:p>
                </p:txBody>
              </p:sp>
            </p:grpSp>
          </p:grpSp>
        </p:grpSp>
      </p:grpSp>
      <p:sp>
        <p:nvSpPr>
          <p:cNvPr id="71" name="TextBox 71"/>
          <p:cNvSpPr txBox="1"/>
          <p:nvPr/>
        </p:nvSpPr>
        <p:spPr>
          <a:xfrm>
            <a:off x="11306492" y="648319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25" grpId="0"/>
      <p:bldP spid="40" grpId="0"/>
      <p:bldP spid="70" grpId="0"/>
      <p:bldP spid="7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30" y="1377950"/>
            <a:ext cx="5499100" cy="4102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735330" y="379095"/>
            <a:ext cx="1208246" cy="640080"/>
            <a:chOff x="735330" y="379095"/>
            <a:chExt cx="1208246" cy="640080"/>
          </a:xfrm>
        </p:grpSpPr>
        <p:sp>
          <p:nvSpPr>
            <p:cNvPr id="5" name="TextBox 3"/>
            <p:cNvSpPr txBox="1"/>
            <p:nvPr/>
          </p:nvSpPr>
          <p:spPr>
            <a:xfrm>
              <a:off x="750570" y="379095"/>
              <a:ext cx="1193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06 · 结论与展望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735330" y="611505"/>
              <a:ext cx="5334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展望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1725930"/>
            <a:ext cx="4567555" cy="3406775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4" idx="3"/>
            <a:endCxn id="10" idx="1"/>
          </p:cNvCxnSpPr>
          <p:nvPr/>
        </p:nvCxnSpPr>
        <p:spPr>
          <a:xfrm>
            <a:off x="6234430" y="3429000"/>
            <a:ext cx="66167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7"/>
          <p:cNvSpPr txBox="1"/>
          <p:nvPr/>
        </p:nvSpPr>
        <p:spPr>
          <a:xfrm>
            <a:off x="762000" y="5631815"/>
            <a:ext cx="4711700" cy="1038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如今的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LLM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落地实践依旧以传统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RAG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多路检索为标准范式进行衍生，主要基于以下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原因：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1.单独的图存储条件适配成本高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2.需要专业人员做知识标注，或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建立可信关系生成器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3.落地过程缺乏对大模型和业务的双重理解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4实际使用的知识大多是内部静态沉淀，不太需要动态外部补充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——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文本+向量对齐后已经够用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37"/>
          <p:cNvSpPr txBox="1"/>
          <p:nvPr/>
        </p:nvSpPr>
        <p:spPr>
          <a:xfrm>
            <a:off x="6896100" y="5631815"/>
            <a:ext cx="5078095" cy="1038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图结构在垂域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未来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落地方面展现出极好的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潜力：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 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跨域实体的连接创造了更多的业务信息用于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决策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 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增量知识更容易扩展且不容易丢失已有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联系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 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进一步扩展到空间来看，可构建槽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-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值对的方式横跨多个概念进行检索，大大提升知识的泛化和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连接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4. 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图结构天然适配问答场景中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多跳拆解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问题</a:t>
            </a:r>
            <a:r>
              <a:rPr lang="en-US" altLang="zh-CN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、记录解答过程、记忆管理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等，不仅仅是实体</a:t>
            </a:r>
            <a:r>
              <a:rPr lang="zh-CN" altLang="en-US" sz="900" dirty="0">
                <a:solidFill>
                  <a:srgbClr val="6B728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检索</a:t>
            </a:r>
            <a:endParaRPr lang="zh-CN" altLang="en-US" sz="900" dirty="0">
              <a:solidFill>
                <a:srgbClr val="6B728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4" name="Group 12"/>
          <p:cNvGrpSpPr/>
          <p:nvPr/>
        </p:nvGrpSpPr>
        <p:grpSpPr>
          <a:xfrm>
            <a:off x="5949950" y="351155"/>
            <a:ext cx="5514341" cy="810895"/>
            <a:chOff x="4454048" y="351155"/>
            <a:chExt cx="7110573" cy="810895"/>
          </a:xfrm>
        </p:grpSpPr>
        <p:sp>
          <p:nvSpPr>
            <p:cNvPr id="15" name="Rectangle 8"/>
            <p:cNvSpPr/>
            <p:nvPr/>
          </p:nvSpPr>
          <p:spPr>
            <a:xfrm>
              <a:off x="4454048" y="351155"/>
              <a:ext cx="7110571" cy="810895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7" name="TextBox 10"/>
            <p:cNvSpPr txBox="1"/>
            <p:nvPr/>
          </p:nvSpPr>
          <p:spPr>
            <a:xfrm>
              <a:off x="4546575" y="445135"/>
              <a:ext cx="7018046" cy="6229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>
                <a:lnSpc>
                  <a:spcPct val="15000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人之所以智慧，是因为有潜意识、会迁移学习，是我们称为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“</a:t>
              </a:r>
              <a:r>
                <a:rPr lang="zh-CN" altLang="en-US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经验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”</a:t>
              </a:r>
              <a:r>
                <a:rPr lang="zh-CN" altLang="en-US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的东西在加速迭代，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KG-RAG</a:t>
              </a:r>
              <a:r>
                <a:rPr lang="zh-CN" altLang="en-US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则是面向</a:t>
              </a:r>
              <a:r>
                <a:rPr lang="en-US" alt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LLM</a:t>
              </a:r>
              <a:r>
                <a:rPr lang="zh-CN" altLang="en-US" sz="1350" b="1" dirty="0">
                  <a:solidFill>
                    <a:srgbClr val="92D05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显化知识潜意识</a:t>
              </a:r>
              <a:r>
                <a:rPr lang="zh-CN" altLang="en-US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的有效</a:t>
              </a:r>
              <a:r>
                <a:rPr lang="zh-CN" altLang="en-US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手段</a:t>
              </a:r>
              <a:endParaRPr lang="zh-CN" altLang="en-US" sz="135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cxnSp>
        <p:nvCxnSpPr>
          <p:cNvPr id="19" name="直接箭头连接符 18"/>
          <p:cNvCxnSpPr>
            <a:stCxn id="37" idx="3"/>
          </p:cNvCxnSpPr>
          <p:nvPr/>
        </p:nvCxnSpPr>
        <p:spPr>
          <a:xfrm>
            <a:off x="5473700" y="6151245"/>
            <a:ext cx="1320165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50"/>
          <p:cNvSpPr txBox="1"/>
          <p:nvPr/>
        </p:nvSpPr>
        <p:spPr>
          <a:xfrm>
            <a:off x="11726227" y="6638131"/>
            <a:ext cx="324485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10" y="4573270"/>
            <a:ext cx="381000" cy="31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/>
      <p:bldP spid="14" grpId="0"/>
      <p:bldP spid="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735330" y="379095"/>
            <a:ext cx="1208246" cy="659130"/>
            <a:chOff x="735330" y="379095"/>
            <a:chExt cx="1208246" cy="659130"/>
          </a:xfrm>
        </p:grpSpPr>
        <p:sp>
          <p:nvSpPr>
            <p:cNvPr id="3" name="TextBox 3"/>
            <p:cNvSpPr txBox="1"/>
            <p:nvPr/>
          </p:nvSpPr>
          <p:spPr>
            <a:xfrm>
              <a:off x="750570" y="379095"/>
              <a:ext cx="1193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PART 06 · 结论与展望</a:t>
              </a:r>
              <a:endParaRPr lang="zh-CN" sz="900" dirty="0">
                <a:solidFill>
                  <a:srgbClr val="2B8A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35330" y="611505"/>
              <a:ext cx="64141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致谢</a:t>
              </a:r>
              <a:endParaRPr lang="zh-CN" sz="2100" b="1" dirty="0">
                <a:solidFill>
                  <a:srgbClr val="1A365D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96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0325481" y="485299"/>
            <a:ext cx="11169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Acknowledgments</a:t>
            </a:r>
            <a:endParaRPr lang="zh-CN" sz="97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27710" y="1418749"/>
            <a:ext cx="4227100" cy="1391126"/>
            <a:chOff x="727710" y="1418749"/>
            <a:chExt cx="4227100" cy="1391126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14187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EPIGRAPH</a:t>
              </a:r>
              <a:endParaRPr lang="zh-CN" sz="975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27710" y="1765935"/>
              <a:ext cx="42271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坐在春天里思索了很久，</a:t>
              </a:r>
              <a:endParaRPr lang="zh-CN" sz="2700" b="1" dirty="0">
                <a:solidFill>
                  <a:srgbClr val="1A365D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7710" y="220408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365D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才发现已经是春天了。</a:t>
              </a:r>
              <a:endParaRPr lang="zh-CN" sz="2700" b="1" dirty="0">
                <a:solidFill>
                  <a:srgbClr val="1A365D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28003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762000" y="3276600"/>
            <a:ext cx="10668000" cy="2667000"/>
            <a:chOff x="762000" y="3276600"/>
            <a:chExt cx="10668000" cy="2667000"/>
          </a:xfrm>
        </p:grpSpPr>
        <p:grpSp>
          <p:nvGrpSpPr>
            <p:cNvPr id="24" name="Group 24"/>
            <p:cNvGrpSpPr/>
            <p:nvPr/>
          </p:nvGrpSpPr>
          <p:grpSpPr>
            <a:xfrm>
              <a:off x="762000" y="3276600"/>
              <a:ext cx="3429000" cy="2667000"/>
              <a:chOff x="762000" y="3276600"/>
              <a:chExt cx="3429000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3276600"/>
                <a:ext cx="3429000" cy="26670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3276600"/>
                <a:ext cx="38100" cy="2667000"/>
              </a:xfrm>
              <a:prstGeom prst="rect">
                <a:avLst/>
              </a:prstGeom>
              <a:solidFill>
                <a:srgbClr val="2B8AB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77265" y="3487102"/>
                <a:ext cx="10999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8A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致 真心待我的人</a:t>
                </a:r>
                <a:endParaRPr lang="zh-CN" sz="1050" b="1" dirty="0">
                  <a:solidFill>
                    <a:srgbClr val="2B8A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78218" y="38761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家人、师长、朋友、同学，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8218" y="40857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以及素不相识却送来温暖的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8218" y="42952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陌生人。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78218" y="46572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许多个冷夜里，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78218" y="48667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是你们陪伴左右、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8218" y="50763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送来关心、鼓励，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78218" y="52858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相信我、将我托举。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79170" y="5598795"/>
                <a:ext cx="202819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"我心</a:t>
                </a:r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永远炽热，一如你们期盼的那样。"</a:t>
                </a:r>
                <a:endParaRPr lang="zh-CN" sz="900" i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381500" y="3276600"/>
              <a:ext cx="3429000" cy="2667000"/>
              <a:chOff x="4381500" y="3276600"/>
              <a:chExt cx="3429000" cy="2667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81500" y="3276600"/>
                <a:ext cx="3429000" cy="2667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E9B92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381500" y="3276600"/>
                <a:ext cx="38100" cy="2667000"/>
              </a:xfrm>
              <a:prstGeom prst="rect">
                <a:avLst/>
              </a:prstGeom>
              <a:solidFill>
                <a:srgbClr val="0E9B9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596765" y="3487102"/>
                <a:ext cx="9528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致 孔婉秋老师</a:t>
                </a:r>
                <a:endParaRPr lang="zh-CN" sz="1050" b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97718" y="38761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感谢您带我步入大模型的世界，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97718" y="40857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给予广泛尝试的机会，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97718" y="42952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让我培养兴趣，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97718" y="45048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学会独立思考与动手实践。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597718" y="488584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毕业设计中遇到的许多问题，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97718" y="50953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都在您的建议下逐步解决。</a:t>
                </a:r>
                <a:endParaRPr lang="zh-CN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98670" y="5465445"/>
                <a:ext cx="11690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"严谨负责的治学态度</a:t>
                </a:r>
                <a:endParaRPr lang="zh-CN" sz="900" i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98670" y="5636895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使我受益良多。"</a:t>
                </a:r>
                <a:endParaRPr lang="zh-CN" sz="900" i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001000" y="3276600"/>
              <a:ext cx="3429000" cy="2667000"/>
              <a:chOff x="8001000" y="3276600"/>
              <a:chExt cx="3429000" cy="2667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001000" y="3276600"/>
                <a:ext cx="3429000" cy="2667000"/>
              </a:xfrm>
              <a:prstGeom prst="rect">
                <a:avLst/>
              </a:prstGeom>
              <a:solidFill>
                <a:srgbClr val="F8FAFC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01000" y="3276600"/>
                <a:ext cx="38100" cy="2667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216265" y="3487102"/>
                <a:ext cx="12469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致 那个坚韧的自己</a:t>
                </a:r>
                <a:endParaRPr lang="zh-CN" sz="1050" b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17218" y="38761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面对困难与机会，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15948" y="4042569"/>
                <a:ext cx="1031240" cy="450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一次次努力争取，</a:t>
                </a:r>
                <a:endParaRPr 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勇气是人类的赞歌</a:t>
                </a:r>
                <a:r>
                  <a:rPr lang="en-US" altLang="zh-CN" sz="975" dirty="0">
                    <a:solidFill>
                      <a:srgbClr val="1F2937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!</a:t>
                </a:r>
                <a:endParaRPr lang="en-US" altLang="zh-CN" sz="975" dirty="0">
                  <a:solidFill>
                    <a:srgbClr val="1F293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13408" y="4668044"/>
                <a:ext cx="1120140" cy="450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用无数个夜的</a:t>
                </a:r>
                <a:r>
                  <a:rPr lang="zh-CN" altLang="en-US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沉默，</a:t>
                </a:r>
                <a:endParaRPr lang="zh-CN" altLang="en-US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祭奠年少的</a:t>
                </a:r>
                <a:r>
                  <a:rPr lang="zh-CN" altLang="en-US" sz="975" dirty="0">
                    <a:solidFill>
                      <a:srgbClr val="6B728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我。</a:t>
                </a:r>
                <a:endParaRPr lang="zh-CN" altLang="en-US" sz="975" dirty="0">
                  <a:solidFill>
                    <a:srgbClr val="6B728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18170" y="5313045"/>
                <a:ext cx="17690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"成为一株向着自由的风滚草吧，</a:t>
                </a:r>
                <a:endParaRPr lang="zh-CN" sz="900" i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18170" y="5484495"/>
                <a:ext cx="12890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1A365D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保持温度，铮铮昂扬。"</a:t>
                </a:r>
                <a:endParaRPr lang="zh-CN" sz="900" i="1" dirty="0">
                  <a:solidFill>
                    <a:srgbClr val="1A365D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18170" y="571309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i="1" dirty="0">
                    <a:solidFill>
                      <a:srgbClr val="0E9B92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— 奔流，入海吧。</a:t>
                </a:r>
                <a:endParaRPr lang="zh-CN" sz="900" i="1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1335067" y="6483191"/>
            <a:ext cx="29591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6" grpId="0"/>
      <p:bldP spid="7" grpId="0"/>
      <p:bldP spid="12" grpId="0"/>
      <p:bldP spid="49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E9B9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114425" y="923925"/>
            <a:ext cx="9963150" cy="5010150"/>
            <a:chOff x="1114425" y="923925"/>
            <a:chExt cx="9963150" cy="5010150"/>
          </a:xfrm>
        </p:grpSpPr>
        <p:sp>
          <p:nvSpPr>
            <p:cNvPr id="5" name="Ellipse 5"/>
            <p:cNvSpPr/>
            <p:nvPr/>
          </p:nvSpPr>
          <p:spPr>
            <a:xfrm>
              <a:off x="1114425" y="923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495425" y="923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876425" y="923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258425" y="5876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639425" y="5876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020425" y="5876925"/>
              <a:ext cx="57150" cy="571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827085" y="2324100"/>
            <a:ext cx="8537829" cy="2740660"/>
            <a:chOff x="1827085" y="2324100"/>
            <a:chExt cx="8537829" cy="2740660"/>
          </a:xfrm>
        </p:grpSpPr>
        <p:sp>
          <p:nvSpPr>
            <p:cNvPr id="12" name="TextBox 12"/>
            <p:cNvSpPr txBox="1"/>
            <p:nvPr/>
          </p:nvSpPr>
          <p:spPr>
            <a:xfrm>
              <a:off x="5375577" y="2363152"/>
              <a:ext cx="14408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E9B92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END OF PRESENTATION</a:t>
              </a:r>
              <a:endParaRPr lang="zh-CN" sz="1050" dirty="0">
                <a:solidFill>
                  <a:srgbClr val="0E9B92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27085" y="2324100"/>
              <a:ext cx="8537829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Georgia" panose="02040502050405020303"/>
                  <a:ea typeface="宋体" panose="02010600030101010101" pitchFamily="2" charset="-122"/>
                  <a:cs typeface="Georgia" panose="02040502050405020303"/>
                </a:rPr>
                <a:t>THANK YOU</a:t>
              </a:r>
              <a:endParaRPr lang="zh-CN" sz="12000" b="1" dirty="0">
                <a:solidFill>
                  <a:srgbClr val="FFFFFF"/>
                </a:solidFill>
                <a:latin typeface="Georgia" panose="02040502050405020303"/>
                <a:ea typeface="宋体" panose="02010600030101010101" pitchFamily="2" charset="-122"/>
                <a:cs typeface="Georgia" panose="02040502050405020303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5310" y="393192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>
                      <a:alphaMod val="95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敬请各位老师批评指正</a:t>
              </a:r>
              <a:endParaRPr lang="zh-CN" sz="2400" b="1" dirty="0">
                <a:solidFill>
                  <a:srgbClr val="FFFFFF">
                    <a:alphaMod val="95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0" y="4572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rgbClr val="0E9B9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3230" y="4880610"/>
              <a:ext cx="11455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Q &amp; A · 欢迎提问</a:t>
              </a:r>
              <a:endParaRPr lang="zh-CN" sz="1200" dirty="0">
                <a:solidFill>
                  <a:srgbClr val="FFFFFF">
                    <a:alphaMod val="70000"/>
                  </a:srgbClr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596052" y="6384131"/>
            <a:ext cx="29591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r"/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r>
              <a:rPr 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/ 2</a:t>
            </a:r>
            <a:r>
              <a:rPr lang="en-US" altLang="zh-CN" sz="825" dirty="0">
                <a:solidFill>
                  <a:srgbClr val="9CA3A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lang="en-US" altLang="zh-CN" sz="825" dirty="0">
              <a:solidFill>
                <a:srgbClr val="9CA3A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4" grpId="0"/>
      <p:bldP spid="11" grpId="0"/>
      <p:bldP spid="17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10833</Words>
  <Application>WPS 演示</Application>
  <PresentationFormat>宽屏</PresentationFormat>
  <Paragraphs>1754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Arial</vt:lpstr>
      <vt:lpstr>Segoe UI</vt:lpstr>
      <vt:lpstr>微软雅黑</vt:lpstr>
      <vt:lpstr>Georgia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alive</cp:lastModifiedBy>
  <cp:revision>56</cp:revision>
  <dcterms:created xsi:type="dcterms:W3CDTF">2013-01-27T09:14:00Z</dcterms:created>
  <dcterms:modified xsi:type="dcterms:W3CDTF">2026-05-26T09:46:15Z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87E188A1EF8541B2A0F106B789C11E47_12</vt:lpwstr>
  </property>
  <property fmtid="{D5CDD505-2E9C-101B-9397-08002B2CF9AE}" pid="3" name="KSOProductBuildVer">
    <vt:lpwstr>2052-12.8.2.17838</vt:lpwstr>
  </property>
</Properties>
</file>