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405872" y="0"/>
            <a:ext cx="1783080" cy="6858000"/>
          </a:xfrm>
          <a:prstGeom prst="rect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55480" y="502920"/>
            <a:ext cx="1554480" cy="155448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4956048"/>
            <a:ext cx="1874519" cy="1874519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384048" cy="91440"/>
          </a:xfrm>
          <a:prstGeom prst="rect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41248"/>
            <a:ext cx="310896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CAE34"/>
                </a:solidFill>
                <a:latin typeface="Bahnschrift"/>
              </a:rPr>
              <a:t>本科毕业设计中期答辩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8823960" cy="1508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融合内外部数据的知识百科构建与检索增强生成系统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43200"/>
            <a:ext cx="55778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7F5EF"/>
                </a:solidFill>
                <a:latin typeface="Microsoft YaHei"/>
              </a:rPr>
              <a:t>离线知识库 / 军事 NER / 实体链接 / 跨语言对齐 / Graph+RAG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401568"/>
            <a:ext cx="1234440" cy="365760"/>
          </a:xfrm>
          <a:prstGeom prst="round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3419856"/>
            <a:ext cx="114300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OFFLINE KG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2808" y="3401568"/>
            <a:ext cx="1600200" cy="365760"/>
          </a:xfrm>
          <a:prstGeom prst="roundRect">
            <a:avLst/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3419856"/>
            <a:ext cx="1508760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ENTITY LINKING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3401568"/>
            <a:ext cx="1207008" cy="365760"/>
          </a:xfrm>
          <a:prstGeom prst="round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3419856"/>
            <a:ext cx="1115568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ALIGNMENT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2896" y="3401568"/>
            <a:ext cx="1298448" cy="365760"/>
          </a:xfrm>
          <a:prstGeom prst="roundRect">
            <a:avLst/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8616" y="3419856"/>
            <a:ext cx="1207008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GRAPH+RAG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09160"/>
            <a:ext cx="434340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983480"/>
            <a:ext cx="3840480" cy="7132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0B1F3A"/>
                </a:solidFill>
                <a:latin typeface="Microsoft YaHei"/>
              </a:rPr>
              <a:t>答辩人：王越洋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0B1F3A"/>
                </a:solidFill>
                <a:latin typeface="Microsoft YaHei"/>
              </a:rPr>
              <a:t>学号：22009200894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0B1F3A"/>
                </a:solidFill>
                <a:latin typeface="Microsoft YaHei"/>
              </a:rPr>
              <a:t>专业：计算机科学与技术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5925312"/>
            <a:ext cx="192024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Bahnschrift"/>
              </a:rPr>
              <a:t>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10896" cy="100584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64592"/>
            <a:ext cx="1143000" cy="114300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" y="5349240"/>
            <a:ext cx="1463040" cy="1463040"/>
          </a:xfrm>
          <a:prstGeom prst="ellipse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064240" cy="27432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MIDTERM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89611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研究背景与中期目标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950976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A747F"/>
                </a:solidFill>
                <a:latin typeface="Microsoft YaHei"/>
              </a:rPr>
              <a:t>先建立可用的知识底座，再逐步走向可解释的问答系统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475488"/>
            <a:ext cx="658368" cy="3840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493776"/>
            <a:ext cx="56692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2926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47088"/>
            <a:ext cx="25603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问题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21408"/>
            <a:ext cx="25603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12B36"/>
                </a:solidFill>
                <a:latin typeface="Microsoft YaHei"/>
              </a:rPr>
              <a:t>组织内部知识与外部开放知识分散，缺少统一实体层。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46120"/>
            <a:ext cx="2926080" cy="1325880"/>
          </a:xfrm>
          <a:prstGeom prst="roundRect">
            <a:avLst/>
          </a:prstGeom>
          <a:solidFill>
            <a:srgbClr val="E6EFF8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355848"/>
            <a:ext cx="25603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问题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630168"/>
            <a:ext cx="25603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12B36"/>
                </a:solidFill>
                <a:latin typeface="Microsoft YaHei"/>
              </a:rPr>
              <a:t>军事实体简称、别名、型号复杂，直接检索容易误配。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2926080" cy="1325880"/>
          </a:xfrm>
          <a:prstGeom prst="roundRect">
            <a:avLst/>
          </a:prstGeom>
          <a:solidFill>
            <a:srgbClr val="FAF0D7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864608"/>
            <a:ext cx="25603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问题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138928"/>
            <a:ext cx="25603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12B36"/>
                </a:solidFill>
                <a:latin typeface="Microsoft YaHei"/>
              </a:rPr>
              <a:t>传统文本检索难支撑可信、可追溯的智能问答。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1755648"/>
            <a:ext cx="36576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B1F3A"/>
                </a:solidFill>
                <a:latin typeface="Microsoft YaHei"/>
              </a:rPr>
              <a:t>中期阶段聚焦的 4 个目标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13632" y="2148840"/>
            <a:ext cx="402336" cy="402336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2167128"/>
            <a:ext cx="40233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2130552"/>
            <a:ext cx="4343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构建离线知识底座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2368296"/>
            <a:ext cx="434340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12B36"/>
                </a:solidFill>
                <a:latin typeface="Microsoft YaHei"/>
              </a:rPr>
              <a:t>完成多源采集、清洗、统一表示与本地化存储。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3632" y="2971800"/>
            <a:ext cx="402336" cy="402336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13632" y="2990088"/>
            <a:ext cx="40233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2953512"/>
            <a:ext cx="4343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建立稳定实体入口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3191256"/>
            <a:ext cx="434340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12B36"/>
                </a:solidFill>
                <a:latin typeface="Microsoft YaHei"/>
              </a:rPr>
              <a:t>通过领域 NER 可靠抽取问句和文档中的实体提及。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13632" y="3794760"/>
            <a:ext cx="402336" cy="402336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13632" y="3813048"/>
            <a:ext cx="40233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3776472"/>
            <a:ext cx="4343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实现高质量实体链接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4014216"/>
            <a:ext cx="434340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12B36"/>
                </a:solidFill>
                <a:latin typeface="Microsoft YaHei"/>
              </a:rPr>
              <a:t>在 ES、向量检索和 LLM 判别之间找到更合适的平衡。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13632" y="4617720"/>
            <a:ext cx="402336" cy="402336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13632" y="4636008"/>
            <a:ext cx="402336" cy="32918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4599432"/>
            <a:ext cx="43434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为 Graph+RAG 铺路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4837176"/>
            <a:ext cx="434340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12B36"/>
                </a:solidFill>
                <a:latin typeface="Microsoft YaHei"/>
              </a:rPr>
              <a:t>打通知识库、链接、对齐与生成模块的接口。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41080" y="1920240"/>
            <a:ext cx="2880360" cy="32461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87968" y="2212848"/>
            <a:ext cx="23591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ECAE34"/>
                </a:solidFill>
                <a:latin typeface="Microsoft YaHei"/>
              </a:rPr>
              <a:t>中期核心判断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7968" y="2651760"/>
            <a:ext cx="2359152" cy="1965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已经完成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知识库 -&gt; NER -&gt; 实体链接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这一条核心链路建设；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跨语言对齐与 Graph+RAG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进入方案确定和实验推进阶段。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10896" cy="100584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64592"/>
            <a:ext cx="1143000" cy="114300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" y="5349240"/>
            <a:ext cx="1463040" cy="1463040"/>
          </a:xfrm>
          <a:prstGeom prst="ellipse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064240" cy="27432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MIDTERM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89611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总体技术路线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950976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A747F"/>
                </a:solidFill>
                <a:latin typeface="Microsoft YaHei"/>
              </a:rPr>
              <a:t>围绕“先建库、再训练、后链接、再扩展”的思路推进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475488"/>
            <a:ext cx="658368" cy="3840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493776"/>
            <a:ext cx="56692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868680"/>
            <a:ext cx="932688" cy="310896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886968"/>
            <a:ext cx="84124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hnschrift"/>
              </a:rPr>
              <a:t>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868680"/>
            <a:ext cx="987552" cy="310896"/>
          </a:xfrm>
          <a:prstGeom prst="roundRect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886968"/>
            <a:ext cx="896112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1F3A"/>
                </a:solidFill>
                <a:latin typeface="Bahnschrift"/>
              </a:rPr>
              <a:t>DOING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81360" y="868680"/>
            <a:ext cx="804672" cy="310896"/>
          </a:xfrm>
          <a:prstGeom prst="roundRect">
            <a:avLst/>
          </a:prstGeom>
          <a:solidFill>
            <a:srgbClr val="C7C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27080" y="886968"/>
            <a:ext cx="713232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B1F3A"/>
                </a:solidFill>
                <a:latin typeface="Bahnschrift"/>
              </a:rPr>
              <a:t>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148840"/>
            <a:ext cx="1444752" cy="102412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40280"/>
            <a:ext cx="126187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多源采集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14600"/>
            <a:ext cx="1225296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F7F5EF"/>
                </a:solidFill>
                <a:latin typeface="Microsoft YaHei"/>
              </a:rPr>
              <a:t>Wikidata / Wikipedia</a:t>
            </a:r>
          </a:p>
        </p:txBody>
      </p:sp>
      <p:sp>
        <p:nvSpPr>
          <p:cNvPr id="20" name="Chevron 19"/>
          <p:cNvSpPr/>
          <p:nvPr/>
        </p:nvSpPr>
        <p:spPr>
          <a:xfrm>
            <a:off x="2066544" y="2441448"/>
            <a:ext cx="256032" cy="43891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50592" y="2148840"/>
            <a:ext cx="1444752" cy="102412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42032" y="2240280"/>
            <a:ext cx="126187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离线知识库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514600"/>
            <a:ext cx="1225296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F7F5EF"/>
                </a:solidFill>
                <a:latin typeface="Microsoft YaHei"/>
              </a:rPr>
              <a:t>ES 索引与字段设计</a:t>
            </a:r>
          </a:p>
        </p:txBody>
      </p:sp>
      <p:sp>
        <p:nvSpPr>
          <p:cNvPr id="24" name="Chevron 23"/>
          <p:cNvSpPr/>
          <p:nvPr/>
        </p:nvSpPr>
        <p:spPr>
          <a:xfrm>
            <a:off x="3950208" y="2441448"/>
            <a:ext cx="256032" cy="43891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34256" y="2148840"/>
            <a:ext cx="1444752" cy="102412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2240280"/>
            <a:ext cx="126187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军事 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2514600"/>
            <a:ext cx="1225296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F7F5EF"/>
                </a:solidFill>
                <a:latin typeface="Microsoft YaHei"/>
              </a:rPr>
              <a:t>30 类实体识别</a:t>
            </a:r>
          </a:p>
        </p:txBody>
      </p:sp>
      <p:sp>
        <p:nvSpPr>
          <p:cNvPr id="28" name="Chevron 27"/>
          <p:cNvSpPr/>
          <p:nvPr/>
        </p:nvSpPr>
        <p:spPr>
          <a:xfrm>
            <a:off x="5833872" y="2441448"/>
            <a:ext cx="256032" cy="43891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2148840"/>
            <a:ext cx="1444752" cy="102412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240280"/>
            <a:ext cx="126187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实体链接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514600"/>
            <a:ext cx="1225296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F7F5EF"/>
                </a:solidFill>
                <a:latin typeface="Microsoft YaHei"/>
              </a:rPr>
              <a:t>候选召回与消歧</a:t>
            </a:r>
          </a:p>
        </p:txBody>
      </p:sp>
      <p:sp>
        <p:nvSpPr>
          <p:cNvPr id="32" name="Chevron 31"/>
          <p:cNvSpPr/>
          <p:nvPr/>
        </p:nvSpPr>
        <p:spPr>
          <a:xfrm>
            <a:off x="7717536" y="2441448"/>
            <a:ext cx="256032" cy="43891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01583" y="2148840"/>
            <a:ext cx="1444752" cy="1024128"/>
          </a:xfrm>
          <a:prstGeom prst="roundRect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3" y="2240280"/>
            <a:ext cx="126187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跨语言对齐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1" y="2514600"/>
            <a:ext cx="1225296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F7F5EF"/>
                </a:solidFill>
                <a:latin typeface="Microsoft YaHei"/>
              </a:rPr>
              <a:t>LaBSE + GAT</a:t>
            </a:r>
          </a:p>
        </p:txBody>
      </p:sp>
      <p:sp>
        <p:nvSpPr>
          <p:cNvPr id="36" name="Chevron 35"/>
          <p:cNvSpPr/>
          <p:nvPr/>
        </p:nvSpPr>
        <p:spPr>
          <a:xfrm>
            <a:off x="9601199" y="2441448"/>
            <a:ext cx="256032" cy="43891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85248" y="2148840"/>
            <a:ext cx="1444752" cy="1024128"/>
          </a:xfrm>
          <a:prstGeom prst="roundRect">
            <a:avLst/>
          </a:prstGeom>
          <a:solidFill>
            <a:srgbClr val="C7C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240280"/>
            <a:ext cx="126187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Graph+RAG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4976" y="2514600"/>
            <a:ext cx="1225296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F7F5EF"/>
                </a:solidFill>
                <a:latin typeface="Microsoft YaHei"/>
              </a:rPr>
              <a:t>问答与溯源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3840480"/>
            <a:ext cx="32918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" y="396849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为什么先做知识底座？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" y="426110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专业领域系统更看重可解释、可维护和可扩展。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先做实体层和检索层，后续生成模块才有稳定依据。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43984" y="3840480"/>
            <a:ext cx="3291840" cy="1572768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08576" y="396849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当前已经形成什么能力？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8576" y="426110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约 2 万实体本地知识库 + 领域 NER + 多方案实体链接评测。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答辩时可以清楚说明主链路已经跑通。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3840480"/>
            <a:ext cx="3291840" cy="1572768"/>
          </a:xfrm>
          <a:prstGeom prst="roundRect">
            <a:avLst/>
          </a:prstGeom>
          <a:solidFill>
            <a:srgbClr val="FAF0D7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8" y="396849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后续如何闭环？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8" y="426110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把跨语言对齐接入实体扩展，再把图信息与文本检索联合送入 LLM。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最终目标是可溯源的 Graph+RAG 问答。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10896" cy="100584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64592"/>
            <a:ext cx="1143000" cy="114300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" y="5349240"/>
            <a:ext cx="1463040" cy="1463040"/>
          </a:xfrm>
          <a:prstGeom prst="ellipse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064240" cy="27432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MIDTERM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89611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离线知识库构建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950976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A747F"/>
                </a:solidFill>
                <a:latin typeface="Microsoft YaHei"/>
              </a:rPr>
              <a:t>数据来源、预处理流水线与当前索引质量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475488"/>
            <a:ext cx="658368" cy="3840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493776"/>
            <a:ext cx="56692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45920"/>
            <a:ext cx="251460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755648"/>
            <a:ext cx="222199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B1F3A"/>
                </a:solidFill>
                <a:latin typeface="Microsoft YaHei"/>
              </a:rPr>
              <a:t>Wikidata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29968"/>
            <a:ext cx="222199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918F"/>
                </a:solidFill>
                <a:latin typeface="Bahnschrift"/>
              </a:rPr>
              <a:t>20,000+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523744"/>
            <a:ext cx="222199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军事相关实体，提供 QID、标签、别名与属性。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645920"/>
            <a:ext cx="2514600" cy="1426464"/>
          </a:xfrm>
          <a:prstGeom prst="roundRect">
            <a:avLst/>
          </a:prstGeom>
          <a:solidFill>
            <a:srgbClr val="E6EFF8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8144" y="1755648"/>
            <a:ext cx="222199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B1F3A"/>
                </a:solidFill>
                <a:latin typeface="Microsoft YaHei"/>
              </a:rPr>
              <a:t>中文维基百科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029968"/>
            <a:ext cx="222199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918F"/>
                </a:solidFill>
                <a:latin typeface="Bahnschrift"/>
              </a:rPr>
              <a:t>2,828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8144" y="2523744"/>
            <a:ext cx="222199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补充中文描述、正文摘要与上下文信息。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16752" y="1645920"/>
            <a:ext cx="2514600" cy="1426464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1755648"/>
            <a:ext cx="222199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B1F3A"/>
                </a:solidFill>
                <a:latin typeface="Microsoft YaHei"/>
              </a:rPr>
              <a:t>英文维基百科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029968"/>
            <a:ext cx="222199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918F"/>
                </a:solidFill>
                <a:latin typeface="Bahnschrift"/>
              </a:rPr>
              <a:t>2,844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2523744"/>
            <a:ext cx="222199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为跨语言扩展和语义补充提供英文侧证据。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41664" y="1645920"/>
            <a:ext cx="2514600" cy="1426464"/>
          </a:xfrm>
          <a:prstGeom prst="roundRect">
            <a:avLst/>
          </a:prstGeom>
          <a:solidFill>
            <a:srgbClr val="FAF0D7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1755648"/>
            <a:ext cx="222199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B1F3A"/>
                </a:solidFill>
                <a:latin typeface="Microsoft YaHei"/>
              </a:rPr>
              <a:t>知识组织策略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2029968"/>
            <a:ext cx="222199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8918F"/>
                </a:solidFill>
                <a:latin typeface="Bahnschrift"/>
              </a:rPr>
              <a:t>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2523744"/>
            <a:ext cx="222199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单索引、多字段、向量预留，统一检索入口。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438144"/>
            <a:ext cx="6400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602736"/>
            <a:ext cx="2011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预处理流水线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169663"/>
            <a:ext cx="850392" cy="640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4288536"/>
            <a:ext cx="74066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SPARQL 采集</a:t>
            </a:r>
          </a:p>
        </p:txBody>
      </p:sp>
      <p:sp>
        <p:nvSpPr>
          <p:cNvPr id="31" name="Chevron 30"/>
          <p:cNvSpPr/>
          <p:nvPr/>
        </p:nvSpPr>
        <p:spPr>
          <a:xfrm>
            <a:off x="1719072" y="4261104"/>
            <a:ext cx="228600" cy="274320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28800" y="4169663"/>
            <a:ext cx="850392" cy="640080"/>
          </a:xfrm>
          <a:prstGeom prst="round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83664" y="4288536"/>
            <a:ext cx="74066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页面抓取</a:t>
            </a:r>
          </a:p>
        </p:txBody>
      </p:sp>
      <p:sp>
        <p:nvSpPr>
          <p:cNvPr id="34" name="Chevron 33"/>
          <p:cNvSpPr/>
          <p:nvPr/>
        </p:nvSpPr>
        <p:spPr>
          <a:xfrm>
            <a:off x="2724912" y="4261104"/>
            <a:ext cx="228600" cy="274320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834640" y="4169663"/>
            <a:ext cx="850392" cy="640080"/>
          </a:xfrm>
          <a:prstGeom prst="round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9504" y="4288536"/>
            <a:ext cx="74066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HTML 清洗</a:t>
            </a:r>
          </a:p>
        </p:txBody>
      </p:sp>
      <p:sp>
        <p:nvSpPr>
          <p:cNvPr id="37" name="Chevron 36"/>
          <p:cNvSpPr/>
          <p:nvPr/>
        </p:nvSpPr>
        <p:spPr>
          <a:xfrm>
            <a:off x="3730752" y="4261104"/>
            <a:ext cx="228600" cy="274320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40480" y="4169663"/>
            <a:ext cx="850392" cy="640080"/>
          </a:xfrm>
          <a:prstGeom prst="round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95344" y="4288536"/>
            <a:ext cx="74066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别名扩充</a:t>
            </a:r>
          </a:p>
        </p:txBody>
      </p:sp>
      <p:sp>
        <p:nvSpPr>
          <p:cNvPr id="40" name="Chevron 39"/>
          <p:cNvSpPr/>
          <p:nvPr/>
        </p:nvSpPr>
        <p:spPr>
          <a:xfrm>
            <a:off x="4736592" y="4261104"/>
            <a:ext cx="228600" cy="274320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46320" y="4169663"/>
            <a:ext cx="850392" cy="640080"/>
          </a:xfrm>
          <a:prstGeom prst="round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01184" y="4288536"/>
            <a:ext cx="74066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描述补全</a:t>
            </a:r>
          </a:p>
        </p:txBody>
      </p:sp>
      <p:sp>
        <p:nvSpPr>
          <p:cNvPr id="43" name="Chevron 42"/>
          <p:cNvSpPr/>
          <p:nvPr/>
        </p:nvSpPr>
        <p:spPr>
          <a:xfrm>
            <a:off x="5742432" y="4261104"/>
            <a:ext cx="228600" cy="274320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52160" y="4169663"/>
            <a:ext cx="850392" cy="6400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07024" y="4288536"/>
            <a:ext cx="740664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</a:rPr>
              <a:t>ES 入库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" y="4919472"/>
            <a:ext cx="585216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30" b="0">
                <a:solidFill>
                  <a:srgbClr val="212B36"/>
                </a:solidFill>
                <a:latin typeface="Microsoft YaHei"/>
              </a:rPr>
              <a:t>作用：把“原始页面”转成“可检索、可扩展、可解释”的实体文档。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52360" y="3529584"/>
            <a:ext cx="1874519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98664" y="3639312"/>
            <a:ext cx="1581911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STORAGE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98664" y="3877056"/>
            <a:ext cx="1581911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B1F3A"/>
                </a:solidFill>
                <a:latin typeface="Bahnschrift"/>
              </a:rPr>
              <a:t>2.5GB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98664" y="4242816"/>
            <a:ext cx="1581911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结构化知识库存储规模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28048" y="3529584"/>
            <a:ext cx="1874519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74352" y="3639312"/>
            <a:ext cx="1581911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DESC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74352" y="3877056"/>
            <a:ext cx="1581911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918F"/>
                </a:solidFill>
                <a:latin typeface="Bahnschrift"/>
              </a:rPr>
              <a:t>98.2%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74352" y="4242816"/>
            <a:ext cx="1581911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描述字段填充率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52360" y="4754880"/>
            <a:ext cx="1874519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98664" y="4864608"/>
            <a:ext cx="1581911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ALIASES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98664" y="5102352"/>
            <a:ext cx="1581911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918F"/>
                </a:solidFill>
                <a:latin typeface="Bahnschrift"/>
              </a:rPr>
              <a:t>95.7%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98664" y="5468112"/>
            <a:ext cx="1581911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别名字段填充率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28048" y="4754880"/>
            <a:ext cx="1874519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74352" y="4864608"/>
            <a:ext cx="1581911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LATENCY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74352" y="5102352"/>
            <a:ext cx="1581911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B1F3A"/>
                </a:solidFill>
                <a:latin typeface="Bahnschrift"/>
              </a:rPr>
              <a:t>&lt;100ms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74352" y="5468112"/>
            <a:ext cx="1581911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单次检索平均响应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10896" cy="100584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64592"/>
            <a:ext cx="1143000" cy="114300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" y="5349240"/>
            <a:ext cx="1463040" cy="1463040"/>
          </a:xfrm>
          <a:prstGeom prst="ellipse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064240" cy="27432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MIDTERM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89611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军事领域 NER：数据与实验结果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950976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A747F"/>
                </a:solidFill>
                <a:latin typeface="Microsoft YaHei"/>
              </a:rPr>
              <a:t>多源数据融合 + 渐进式解冻，形成稳定实体入口能力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475488"/>
            <a:ext cx="658368" cy="3840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493776"/>
            <a:ext cx="56692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09344"/>
            <a:ext cx="23774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训练数据组成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1901952"/>
          <a:ext cx="4498848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60120"/>
                <a:gridCol w="1527048"/>
              </a:tblGrid>
              <a:tr h="399288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数据源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条数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自有标注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3,123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军事文本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CCKS 军事 NER</a:t>
                      </a:r>
                    </a:p>
                  </a:txBody>
                  <a:tcPr>
                    <a:solidFill>
                      <a:srgbClr val="E6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1,600</a:t>
                      </a:r>
                    </a:p>
                  </a:txBody>
                  <a:tcPr>
                    <a:solidFill>
                      <a:srgbClr val="E6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公开领域数据</a:t>
                      </a:r>
                    </a:p>
                  </a:txBody>
                  <a:tcPr>
                    <a:solidFill>
                      <a:srgbClr val="E6EFF8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MSRA 通用 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50,707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通用实体补充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自定义补充</a:t>
                      </a:r>
                    </a:p>
                  </a:txBody>
                  <a:tcPr>
                    <a:solidFill>
                      <a:srgbClr val="E6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295</a:t>
                      </a:r>
                    </a:p>
                  </a:txBody>
                  <a:tcPr>
                    <a:solidFill>
                      <a:srgbClr val="E6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212B36"/>
                          </a:solidFill>
                          <a:latin typeface="Microsoft YaHei"/>
                        </a:rPr>
                        <a:t>长尾型号/事件</a:t>
                      </a:r>
                    </a:p>
                  </a:txBody>
                  <a:tcPr>
                    <a:solidFill>
                      <a:srgbClr val="E6EFF8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0B1F3A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>
                    <a:solidFill>
                      <a:srgbClr val="E0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0B1F3A"/>
                          </a:solidFill>
                          <a:latin typeface="Microsoft YaHei"/>
                        </a:rPr>
                        <a:t>51,338</a:t>
                      </a:r>
                    </a:p>
                  </a:txBody>
                  <a:tcPr>
                    <a:solidFill>
                      <a:srgbClr val="E0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0B1F3A"/>
                          </a:solidFill>
                          <a:latin typeface="Microsoft YaHei"/>
                        </a:rPr>
                        <a:t>30 类实体</a:t>
                      </a:r>
                    </a:p>
                  </a:txBody>
                  <a:tcPr>
                    <a:solidFill>
                      <a:srgbClr val="E0F5F1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94960" y="1901952"/>
            <a:ext cx="32918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2029968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基础模型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322576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Chinese-RoBERTa-wwm-ext-large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隐藏维度 1024，与实体向量化保持一致。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1901952"/>
            <a:ext cx="3291840" cy="1572768"/>
          </a:xfrm>
          <a:prstGeom prst="roundRect">
            <a:avLst/>
          </a:prstGeom>
          <a:solidFill>
            <a:srgbClr val="E6EFF8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029968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训练策略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322576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渐进式解冻：先训练后 12 层，再逐步解冻全模型。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lr=2e-5 / batch=8 / max_len=512 / 5 epoch。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657600"/>
            <a:ext cx="21945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关键指标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3913632"/>
            <a:ext cx="1298448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94960" y="3913632"/>
            <a:ext cx="1298448" cy="73152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4688" y="4078224"/>
            <a:ext cx="1078992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A747F"/>
                </a:solidFill>
                <a:latin typeface="Bahnschrift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4315968"/>
            <a:ext cx="1078992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B1F3A"/>
                </a:solidFill>
                <a:latin typeface="Bahnschrift"/>
              </a:rPr>
              <a:t>98.26%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913632"/>
            <a:ext cx="1298448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3913632"/>
            <a:ext cx="1298448" cy="73152"/>
          </a:xfrm>
          <a:prstGeom prst="rect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078224"/>
            <a:ext cx="1078992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A747F"/>
                </a:solidFill>
                <a:latin typeface="Bahnschrift"/>
              </a:rPr>
              <a:t>PRECISION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4315968"/>
            <a:ext cx="1078992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B1F3A"/>
                </a:solidFill>
                <a:latin typeface="Bahnschrift"/>
              </a:rPr>
              <a:t>97.98%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913632"/>
            <a:ext cx="1298448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3913632"/>
            <a:ext cx="1298448" cy="73152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4078224"/>
            <a:ext cx="1078992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A747F"/>
                </a:solidFill>
                <a:latin typeface="Bahnschrift"/>
              </a:rPr>
              <a:t>RECALL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4315968"/>
            <a:ext cx="1078992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B1F3A"/>
                </a:solidFill>
                <a:latin typeface="Bahnschrift"/>
              </a:rPr>
              <a:t>98.54%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3913632"/>
            <a:ext cx="1298448" cy="10424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3913632"/>
            <a:ext cx="1298448" cy="73152"/>
          </a:xfrm>
          <a:prstGeom prst="rect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3808" y="4078224"/>
            <a:ext cx="1078992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6A747F"/>
                </a:solidFill>
                <a:latin typeface="Bahnschrift"/>
              </a:rPr>
              <a:t>INFER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4315968"/>
            <a:ext cx="1078992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B1F3A"/>
                </a:solidFill>
                <a:latin typeface="Bahnschrift"/>
              </a:rPr>
              <a:t>&lt;50ms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5120640"/>
            <a:ext cx="5577840" cy="86868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5340096"/>
            <a:ext cx="5212080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1">
                <a:solidFill>
                  <a:srgbClr val="0B1F3A"/>
                </a:solidFill>
                <a:latin typeface="Microsoft YaHei"/>
              </a:rPr>
              <a:t>结论：当前 NER 已能稳定承担“实体入口”角色，后续重点是与实体链接联合做误差分析。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10896" cy="100584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64592"/>
            <a:ext cx="1143000" cy="114300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" y="5349240"/>
            <a:ext cx="1463040" cy="1463040"/>
          </a:xfrm>
          <a:prstGeom prst="ellipse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064240" cy="27432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MIDTERM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89611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实体链接设计：主召回与难例消歧分层处理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950976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A747F"/>
                </a:solidFill>
                <a:latin typeface="Microsoft YaHei"/>
              </a:rPr>
              <a:t>不用 LLM 替代召回，而是让它处理检索难例和模糊表达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475488"/>
            <a:ext cx="658368" cy="3840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493776"/>
            <a:ext cx="56692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37360"/>
            <a:ext cx="32918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6537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1. ES 多字段召回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5798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基于 BM25 做高效候选生成。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label 权重 5.0 / aliases_zh 3.0 / descriptions_zh 1.0。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95344" y="1737360"/>
            <a:ext cx="3291840" cy="1572768"/>
          </a:xfrm>
          <a:prstGeom prst="roundRect">
            <a:avLst/>
          </a:prstGeom>
          <a:solidFill>
            <a:srgbClr val="E6EFF8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9936" y="186537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2. 向量检索预留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6" y="215798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统一使用 Chinese-RoBERTa 编码。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在 ES 中配置 7 个 1024 维向量字段，支持 KNN 与重排。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737360"/>
            <a:ext cx="3291840" cy="1572768"/>
          </a:xfrm>
          <a:prstGeom prst="roundRect">
            <a:avLst/>
          </a:prstGeom>
          <a:solidFill>
            <a:srgbClr val="FAF0D7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186537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3. LLM 难例消歧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215798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Top-10 未命中或候选歧义高时触发。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比较标准名、别名、描述与上下文，输出更可信排序。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3822191"/>
            <a:ext cx="10515600" cy="1078992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05072"/>
            <a:ext cx="99669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主链路：ES 负责稳定召回  -&gt;  向量做补充  -&gt;  LLM 只在困难样本中介入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52544"/>
            <a:ext cx="9966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0">
                <a:solidFill>
                  <a:srgbClr val="F7F5EF"/>
                </a:solidFill>
                <a:latin typeface="Microsoft YaHei"/>
              </a:rPr>
              <a:t>这样更符合当前实验结果，也能平衡效果、成本和可解释性。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230368"/>
            <a:ext cx="219456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五种对比方案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04688"/>
            <a:ext cx="1517904" cy="384048"/>
          </a:xfrm>
          <a:prstGeom prst="roundRect">
            <a:avLst/>
          </a:prstGeom>
          <a:solidFill>
            <a:srgbClr val="F7E8E4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568696"/>
            <a:ext cx="1408176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1F3A"/>
                </a:solidFill>
                <a:latin typeface="Microsoft YaHei"/>
              </a:rPr>
              <a:t>纯向量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4560" y="5504688"/>
            <a:ext cx="1993392" cy="384048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5568696"/>
            <a:ext cx="188366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1F3A"/>
                </a:solidFill>
                <a:latin typeface="Microsoft YaHei"/>
              </a:rPr>
              <a:t>纯 ES 文本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5504688"/>
            <a:ext cx="1517904" cy="384048"/>
          </a:xfrm>
          <a:prstGeom prst="roundRect">
            <a:avLst/>
          </a:prstGeom>
          <a:solidFill>
            <a:srgbClr val="FAF0D7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5568696"/>
            <a:ext cx="1408176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1F3A"/>
                </a:solidFill>
                <a:latin typeface="Microsoft YaHei"/>
              </a:rPr>
              <a:t>纯 LLM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25312" y="5504688"/>
            <a:ext cx="1993392" cy="384048"/>
          </a:xfrm>
          <a:prstGeom prst="roundRect">
            <a:avLst/>
          </a:prstGeom>
          <a:solidFill>
            <a:srgbClr val="F7E8E4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0176" y="5568696"/>
            <a:ext cx="188366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1F3A"/>
                </a:solidFill>
                <a:latin typeface="Microsoft YaHei"/>
              </a:rPr>
              <a:t>向量+LLM 始终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5504688"/>
            <a:ext cx="1993392" cy="384048"/>
          </a:xfrm>
          <a:prstGeom prst="roundRect">
            <a:avLst/>
          </a:prstGeom>
          <a:solidFill>
            <a:srgbClr val="E6EFF8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5568696"/>
            <a:ext cx="1883664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B1F3A"/>
                </a:solidFill>
                <a:latin typeface="Microsoft YaHei"/>
              </a:rPr>
              <a:t>向量+LLM 智能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10896" cy="100584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64592"/>
            <a:ext cx="1143000" cy="114300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" y="5349240"/>
            <a:ext cx="1463040" cy="1463040"/>
          </a:xfrm>
          <a:prstGeom prst="ellipse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064240" cy="27432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MIDTERM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89611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实体链接实验结果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950976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A747F"/>
                </a:solidFill>
                <a:latin typeface="Microsoft YaHei"/>
              </a:rPr>
              <a:t>测试集约 300 条军事领域查询；下表展示全部数据配置下的代表性结果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475488"/>
            <a:ext cx="658368" cy="3840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493776"/>
            <a:ext cx="56692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07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737360"/>
          <a:ext cx="548640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05840"/>
                <a:gridCol w="1005840"/>
                <a:gridCol w="1005840"/>
              </a:tblGrid>
              <a:tr h="408432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方案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Bahnschrift"/>
                        </a:rPr>
                        <a:t>MRR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Bahnschrift"/>
                        </a:rPr>
                        <a:t>Hit@1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Bahnschrift"/>
                        </a:rPr>
                        <a:t>Hit@10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212B36"/>
                          </a:solidFill>
                          <a:latin typeface="Microsoft YaHei"/>
                        </a:rPr>
                        <a:t>纯向量检索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212B36"/>
                          </a:solidFill>
                          <a:latin typeface="Bahnschrift"/>
                        </a:rPr>
                        <a:t>0.0590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212B36"/>
                          </a:solidFill>
                          <a:latin typeface="Bahnschrift"/>
                        </a:rPr>
                        <a:t>0.0360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212B36"/>
                          </a:solidFill>
                          <a:latin typeface="Bahnschrift"/>
                        </a:rPr>
                        <a:t>0.1036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Microsoft YaHei"/>
                        </a:rPr>
                        <a:t>纯 ES 文本</a:t>
                      </a:r>
                    </a:p>
                  </a:txBody>
                  <a:tcPr>
                    <a:solidFill>
                      <a:srgbClr val="E0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Bahnschrift"/>
                        </a:rPr>
                        <a:t>0.6925</a:t>
                      </a:r>
                    </a:p>
                  </a:txBody>
                  <a:tcPr>
                    <a:solidFill>
                      <a:srgbClr val="E0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Bahnschrift"/>
                        </a:rPr>
                        <a:t>0.6284</a:t>
                      </a:r>
                    </a:p>
                  </a:txBody>
                  <a:tcPr>
                    <a:solidFill>
                      <a:srgbClr val="E0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Bahnschrift"/>
                        </a:rPr>
                        <a:t>0.8311</a:t>
                      </a:r>
                    </a:p>
                  </a:txBody>
                  <a:tcPr>
                    <a:solidFill>
                      <a:srgbClr val="E0F5F1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Microsoft YaHei"/>
                        </a:rPr>
                        <a:t>纯 LLM 判断</a:t>
                      </a:r>
                    </a:p>
                  </a:txBody>
                  <a:tcPr>
                    <a:solidFill>
                      <a:srgbClr val="FAF0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Bahnschrift"/>
                        </a:rPr>
                        <a:t>0.7015</a:t>
                      </a:r>
                    </a:p>
                  </a:txBody>
                  <a:tcPr>
                    <a:solidFill>
                      <a:srgbClr val="FAF0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Bahnschrift"/>
                        </a:rPr>
                        <a:t>0.6419</a:t>
                      </a:r>
                    </a:p>
                  </a:txBody>
                  <a:tcPr>
                    <a:solidFill>
                      <a:srgbClr val="FAF0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Bahnschrift"/>
                        </a:rPr>
                        <a:t>0.8311</a:t>
                      </a:r>
                    </a:p>
                  </a:txBody>
                  <a:tcPr>
                    <a:solidFill>
                      <a:srgbClr val="FAF0D7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212B36"/>
                          </a:solidFill>
                          <a:latin typeface="Microsoft YaHei"/>
                        </a:rPr>
                        <a:t>向量+LLM 始终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212B36"/>
                          </a:solidFill>
                          <a:latin typeface="Bahnschrift"/>
                        </a:rPr>
                        <a:t>0.0686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212B36"/>
                          </a:solidFill>
                          <a:latin typeface="Bahnschrift"/>
                        </a:rPr>
                        <a:t>0.0450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0">
                          <a:solidFill>
                            <a:srgbClr val="212B36"/>
                          </a:solidFill>
                          <a:latin typeface="Bahnschrift"/>
                        </a:rPr>
                        <a:t>0.1104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Microsoft YaHei"/>
                        </a:rPr>
                        <a:t>向量+LLM 智能</a:t>
                      </a:r>
                    </a:p>
                  </a:txBody>
                  <a:tcPr>
                    <a:solidFill>
                      <a:srgbClr val="E6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Bahnschrift"/>
                        </a:rPr>
                        <a:t>0.6892</a:t>
                      </a:r>
                    </a:p>
                  </a:txBody>
                  <a:tcPr>
                    <a:solidFill>
                      <a:srgbClr val="E6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Bahnschrift"/>
                        </a:rPr>
                        <a:t>0.6239</a:t>
                      </a:r>
                    </a:p>
                  </a:txBody>
                  <a:tcPr>
                    <a:solidFill>
                      <a:srgbClr val="E6EF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080" b="1">
                          <a:solidFill>
                            <a:srgbClr val="212B36"/>
                          </a:solidFill>
                          <a:latin typeface="Bahnschrift"/>
                        </a:rPr>
                        <a:t>0.8333</a:t>
                      </a:r>
                    </a:p>
                  </a:txBody>
                  <a:tcPr>
                    <a:solidFill>
                      <a:srgbClr val="E6EFF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0" y="1810512"/>
            <a:ext cx="3337560" cy="877824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6" y="1920240"/>
            <a:ext cx="30175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B1F3A"/>
                </a:solidFill>
                <a:latin typeface="Microsoft YaHei"/>
              </a:rPr>
              <a:t>结论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6" y="2139696"/>
            <a:ext cx="30175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>
                <a:solidFill>
                  <a:srgbClr val="212B36"/>
                </a:solidFill>
                <a:latin typeface="Microsoft YaHei"/>
              </a:rPr>
              <a:t>纯 ES 文本检索最稳定，适合作为主召回链路。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788920"/>
            <a:ext cx="3337560" cy="877824"/>
          </a:xfrm>
          <a:prstGeom prst="roundRect">
            <a:avLst/>
          </a:prstGeom>
          <a:solidFill>
            <a:srgbClr val="FAF0D7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43216" y="2898648"/>
            <a:ext cx="30175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B1F3A"/>
                </a:solidFill>
                <a:latin typeface="Microsoft YaHei"/>
              </a:rPr>
              <a:t>结论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3118104"/>
            <a:ext cx="30175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>
                <a:solidFill>
                  <a:srgbClr val="212B36"/>
                </a:solidFill>
                <a:latin typeface="Microsoft YaHei"/>
              </a:rPr>
              <a:t>纯 LLM 的 MRR / Hit@1 略优，但成本更高，不适合全量替代。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767328"/>
            <a:ext cx="3337560" cy="877824"/>
          </a:xfrm>
          <a:prstGeom prst="roundRect">
            <a:avLst/>
          </a:prstGeom>
          <a:solidFill>
            <a:srgbClr val="E6EFF8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6" y="3877056"/>
            <a:ext cx="30175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B1F3A"/>
                </a:solidFill>
                <a:latin typeface="Microsoft YaHei"/>
              </a:rPr>
              <a:t>结论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4096512"/>
            <a:ext cx="30175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19" b="0">
                <a:solidFill>
                  <a:srgbClr val="212B36"/>
                </a:solidFill>
                <a:latin typeface="Microsoft YaHei"/>
              </a:rPr>
              <a:t>智能混合的 Hit@10 达 0.8333；跨配置最高达到 0.8378。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56048"/>
            <a:ext cx="10808208" cy="87782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212080"/>
            <a:ext cx="10241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1">
                <a:solidFill>
                  <a:srgbClr val="FFFFFF"/>
                </a:solidFill>
                <a:latin typeface="Microsoft YaHei"/>
              </a:rPr>
              <a:t>答辩时建议强调：当前系统更依赖“高质量名称/别名召回”，而不是把希望全部压在向量空间上。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10896" cy="100584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64592"/>
            <a:ext cx="1143000" cy="114300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" y="5349240"/>
            <a:ext cx="1463040" cy="1463040"/>
          </a:xfrm>
          <a:prstGeom prst="ellipse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064240" cy="27432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MIDTERM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89611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跨语言实体对齐：方案已定，结果复核中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950976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A747F"/>
                </a:solidFill>
                <a:latin typeface="Microsoft YaHei"/>
              </a:rPr>
              <a:t>这一页展示的是数据、模型和预期目标，不把未最终复核的数据讲成正式结论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475488"/>
            <a:ext cx="658368" cy="3840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493776"/>
            <a:ext cx="56692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37360"/>
            <a:ext cx="32918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6537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数据基础：DBP15K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5798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15,000 对中英实体对齐样本。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中方约 80,000 条三元组，英文侧约 85,000 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95344" y="1737360"/>
            <a:ext cx="3291840" cy="1572768"/>
          </a:xfrm>
          <a:prstGeom prst="roundRect">
            <a:avLst/>
          </a:prstGeom>
          <a:solidFill>
            <a:srgbClr val="E6EFF8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9936" y="186537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预处理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6" y="215798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保留 98 种核心关系类型。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按 10,500 / 2,250 / 2,250 划分训练、验证、测试。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737360"/>
            <a:ext cx="3291840" cy="1572768"/>
          </a:xfrm>
          <a:prstGeom prst="roundRect">
            <a:avLst/>
          </a:prstGeom>
          <a:solidFill>
            <a:srgbClr val="FAF0D7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186537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模型路线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215798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LaBSE 生成 768 维跨语言表示。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单层单头 GAT 聚合一跳邻域，损失函数为对比学习。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703320"/>
            <a:ext cx="6601968" cy="132588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3895344"/>
            <a:ext cx="14630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中文 / 英文实体</a:t>
            </a:r>
          </a:p>
        </p:txBody>
      </p:sp>
      <p:sp>
        <p:nvSpPr>
          <p:cNvPr id="22" name="Chevron 21"/>
          <p:cNvSpPr/>
          <p:nvPr/>
        </p:nvSpPr>
        <p:spPr>
          <a:xfrm>
            <a:off x="2377440" y="4096512"/>
            <a:ext cx="384048" cy="43891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3895344"/>
            <a:ext cx="118872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CAE34"/>
                </a:solidFill>
                <a:latin typeface="Bahnschrift"/>
              </a:rPr>
              <a:t>LaBSE</a:t>
            </a:r>
          </a:p>
        </p:txBody>
      </p:sp>
      <p:sp>
        <p:nvSpPr>
          <p:cNvPr id="24" name="Chevron 23"/>
          <p:cNvSpPr/>
          <p:nvPr/>
        </p:nvSpPr>
        <p:spPr>
          <a:xfrm>
            <a:off x="3840480" y="4096512"/>
            <a:ext cx="384048" cy="43891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3895344"/>
            <a:ext cx="123444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GAT 邻域聚合</a:t>
            </a:r>
          </a:p>
        </p:txBody>
      </p:sp>
      <p:sp>
        <p:nvSpPr>
          <p:cNvPr id="26" name="Chevron 25"/>
          <p:cNvSpPr/>
          <p:nvPr/>
        </p:nvSpPr>
        <p:spPr>
          <a:xfrm>
            <a:off x="5449824" y="4096512"/>
            <a:ext cx="384048" cy="43891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895344"/>
            <a:ext cx="1298448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对比学习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639312"/>
            <a:ext cx="1097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64424" y="3749040"/>
            <a:ext cx="8046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Hit@1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4424" y="3986784"/>
            <a:ext cx="804672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918F"/>
                </a:solidFill>
                <a:latin typeface="Bahnschrift"/>
              </a:rPr>
              <a:t>~0.70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4424" y="4352544"/>
            <a:ext cx="8046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预期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639312"/>
            <a:ext cx="14173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44584" y="3749040"/>
            <a:ext cx="112471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Hit@10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4584" y="3986784"/>
            <a:ext cx="1124712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918F"/>
                </a:solidFill>
                <a:latin typeface="Bahnschrift"/>
              </a:rPr>
              <a:t>0.84-0.87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4352544"/>
            <a:ext cx="112471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预期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3639312"/>
            <a:ext cx="10972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50424" y="3749040"/>
            <a:ext cx="8046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MRR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0424" y="3986784"/>
            <a:ext cx="804672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918F"/>
                </a:solidFill>
                <a:latin typeface="Bahnschrift"/>
              </a:rPr>
              <a:t>0.76-0.78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0424" y="4352544"/>
            <a:ext cx="8046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预期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4663440"/>
            <a:ext cx="3703320" cy="877824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4864608"/>
            <a:ext cx="33375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1">
                <a:solidFill>
                  <a:srgbClr val="0B1F3A"/>
                </a:solidFill>
                <a:latin typeface="Microsoft YaHei"/>
              </a:rPr>
              <a:t>当前答辩表述建议：已完成实验准备与参数定型，正式结果以后续统一复核为准。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10896" cy="100584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64592"/>
            <a:ext cx="1143000" cy="114300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" y="5349240"/>
            <a:ext cx="1463040" cy="1463040"/>
          </a:xfrm>
          <a:prstGeom prst="ellipse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064240" cy="27432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MIDTERM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89611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Graph+RAG 路线设计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950976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A747F"/>
                </a:solidFill>
                <a:latin typeface="Microsoft YaHei"/>
              </a:rPr>
              <a:t>重点不是简单堆更多信息，而是按实体组织证据、按关系组织上下文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475488"/>
            <a:ext cx="658368" cy="3840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493776"/>
            <a:ext cx="56692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37360"/>
            <a:ext cx="338328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65376"/>
            <a:ext cx="1920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阶段 1：基础 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847088"/>
            <a:ext cx="841248" cy="310896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865376"/>
            <a:ext cx="74980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hnschrift"/>
              </a:rPr>
              <a:t>70%+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12848"/>
            <a:ext cx="2834640" cy="10789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212B36"/>
                </a:solidFill>
                <a:latin typeface="Microsoft YaHei"/>
              </a:rPr>
              <a:t>NER -&gt; 实体链接 -&gt; 文档/描述检索 -&gt; LLM 生成。</a:t>
            </a:r>
            <a:br/>
            <a:r>
              <a:rPr sz="1060" b="0">
                <a:solidFill>
                  <a:srgbClr val="212B36"/>
                </a:solidFill>
                <a:latin typeface="Microsoft YaHei"/>
              </a:rPr>
              <a:t>先形成可运行、可引用知识的基础问答链路。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737360"/>
            <a:ext cx="3383280" cy="1938528"/>
          </a:xfrm>
          <a:prstGeom prst="roundRect">
            <a:avLst/>
          </a:prstGeom>
          <a:solidFill>
            <a:srgbClr val="E6EFF8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865376"/>
            <a:ext cx="1920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阶段 2：图增强 RAG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847088"/>
            <a:ext cx="841248" cy="310896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1865376"/>
            <a:ext cx="74980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hnschrift"/>
              </a:rPr>
              <a:t>75%+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12848"/>
            <a:ext cx="2834640" cy="10789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212B36"/>
                </a:solidFill>
                <a:latin typeface="Microsoft YaHei"/>
              </a:rPr>
              <a:t>引入跨语言对齐和子图抽取。</a:t>
            </a:r>
            <a:br/>
            <a:r>
              <a:rPr sz="1060" b="0">
                <a:solidFill>
                  <a:srgbClr val="212B36"/>
                </a:solidFill>
                <a:latin typeface="Microsoft YaHei"/>
              </a:rPr>
              <a:t>把实体关系与文本证据一起组织进提示词。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1737360"/>
            <a:ext cx="3383280" cy="1938528"/>
          </a:xfrm>
          <a:prstGeom prst="roundRect">
            <a:avLst/>
          </a:prstGeom>
          <a:solidFill>
            <a:srgbClr val="FAF0D7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65376"/>
            <a:ext cx="192024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阶段 3：混合检索与溯源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607040" y="1847088"/>
            <a:ext cx="841248" cy="310896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52760" y="1865376"/>
            <a:ext cx="749808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Bahnschrift"/>
              </a:rPr>
              <a:t>80%+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12848"/>
            <a:ext cx="2834640" cy="10789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60" b="0">
                <a:solidFill>
                  <a:srgbClr val="212B36"/>
                </a:solidFill>
                <a:latin typeface="Microsoft YaHei"/>
              </a:rPr>
              <a:t>动态调整文本检索、向量检索和图检索权重。</a:t>
            </a:r>
            <a:br/>
            <a:r>
              <a:rPr sz="1060" b="0">
                <a:solidFill>
                  <a:srgbClr val="212B36"/>
                </a:solidFill>
                <a:latin typeface="Microsoft YaHei"/>
              </a:rPr>
              <a:t>在最终答案中补充实体、文档或三元组来源。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443984"/>
            <a:ext cx="10561320" cy="109728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736592"/>
            <a:ext cx="14630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NER</a:t>
            </a:r>
          </a:p>
        </p:txBody>
      </p:sp>
      <p:sp>
        <p:nvSpPr>
          <p:cNvPr id="28" name="Chevron 27"/>
          <p:cNvSpPr/>
          <p:nvPr/>
        </p:nvSpPr>
        <p:spPr>
          <a:xfrm>
            <a:off x="2322576" y="4718304"/>
            <a:ext cx="274320" cy="25603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98648" y="4736592"/>
            <a:ext cx="14630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实体链接</a:t>
            </a:r>
          </a:p>
        </p:txBody>
      </p:sp>
      <p:sp>
        <p:nvSpPr>
          <p:cNvPr id="30" name="Chevron 29"/>
          <p:cNvSpPr/>
          <p:nvPr/>
        </p:nvSpPr>
        <p:spPr>
          <a:xfrm>
            <a:off x="4288536" y="4718304"/>
            <a:ext cx="274320" cy="25603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8" y="4736592"/>
            <a:ext cx="14630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跨语言扩展</a:t>
            </a:r>
          </a:p>
        </p:txBody>
      </p:sp>
      <p:sp>
        <p:nvSpPr>
          <p:cNvPr id="32" name="Chevron 31"/>
          <p:cNvSpPr/>
          <p:nvPr/>
        </p:nvSpPr>
        <p:spPr>
          <a:xfrm>
            <a:off x="6254496" y="4718304"/>
            <a:ext cx="274320" cy="25603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0568" y="4736592"/>
            <a:ext cx="14630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子图/文档检索</a:t>
            </a:r>
          </a:p>
        </p:txBody>
      </p:sp>
      <p:sp>
        <p:nvSpPr>
          <p:cNvPr id="34" name="Chevron 33"/>
          <p:cNvSpPr/>
          <p:nvPr/>
        </p:nvSpPr>
        <p:spPr>
          <a:xfrm>
            <a:off x="8220456" y="4718304"/>
            <a:ext cx="274320" cy="256032"/>
          </a:xfrm>
          <a:prstGeom prst="chevron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6528" y="4736592"/>
            <a:ext cx="14630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LLM 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705856"/>
            <a:ext cx="10241280" cy="2926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30" b="1">
                <a:solidFill>
                  <a:srgbClr val="0B1F3A"/>
                </a:solidFill>
                <a:latin typeface="Microsoft YaHei"/>
              </a:rPr>
              <a:t>关键思想：围绕“实体”组织证据，而不是把所有相关文本无差别拼接给模型。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10896" cy="100584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64592"/>
            <a:ext cx="1143000" cy="114300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" y="5349240"/>
            <a:ext cx="1463040" cy="1463040"/>
          </a:xfrm>
          <a:prstGeom prst="ellipse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064240" cy="27432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MIDTERM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89611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中期阶段成果与工程化进展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950976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A747F"/>
                </a:solidFill>
                <a:latin typeface="Microsoft YaHei"/>
              </a:rPr>
              <a:t>不仅完成了实验模块，也同步把脚本、日志和评估流程工程化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475488"/>
            <a:ext cx="658368" cy="3840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493776"/>
            <a:ext cx="56692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00784"/>
            <a:ext cx="2011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10512"/>
            <a:ext cx="17190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ENTITY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48256"/>
            <a:ext cx="1719072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B1F3A"/>
                </a:solidFill>
                <a:latin typeface="Bahnschrift"/>
              </a:rPr>
              <a:t>20,000+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14016"/>
            <a:ext cx="17190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已形成离线知识底座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24912" y="1700784"/>
            <a:ext cx="2011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1216" y="1810512"/>
            <a:ext cx="17190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NER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2048256"/>
            <a:ext cx="1719072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918F"/>
                </a:solidFill>
                <a:latin typeface="Bahnschrift"/>
              </a:rPr>
              <a:t>98.26%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216" y="2414016"/>
            <a:ext cx="17190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实体入口能力稳定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82896" y="1700784"/>
            <a:ext cx="2011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810512"/>
            <a:ext cx="17190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EL MAINLINE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048256"/>
            <a:ext cx="1719072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B1F3A"/>
                </a:solidFill>
                <a:latin typeface="Bahnschrift"/>
              </a:rPr>
              <a:t>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414016"/>
            <a:ext cx="17190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主召回链路明确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1700784"/>
            <a:ext cx="2011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1810512"/>
            <a:ext cx="17190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4" y="2048256"/>
            <a:ext cx="1719072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8918F"/>
                </a:solidFill>
                <a:latin typeface="Bahnschrift"/>
              </a:rPr>
              <a:t>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4" y="2414016"/>
            <a:ext cx="17190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方案与参数已定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98864" y="1700784"/>
            <a:ext cx="2011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1810512"/>
            <a:ext cx="17190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2048256"/>
            <a:ext cx="1719072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B1F3A"/>
                </a:solidFill>
                <a:latin typeface="Bahnschrift"/>
              </a:rPr>
              <a:t>6 STAGES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2414016"/>
            <a:ext cx="1719072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A747F"/>
                </a:solidFill>
                <a:latin typeface="Microsoft YaHei"/>
              </a:rPr>
              <a:t>自动化训练与评估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154680"/>
            <a:ext cx="3291840" cy="1572768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28269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自动化流水线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57530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check -&gt; train -&gt; test -&gt; extract -&gt; vectorize -&gt; final_test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支持从任意阶段开始和跳过指定阶段。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4256" y="3154680"/>
            <a:ext cx="32918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328269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代码质量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357530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公共逻辑已抽取到 utils。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重复代码率由约 40% 降至 10% 以下。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3154680"/>
            <a:ext cx="3291840" cy="1572768"/>
          </a:xfrm>
          <a:prstGeom prst="roundRect">
            <a:avLst/>
          </a:prstGeom>
          <a:solidFill>
            <a:srgbClr val="FAF0D7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6175" y="3282696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答辩可强调的创新点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5" y="3575304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实体为中心的知识底座。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ES 主召回 + LLM 难例消歧。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对齐模块为 Graph+RAG 预留跨语言扩展能力。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321808"/>
            <a:ext cx="10625328" cy="694944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504688"/>
            <a:ext cx="100584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中期结论：项目已从“方案探索”进入“核心能力较完整、系统集成待推进”的阶段。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310896" cy="100584"/>
          </a:xfrm>
          <a:prstGeom prst="rect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164592"/>
            <a:ext cx="1143000" cy="114300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" y="5349240"/>
            <a:ext cx="1463040" cy="1463040"/>
          </a:xfrm>
          <a:prstGeom prst="ellipse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364224"/>
            <a:ext cx="11064240" cy="27432"/>
          </a:xfrm>
          <a:prstGeom prst="rect">
            <a:avLst/>
          </a:prstGeom>
          <a:solidFill>
            <a:srgbClr val="D6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4048"/>
            <a:ext cx="2743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A747F"/>
                </a:solidFill>
                <a:latin typeface="Bahnschrift"/>
              </a:rPr>
              <a:t>MIDTERM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89611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0B1F3A"/>
                </a:solidFill>
                <a:latin typeface="Microsoft YaHei"/>
              </a:rPr>
              <a:t>存在问题与下一步安排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950976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A747F"/>
                </a:solidFill>
                <a:latin typeface="Microsoft YaHei"/>
              </a:rPr>
              <a:t>后续工作重点仍然是实体链接增强、跨语言接入和系统收束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475488"/>
            <a:ext cx="658368" cy="3840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493776"/>
            <a:ext cx="566928" cy="34747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55648"/>
            <a:ext cx="329184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83664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当前问题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76272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部分实体描述偏短，少量别名翻译仍不够自然。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会影响候选召回和消歧稳定性。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93008"/>
            <a:ext cx="3291840" cy="1572768"/>
          </a:xfrm>
          <a:prstGeom prst="roundRect">
            <a:avLst/>
          </a:prstGeom>
          <a:solidFill>
            <a:srgbClr val="E6EFF8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21024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当前问题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纯向量检索及“向量+LLM 始终重排”明显弱于文本检索。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说明当前表示空间与实体消歧还不够贴合。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30368"/>
            <a:ext cx="3291840" cy="1572768"/>
          </a:xfrm>
          <a:prstGeom prst="roundRect">
            <a:avLst/>
          </a:prstGeom>
          <a:solidFill>
            <a:srgbClr val="FAF0D7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58384"/>
            <a:ext cx="283464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Microsoft YaHei"/>
              </a:rPr>
              <a:t>当前问题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50992"/>
            <a:ext cx="28346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跨语言对齐尚未完全接入主知识库和问答链路。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后续还要兼顾实验评测与论文撰写。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1874519"/>
            <a:ext cx="182880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2020823"/>
            <a:ext cx="9144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8918F"/>
                </a:solidFill>
                <a:latin typeface="Bahnschrif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2368295"/>
            <a:ext cx="1499616" cy="11338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Embedding 模型对比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LLM 消歧效果评测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RAG / Graph 流程实验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874519"/>
            <a:ext cx="1828800" cy="1901952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9832" y="2020823"/>
            <a:ext cx="9144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8918F"/>
                </a:solidFill>
                <a:latin typeface="Bahnschrif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2" y="2368295"/>
            <a:ext cx="1499616" cy="11338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4 月中旬前完成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模型优化与主要实验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整理阶段结果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874519"/>
            <a:ext cx="1828800" cy="1901952"/>
          </a:xfrm>
          <a:prstGeom prst="roundRect">
            <a:avLst/>
          </a:prstGeom>
          <a:solidFill>
            <a:srgbClr val="FAF0D7"/>
          </a:solidFill>
          <a:ln w="12700"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2020823"/>
            <a:ext cx="9144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8918F"/>
                </a:solidFill>
                <a:latin typeface="Bahnschrift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68295"/>
            <a:ext cx="1499616" cy="11338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12B36"/>
                </a:solidFill>
                <a:latin typeface="Microsoft YaHei"/>
              </a:rPr>
              <a:t>完成论文撰写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根据导师反馈修改</a:t>
            </a:r>
            <a:br/>
            <a:r>
              <a:rPr sz="1050" b="0">
                <a:solidFill>
                  <a:srgbClr val="212B36"/>
                </a:solidFill>
                <a:latin typeface="Microsoft YaHei"/>
              </a:rPr>
              <a:t>论文定稿与答辩准备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4462272"/>
            <a:ext cx="5760720" cy="109728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25312" y="4681728"/>
            <a:ext cx="5248656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80" b="1">
                <a:solidFill>
                  <a:srgbClr val="FFFFFF"/>
                </a:solidFill>
                <a:latin typeface="Microsoft YaHei"/>
              </a:rPr>
              <a:t>预期目标：形成完整的军事领域知识问答系统，答案准确率达到 80% 以上。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29800" y="502920"/>
            <a:ext cx="1783080" cy="1783080"/>
          </a:xfrm>
          <a:prstGeom prst="ellipse">
            <a:avLst/>
          </a:prstGeom>
          <a:solidFill>
            <a:srgbClr val="ECA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956048"/>
            <a:ext cx="1691640" cy="1691640"/>
          </a:xfrm>
          <a:prstGeom prst="ellipse">
            <a:avLst/>
          </a:prstGeom>
          <a:solidFill>
            <a:srgbClr val="1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188720"/>
            <a:ext cx="5669280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感谢各位老师聆听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621792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ECAE34"/>
                </a:solidFill>
                <a:latin typeface="Microsoft YaHei"/>
              </a:rPr>
              <a:t>请各位老师批评指正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3108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Bahnschrift"/>
              </a:rPr>
              <a:t>Q &amp;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4617720"/>
            <a:ext cx="28346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4846320"/>
            <a:ext cx="2331720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B1F3A"/>
                </a:solidFill>
                <a:latin typeface="Microsoft YaHei"/>
              </a:rPr>
              <a:t>王越洋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B1F3A"/>
                </a:solidFill>
                <a:latin typeface="Microsoft YaHei"/>
              </a:rPr>
              <a:t>计算机科学与技术  |  22009200894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王越洋-中期答辩PPT-答辩版</dc:title>
  <dc:subject>本科毕业设计中期答辩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