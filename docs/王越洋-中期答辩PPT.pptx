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D3A60"/>
                </a:solidFill>
                <a:latin typeface="Microsoft YaHei"/>
              </a:rPr>
              <a:t>融合内外部数据的知识百科构建与检索增强生成系统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7639" y="2011680"/>
            <a:ext cx="4206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6C2D"/>
                </a:solidFill>
                <a:latin typeface="Microsoft YaHei"/>
              </a:rPr>
              <a:t>本科毕业设计中期答辩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2191" y="2788920"/>
            <a:ext cx="4572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9080" y="299923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86F78"/>
                </a:solidFill>
                <a:latin typeface="Microsoft YaHei"/>
              </a:rPr>
              <a:t>姓名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99923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Microsoft YaHei"/>
              </a:rPr>
              <a:t>王越洋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99923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86F78"/>
                </a:solidFill>
                <a:latin typeface="Microsoft YaHei"/>
              </a:rPr>
              <a:t>学号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99923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Microsoft YaHei"/>
              </a:rPr>
              <a:t>22009200894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401568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86F78"/>
                </a:solidFill>
                <a:latin typeface="Microsoft YaHei"/>
              </a:rPr>
              <a:t>专业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40156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Microsoft YaHei"/>
              </a:rPr>
              <a:t>计算机科学与技术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401568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86F78"/>
                </a:solidFill>
                <a:latin typeface="Microsoft YaHei"/>
              </a:rPr>
              <a:t>学校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340156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Microsoft YaHei"/>
              </a:rPr>
              <a:t>西安电子科技大学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7900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Knowledge Graph · Entity Linking · Cross-lingual Alignment · Graph+RAG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研究背景与课题目标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围绕知识构建、实体理解与问答增强三个层面展开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为什么要做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B2B2B"/>
                </a:solidFill>
                <a:latin typeface="Microsoft YaHei"/>
              </a:rPr>
              <a:t>• 组织内部知识与外部开放知识长期分散，难以形成统一、可检索、可追溯的知识底座。</a:t>
            </a:r>
          </a:p>
          <a:p>
            <a:pPr algn="l">
              <a:lnSpc>
                <a:spcPct val="110000"/>
              </a:lnSpc>
            </a:pPr>
            <a:r>
              <a:rPr sz="1400">
                <a:solidFill>
                  <a:srgbClr val="2B2B2B"/>
                </a:solidFill>
                <a:latin typeface="Microsoft YaHei"/>
              </a:rPr>
              <a:t>• 仅依赖文档级 RAG 容易出现实体混淆、证据碎片化和答案来源不清晰的问题。</a:t>
            </a:r>
          </a:p>
          <a:p>
            <a:pPr algn="l">
              <a:lnSpc>
                <a:spcPct val="110000"/>
              </a:lnSpc>
            </a:pPr>
            <a:r>
              <a:rPr sz="1400">
                <a:solidFill>
                  <a:srgbClr val="2B2B2B"/>
                </a:solidFill>
                <a:latin typeface="Microsoft YaHei"/>
              </a:rPr>
              <a:t>• 军事领域实体名称复杂，存在简称、别名、型号变体和跨语言差异，更需要实体级知识组织。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本课题目标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6832" y="2240280"/>
            <a:ext cx="4663440" cy="86868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37744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3A60"/>
                </a:solidFill>
                <a:latin typeface="Microsoft YaHei"/>
              </a:rPr>
              <a:t>知识底座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359152"/>
            <a:ext cx="3337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B2B2B"/>
                </a:solidFill>
                <a:latin typeface="Microsoft YaHei"/>
              </a:rPr>
              <a:t>融合 Wikidata、维基百科与 DBP15K，构建离线可检索知识库。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3319272"/>
            <a:ext cx="4663440" cy="868680"/>
          </a:xfrm>
          <a:prstGeom prst="roundRect">
            <a:avLst/>
          </a:prstGeom>
          <a:solidFill>
            <a:srgbClr val="F9EFE6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45643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3A60"/>
                </a:solidFill>
                <a:latin typeface="Microsoft YaHei"/>
              </a:rPr>
              <a:t>实体理解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438144"/>
            <a:ext cx="3337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B2B2B"/>
                </a:solidFill>
                <a:latin typeface="Microsoft YaHei"/>
              </a:rPr>
              <a:t>完成 NER、实体向量表示与实体链接，实现文本到标准实体的映射。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4398264"/>
            <a:ext cx="4663440" cy="868680"/>
          </a:xfrm>
          <a:prstGeom prst="roundRect">
            <a:avLst/>
          </a:prstGeom>
          <a:solidFill>
            <a:srgbClr val="ECF6ED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535424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3A60"/>
                </a:solidFill>
                <a:latin typeface="Microsoft YaHei"/>
              </a:rPr>
              <a:t>问答增强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517136"/>
            <a:ext cx="3337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B2B2B"/>
                </a:solidFill>
                <a:latin typeface="Microsoft YaHei"/>
              </a:rPr>
              <a:t>通过跨语言对齐补充英文侧知识，为 Graph+RAG 提供更完整证据。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整体技术路线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由知识准备到实体理解，再到跨语言扩展与问答增强，形成递进式链路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2B2B2B"/>
                </a:solidFill>
                <a:latin typeface="Microsoft YaHei"/>
              </a:rPr>
              <a:t>本课题先完成离线知识库构建，保证实体、属性和文本描述能够统一存储与检索；在此基础上训练领域 NER 与实体表示模型，为后续提及识别和候选匹配提供输入；随后结合文本检索、向量相似度和 LLM 重排序完成实体链接；再通过跨语言实体对齐把英文侧等价实体及其关系补入知识库，最终为 Graph+RAG 问答提供更完整、更可追溯的知识支撑。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240280"/>
            <a:ext cx="2029968" cy="25603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41401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66C2D"/>
                </a:solidFill>
                <a:latin typeface="Microsoft YaHei"/>
              </a:rPr>
              <a:t>阶段一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06624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3A60"/>
                </a:solidFill>
                <a:latin typeface="Microsoft YaHei"/>
              </a:rPr>
              <a:t>离线知识库构建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64992"/>
            <a:ext cx="1691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Microsoft YaHei"/>
              </a:rPr>
              <a:t>Wikidata + 维基百科 + DBP15K
清洗、补全、统一表示与 ES 索引</a:t>
            </a:r>
          </a:p>
        </p:txBody>
      </p:sp>
      <p:sp>
        <p:nvSpPr>
          <p:cNvPr id="11" name="Chevron 10"/>
          <p:cNvSpPr/>
          <p:nvPr/>
        </p:nvSpPr>
        <p:spPr>
          <a:xfrm>
            <a:off x="2724912" y="3291840"/>
            <a:ext cx="384048" cy="274320"/>
          </a:xfrm>
          <a:prstGeom prst="chevron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240280"/>
            <a:ext cx="2029968" cy="2560320"/>
          </a:xfrm>
          <a:prstGeom prst="roundRect">
            <a:avLst/>
          </a:prstGeom>
          <a:solidFill>
            <a:srgbClr val="F9EFE6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41401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66C2D"/>
                </a:solidFill>
                <a:latin typeface="Microsoft YaHei"/>
              </a:rPr>
              <a:t>阶段二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706624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3A60"/>
                </a:solidFill>
                <a:latin typeface="Microsoft YaHei"/>
              </a:rPr>
              <a:t>Embedding / NER 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364992"/>
            <a:ext cx="1691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Microsoft YaHei"/>
              </a:rPr>
              <a:t>Chinese-RoBERTa-wwm-ext-large
提及识别与实体语义表示</a:t>
            </a:r>
          </a:p>
        </p:txBody>
      </p:sp>
      <p:sp>
        <p:nvSpPr>
          <p:cNvPr id="16" name="Chevron 15"/>
          <p:cNvSpPr/>
          <p:nvPr/>
        </p:nvSpPr>
        <p:spPr>
          <a:xfrm>
            <a:off x="5029200" y="3291840"/>
            <a:ext cx="384048" cy="274320"/>
          </a:xfrm>
          <a:prstGeom prst="chevron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30368" y="2240280"/>
            <a:ext cx="2029968" cy="2560320"/>
          </a:xfrm>
          <a:prstGeom prst="roundRect">
            <a:avLst/>
          </a:prstGeom>
          <a:solidFill>
            <a:srgbClr val="ECF6ED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41401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66C2D"/>
                </a:solidFill>
                <a:latin typeface="Microsoft YaHei"/>
              </a:rPr>
              <a:t>阶段三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706624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3A60"/>
                </a:solidFill>
                <a:latin typeface="Microsoft YaHei"/>
              </a:rPr>
              <a:t>实体链接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364992"/>
            <a:ext cx="1691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Microsoft YaHei"/>
              </a:rPr>
              <a:t>BM25 多字段召回 + 向量相似度
LLM 辅助重排序与消歧</a:t>
            </a:r>
          </a:p>
        </p:txBody>
      </p:sp>
      <p:sp>
        <p:nvSpPr>
          <p:cNvPr id="21" name="Chevron 20"/>
          <p:cNvSpPr/>
          <p:nvPr/>
        </p:nvSpPr>
        <p:spPr>
          <a:xfrm>
            <a:off x="7333488" y="3291840"/>
            <a:ext cx="384048" cy="274320"/>
          </a:xfrm>
          <a:prstGeom prst="chevron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34656" y="2240280"/>
            <a:ext cx="2029968" cy="2560320"/>
          </a:xfrm>
          <a:prstGeom prst="roundRect">
            <a:avLst/>
          </a:prstGeom>
          <a:solidFill>
            <a:srgbClr val="FAF7E3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241401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66C2D"/>
                </a:solidFill>
                <a:latin typeface="Microsoft YaHei"/>
              </a:rPr>
              <a:t>阶段四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706624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3A60"/>
                </a:solidFill>
                <a:latin typeface="Microsoft YaHei"/>
              </a:rPr>
              <a:t>跨语言实体对齐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364992"/>
            <a:ext cx="1691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Microsoft YaHei"/>
              </a:rPr>
              <a:t>LaBSE + GAT + 对比学习
中英等价实体映射</a:t>
            </a:r>
          </a:p>
        </p:txBody>
      </p:sp>
      <p:sp>
        <p:nvSpPr>
          <p:cNvPr id="26" name="Chevron 25"/>
          <p:cNvSpPr/>
          <p:nvPr/>
        </p:nvSpPr>
        <p:spPr>
          <a:xfrm>
            <a:off x="9637776" y="3291840"/>
            <a:ext cx="384048" cy="274320"/>
          </a:xfrm>
          <a:prstGeom prst="chevron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38944" y="2240280"/>
            <a:ext cx="2029968" cy="2560320"/>
          </a:xfrm>
          <a:prstGeom prst="roundRect">
            <a:avLst/>
          </a:prstGeom>
          <a:solidFill>
            <a:srgbClr val="FBEEEB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03536" y="241401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66C2D"/>
                </a:solidFill>
                <a:latin typeface="Microsoft YaHei"/>
              </a:rPr>
              <a:t>阶段五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2706624"/>
            <a:ext cx="1691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3A60"/>
                </a:solidFill>
                <a:latin typeface="Microsoft YaHei"/>
              </a:rPr>
              <a:t>Graph+RAG 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3364992"/>
            <a:ext cx="1691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Microsoft YaHei"/>
              </a:rPr>
              <a:t>知识检索、证据组织与答案生成
比较准确性、完整性和可追溯性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51663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6F78"/>
                </a:solidFill>
                <a:latin typeface="Microsoft YaHei"/>
              </a:rPr>
              <a:t>递进关系：前一阶段的结构化结果和表示结果，直接作为后一阶段的输入或检索基础，整体上是一条可落地、可扩展的技术链路。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离线知识库构建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完成多源数据汇聚、字段补全与本地检索能力建设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202603131316063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84976"/>
            <a:ext cx="4800600" cy="15222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4773168"/>
            <a:ext cx="4297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86F78"/>
                </a:solidFill>
                <a:latin typeface="Microsoft YaHei"/>
              </a:rPr>
              <a:t>数据处理链路示意：源数据清洗、内容补全、实体抽取增强与索引存储。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4592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数据来源与处理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4028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60">
                <a:solidFill>
                  <a:srgbClr val="2B2B2B"/>
                </a:solidFill>
                <a:latin typeface="Microsoft YaHei"/>
              </a:rPr>
              <a:t>• 结构化知识以 Wikidata 为主，补充中文维基 2828 页与英文维基 2844 页文本。</a:t>
            </a:r>
          </a:p>
          <a:p>
            <a:pPr algn="l">
              <a:lnSpc>
                <a:spcPct val="110000"/>
              </a:lnSpc>
            </a:pPr>
            <a:r>
              <a:rPr sz="1260">
                <a:solidFill>
                  <a:srgbClr val="2B2B2B"/>
                </a:solidFill>
                <a:latin typeface="Microsoft YaHei"/>
              </a:rPr>
              <a:t>• 引入 DBP15K 的中英实体对和三元组，为后续跨语言实体对齐提供标准数据基础。</a:t>
            </a:r>
          </a:p>
          <a:p>
            <a:pPr algn="l">
              <a:lnSpc>
                <a:spcPct val="110000"/>
              </a:lnSpc>
            </a:pPr>
            <a:r>
              <a:rPr sz="1260">
                <a:solidFill>
                  <a:srgbClr val="2B2B2B"/>
                </a:solidFill>
                <a:latin typeface="Microsoft YaHei"/>
              </a:rPr>
              <a:t>• 统一整理为 JSON，并建立 Elasticsearch 多字段检索与向量索引。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4114800"/>
            <a:ext cx="1143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4114800"/>
            <a:ext cx="1143000" cy="91440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4261104"/>
            <a:ext cx="8869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实体规模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4498848"/>
            <a:ext cx="8869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3A60"/>
                </a:solidFill>
                <a:latin typeface="Microsoft YaHei"/>
              </a:rPr>
              <a:t>约2万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114800"/>
            <a:ext cx="1234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4114800"/>
            <a:ext cx="1234440" cy="91440"/>
          </a:xfrm>
          <a:prstGeom prst="rect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4695" y="4261104"/>
            <a:ext cx="9784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描述填充率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4695" y="44988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66C2D"/>
                </a:solidFill>
                <a:latin typeface="Microsoft YaHei"/>
              </a:rPr>
              <a:t>98.2%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114800"/>
            <a:ext cx="1234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4114800"/>
            <a:ext cx="1234440" cy="91440"/>
          </a:xfrm>
          <a:prstGeom prst="rect">
            <a:avLst/>
          </a:prstGeom>
          <a:solidFill>
            <a:srgbClr val="5B885F"/>
          </a:solidFill>
          <a:ln>
            <a:solidFill>
              <a:srgbClr val="5B8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4261104"/>
            <a:ext cx="9784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别名填充率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44988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885F"/>
                </a:solidFill>
                <a:latin typeface="Microsoft YaHei"/>
              </a:rPr>
              <a:t>95.7%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61320" y="4114800"/>
            <a:ext cx="914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4114800"/>
            <a:ext cx="914400" cy="91440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89336" y="426110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响应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89336" y="449884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3A60"/>
                </a:solidFill>
                <a:latin typeface="Microsoft YaHei"/>
              </a:rPr>
              <a:t>&lt;100ms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528523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2B2B2B"/>
                </a:solidFill>
                <a:latin typeface="Microsoft YaHei"/>
              </a:rPr>
              <a:t>阶段结果：知识库已经能够支撑实体名/别名全文检索、向量语义检索以及后续候选召回实验。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Embedding 与 NER 模型训练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以 Chinese-RoBERTa-wwm-ext-large 作为统一编码器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01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训练思路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377440"/>
            <a:ext cx="4526280" cy="786384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8716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3A60"/>
                </a:solidFill>
                <a:latin typeface="Microsoft YaHei"/>
              </a:rPr>
              <a:t>输入数据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46888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Microsoft YaHei"/>
              </a:rPr>
              <a:t>领域实体标注样本 + 知识库实体文本</a:t>
            </a:r>
          </a:p>
        </p:txBody>
      </p:sp>
      <p:sp>
        <p:nvSpPr>
          <p:cNvPr id="11" name="Chevron 10"/>
          <p:cNvSpPr/>
          <p:nvPr/>
        </p:nvSpPr>
        <p:spPr>
          <a:xfrm>
            <a:off x="2852928" y="3227832"/>
            <a:ext cx="384048" cy="237744"/>
          </a:xfrm>
          <a:prstGeom prst="chevron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3474720"/>
            <a:ext cx="4526280" cy="786384"/>
          </a:xfrm>
          <a:prstGeom prst="roundRect">
            <a:avLst/>
          </a:prstGeom>
          <a:solidFill>
            <a:srgbClr val="F9EFE6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8444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3A60"/>
                </a:solidFill>
                <a:latin typeface="Microsoft YaHei"/>
              </a:rPr>
              <a:t>统一编码器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56616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Microsoft YaHei"/>
              </a:rPr>
              <a:t>Chinese-RoBERTa-wwm-ext-large
1024 维隐藏表示</a:t>
            </a:r>
          </a:p>
        </p:txBody>
      </p:sp>
      <p:sp>
        <p:nvSpPr>
          <p:cNvPr id="15" name="Chevron 14"/>
          <p:cNvSpPr/>
          <p:nvPr/>
        </p:nvSpPr>
        <p:spPr>
          <a:xfrm>
            <a:off x="2852928" y="4325112"/>
            <a:ext cx="384048" cy="237744"/>
          </a:xfrm>
          <a:prstGeom prst="chevron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4572000"/>
            <a:ext cx="4526280" cy="786384"/>
          </a:xfrm>
          <a:prstGeom prst="roundRect">
            <a:avLst/>
          </a:prstGeom>
          <a:solidFill>
            <a:srgbClr val="ECF6ED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8172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3A60"/>
                </a:solidFill>
                <a:latin typeface="Microsoft YaHei"/>
              </a:rPr>
              <a:t>下游输出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66344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Microsoft YaHei"/>
              </a:rPr>
              <a:t>NER 提及识别 + 实体向量表示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4864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86F78"/>
                </a:solidFill>
                <a:latin typeface="Microsoft YaHei"/>
              </a:rPr>
              <a:t>这样做的原因是：NER 负责稳定识别提及边界，向量表示则为知识库实体匹配和后续实体链接提供统一语义空间。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16459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90195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当前识别效果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1968" y="2468880"/>
            <a:ext cx="1097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01968" y="2468880"/>
            <a:ext cx="1097280" cy="91440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2615184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准确率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2852928"/>
            <a:ext cx="8412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3A60"/>
                </a:solidFill>
                <a:latin typeface="Microsoft YaHei"/>
              </a:rPr>
              <a:t>98.22%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2468880"/>
            <a:ext cx="1097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82127" y="2468880"/>
            <a:ext cx="1097280" cy="91440"/>
          </a:xfrm>
          <a:prstGeom prst="rect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3" y="2615184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精确率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852928"/>
            <a:ext cx="8412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66C2D"/>
                </a:solidFill>
                <a:latin typeface="Microsoft YaHei"/>
              </a:rPr>
              <a:t>97.98%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62288" y="2468880"/>
            <a:ext cx="1097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62288" y="2468880"/>
            <a:ext cx="1097280" cy="91440"/>
          </a:xfrm>
          <a:prstGeom prst="rect">
            <a:avLst/>
          </a:prstGeom>
          <a:solidFill>
            <a:srgbClr val="5B885F"/>
          </a:solidFill>
          <a:ln>
            <a:solidFill>
              <a:srgbClr val="5B8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4" y="2615184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召回率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2852928"/>
            <a:ext cx="8412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885F"/>
                </a:solidFill>
                <a:latin typeface="Microsoft YaHei"/>
              </a:rPr>
              <a:t>98.54%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42448" y="2468880"/>
            <a:ext cx="914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42448" y="2468880"/>
            <a:ext cx="914400" cy="91440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70464" y="261518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F1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70464" y="285292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3A60"/>
                </a:solidFill>
                <a:latin typeface="Microsoft YaHei"/>
              </a:rPr>
              <a:t>98.26%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3794760"/>
            <a:ext cx="4526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80">
                <a:solidFill>
                  <a:srgbClr val="2B2B2B"/>
                </a:solidFill>
                <a:latin typeface="Microsoft YaHei"/>
              </a:rPr>
              <a:t>• 当前 NER 已能较稳定识别人名、地名、组织以及军事装备、型号、事件等专有实体。</a:t>
            </a:r>
          </a:p>
          <a:p>
            <a:pPr algn="l">
              <a:lnSpc>
                <a:spcPct val="110000"/>
              </a:lnSpc>
            </a:pPr>
            <a:r>
              <a:rPr sz="1280">
                <a:solidFill>
                  <a:srgbClr val="2B2B2B"/>
                </a:solidFill>
                <a:latin typeface="Microsoft YaHei"/>
              </a:rPr>
              <a:t>• 这一模块的输出会直接作为实体链接阶段的提及输入，并反向支撑误差分析。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实体链接方法设计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将文本中的实体提及映射到知识库标准实体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202603131317385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40313"/>
            <a:ext cx="4983480" cy="26310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010912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86F78"/>
                </a:solidFill>
                <a:latin typeface="Microsoft YaHei"/>
              </a:rPr>
              <a:t>实体链接流程：候选召回、候选筛选、LLM 辅助消歧和最终输出。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90195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方法组成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70">
                <a:solidFill>
                  <a:srgbClr val="2B2B2B"/>
                </a:solidFill>
                <a:latin typeface="Microsoft YaHei"/>
              </a:rPr>
              <a:t>• 文本侧：Elasticsearch 多字段检索，利用 label、alias、description 等字段做 BM25 候选召回。</a:t>
            </a:r>
          </a:p>
          <a:p>
            <a:pPr algn="l">
              <a:lnSpc>
                <a:spcPct val="110000"/>
              </a:lnSpc>
            </a:pPr>
            <a:r>
              <a:rPr sz="1270">
                <a:solidFill>
                  <a:srgbClr val="2B2B2B"/>
                </a:solidFill>
                <a:latin typeface="Microsoft YaHei"/>
              </a:rPr>
              <a:t>• 语义侧：使用与 NER 一致的 Chinese-RoBERTa 编码提及与实体，做向量相似度排序。</a:t>
            </a:r>
          </a:p>
          <a:p>
            <a:pPr algn="l">
              <a:lnSpc>
                <a:spcPct val="110000"/>
              </a:lnSpc>
            </a:pPr>
            <a:r>
              <a:rPr sz="1270">
                <a:solidFill>
                  <a:srgbClr val="2B2B2B"/>
                </a:solidFill>
                <a:latin typeface="Microsoft YaHei"/>
              </a:rPr>
              <a:t>• 判别侧：用 LLM 对候选进行辅助重排序，重点处理简称、模糊提及和上下文不足样本。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572000"/>
            <a:ext cx="4526280" cy="868680"/>
          </a:xfrm>
          <a:prstGeom prst="roundRect">
            <a:avLst/>
          </a:prstGeom>
          <a:solidFill>
            <a:srgbClr val="F9EFE6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473659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3A60"/>
                </a:solidFill>
                <a:latin typeface="Microsoft YaHei"/>
              </a:rPr>
              <a:t>设计重点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681728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B2B2B"/>
                </a:solidFill>
                <a:latin typeface="Microsoft YaHei"/>
              </a:rPr>
              <a:t>不是让 LLM 直接替代检索，而是放在候选集合上做高价值消歧，平衡效果与成本。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实体链接实验结果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重点观察不同方案在召回与排序上的表现差异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669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83664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主要结果表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2331720"/>
          <a:ext cx="47548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68680"/>
                <a:gridCol w="960120"/>
                <a:gridCol w="96012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>
                    <a:solidFill>
                      <a:srgbClr val="1D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MRR</a:t>
                      </a:r>
                    </a:p>
                  </a:txBody>
                  <a:tcPr>
                    <a:solidFill>
                      <a:srgbClr val="1D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Hit@1</a:t>
                      </a:r>
                    </a:p>
                  </a:txBody>
                  <a:tcPr>
                    <a:solidFill>
                      <a:srgbClr val="1D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Hit@10</a:t>
                      </a:r>
                    </a:p>
                  </a:txBody>
                  <a:tcPr>
                    <a:solidFill>
                      <a:srgbClr val="1D3A6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纯向量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0.0590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0.0360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纯文本检索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0.6925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0.6284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0.8311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纯LLM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0.7015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0.6419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向量+LLM重排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0.0686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0.0450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向量+LLM动态混合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0.6892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0.6239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B2B2B"/>
                          </a:solidFill>
                          <a:latin typeface="Microsoft YaHei"/>
                        </a:rPr>
                        <a:t>0.8333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02920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86F78"/>
                </a:solidFill>
                <a:latin typeface="Microsoft YaHei"/>
              </a:rPr>
              <a:t>说明：纯文本检索已较稳定；纯 LLM 在 MRR 和 Hit@1 上略优，但成本更高；动态混合方案更适合工程使用。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4592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8366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MRR 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14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2B2B"/>
                </a:solidFill>
                <a:latin typeface="Microsoft YaHei"/>
              </a:rPr>
              <a:t>纯向量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551176"/>
            <a:ext cx="2926080" cy="164592"/>
          </a:xfrm>
          <a:prstGeom prst="roundRect">
            <a:avLst/>
          </a:prstGeom>
          <a:solidFill>
            <a:srgbClr val="E5E9EE"/>
          </a:solidFill>
          <a:ln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551176"/>
            <a:ext cx="230184" cy="164592"/>
          </a:xfrm>
          <a:prstGeom prst="roundRect">
            <a:avLst/>
          </a:prstGeom>
          <a:solidFill>
            <a:srgbClr val="C6CDD8"/>
          </a:solidFill>
          <a:ln>
            <a:solidFill>
              <a:srgbClr val="C6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75720" y="2505456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0.0590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9443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2B2B"/>
                </a:solidFill>
                <a:latin typeface="Microsoft YaHei"/>
              </a:rPr>
              <a:t>纯文本检索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980944"/>
            <a:ext cx="2926080" cy="164592"/>
          </a:xfrm>
          <a:prstGeom prst="roundRect">
            <a:avLst/>
          </a:prstGeom>
          <a:solidFill>
            <a:srgbClr val="E5E9EE"/>
          </a:solidFill>
          <a:ln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2980944"/>
            <a:ext cx="2701747" cy="164592"/>
          </a:xfrm>
          <a:prstGeom prst="round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5720" y="2935224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0.6925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374136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2B2B"/>
                </a:solidFill>
                <a:latin typeface="Microsoft YaHei"/>
              </a:rPr>
              <a:t>纯LLM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410712"/>
            <a:ext cx="2926080" cy="164592"/>
          </a:xfrm>
          <a:prstGeom prst="roundRect">
            <a:avLst/>
          </a:prstGeom>
          <a:solidFill>
            <a:srgbClr val="E5E9EE"/>
          </a:solidFill>
          <a:ln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410712"/>
            <a:ext cx="2736860" cy="164592"/>
          </a:xfrm>
          <a:prstGeom prst="roundRect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75720" y="3364992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0.7015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803904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2B2B"/>
                </a:solidFill>
                <a:latin typeface="Microsoft YaHei"/>
              </a:rPr>
              <a:t>向量+LLM重排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840480"/>
            <a:ext cx="2926080" cy="164592"/>
          </a:xfrm>
          <a:prstGeom prst="roundRect">
            <a:avLst/>
          </a:prstGeom>
          <a:solidFill>
            <a:srgbClr val="E5E9EE"/>
          </a:solidFill>
          <a:ln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3840480"/>
            <a:ext cx="267638" cy="164592"/>
          </a:xfrm>
          <a:prstGeom prst="roundRect">
            <a:avLst/>
          </a:prstGeom>
          <a:solidFill>
            <a:srgbClr val="AAB1BC"/>
          </a:solidFill>
          <a:ln>
            <a:solidFill>
              <a:srgbClr val="AA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75720" y="379476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0.0686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23367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2B2B"/>
                </a:solidFill>
                <a:latin typeface="Microsoft YaHei"/>
              </a:rPr>
              <a:t>动态混合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270248"/>
            <a:ext cx="2926080" cy="164592"/>
          </a:xfrm>
          <a:prstGeom prst="roundRect">
            <a:avLst/>
          </a:prstGeom>
          <a:solidFill>
            <a:srgbClr val="E5E9EE"/>
          </a:solidFill>
          <a:ln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4270248"/>
            <a:ext cx="2688872" cy="164592"/>
          </a:xfrm>
          <a:prstGeom prst="roundRect">
            <a:avLst/>
          </a:prstGeom>
          <a:solidFill>
            <a:srgbClr val="5B885F"/>
          </a:solidFill>
          <a:ln>
            <a:solidFill>
              <a:srgbClr val="5B8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4224528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0.6892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48272" y="4983480"/>
            <a:ext cx="1325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48272" y="4983480"/>
            <a:ext cx="1325880" cy="91440"/>
          </a:xfrm>
          <a:prstGeom prst="rect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6288" y="5129784"/>
            <a:ext cx="1069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最佳 MRR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5367528"/>
            <a:ext cx="10698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66C2D"/>
                </a:solidFill>
                <a:latin typeface="Microsoft YaHei"/>
              </a:rPr>
              <a:t>0.7015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4983480"/>
            <a:ext cx="1325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84464" y="4983480"/>
            <a:ext cx="1325880" cy="91440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129784"/>
            <a:ext cx="1069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最佳 Hit@1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367528"/>
            <a:ext cx="10698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3A60"/>
                </a:solidFill>
                <a:latin typeface="Microsoft YaHei"/>
              </a:rPr>
              <a:t>64.19%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0656" y="498348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20656" y="4983480"/>
            <a:ext cx="1417320" cy="91440"/>
          </a:xfrm>
          <a:prstGeom prst="rect">
            <a:avLst/>
          </a:prstGeom>
          <a:solidFill>
            <a:srgbClr val="5B885F"/>
          </a:solidFill>
          <a:ln>
            <a:solidFill>
              <a:srgbClr val="5B8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48672" y="5129784"/>
            <a:ext cx="11612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最高 Hit@10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48672" y="5367528"/>
            <a:ext cx="11612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885F"/>
                </a:solidFill>
                <a:latin typeface="Microsoft YaHei"/>
              </a:rPr>
              <a:t>83.78%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跨语言实体对齐方法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使用文本语义与邻域结构联合建模中英等价实体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202603131317527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75" y="1847088"/>
            <a:ext cx="3102289" cy="3337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394960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86F78"/>
                </a:solidFill>
                <a:latin typeface="Microsoft YaHei"/>
              </a:rPr>
              <a:t>对齐流程：LaBSE 编码文本，GAT 聚合一跳邻域，再用对比学习优化中英实体映射。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4592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83664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关键方案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40">
                <a:solidFill>
                  <a:srgbClr val="2B2B2B"/>
                </a:solidFill>
                <a:latin typeface="Microsoft YaHei"/>
              </a:rPr>
              <a:t>• 数据基础：选取 DBP15K 的 zh_en 子集，并结合维基跨语言链接信息做预处理。</a:t>
            </a:r>
          </a:p>
          <a:p>
            <a:pPr algn="l">
              <a:lnSpc>
                <a:spcPct val="110000"/>
              </a:lnSpc>
            </a:pPr>
            <a:r>
              <a:rPr sz="1240">
                <a:solidFill>
                  <a:srgbClr val="2B2B2B"/>
                </a:solidFill>
                <a:latin typeface="Microsoft YaHei"/>
              </a:rPr>
              <a:t>• 文本编码：使用 LaBSE 生成 768 维跨语言语义表示。</a:t>
            </a:r>
          </a:p>
          <a:p>
            <a:pPr algn="l">
              <a:lnSpc>
                <a:spcPct val="110000"/>
              </a:lnSpc>
            </a:pPr>
            <a:r>
              <a:rPr sz="1240">
                <a:solidFill>
                  <a:srgbClr val="2B2B2B"/>
                </a:solidFill>
                <a:latin typeface="Microsoft YaHei"/>
              </a:rPr>
              <a:t>• 结构聚合：采用单层单头 GAT 编码实体的一跳邻域结构。</a:t>
            </a:r>
          </a:p>
          <a:p>
            <a:pPr algn="l">
              <a:lnSpc>
                <a:spcPct val="110000"/>
              </a:lnSpc>
            </a:pPr>
            <a:r>
              <a:rPr sz="1240">
                <a:solidFill>
                  <a:srgbClr val="2B2B2B"/>
                </a:solidFill>
                <a:latin typeface="Microsoft YaHei"/>
              </a:rPr>
              <a:t>• 训练目标：通过对比学习拉近等价实体、拉远非对齐实体。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645152"/>
            <a:ext cx="4526280" cy="868680"/>
          </a:xfrm>
          <a:prstGeom prst="roundRect">
            <a:avLst/>
          </a:prstGeom>
          <a:solidFill>
            <a:srgbClr val="FAF7E3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4809744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3A60"/>
                </a:solidFill>
                <a:latin typeface="Microsoft YaHei"/>
              </a:rPr>
              <a:t>输出作用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383" y="4754880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2B2B2B"/>
                </a:solidFill>
                <a:latin typeface="Microsoft YaHei"/>
              </a:rPr>
              <a:t>将中文知识库中的实体连接到英文侧等价实体，支持知识补全与证据扩展。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跨语言实体对齐结果与意义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当前模块已具备较稳定的中英实体映射能力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3749039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核心指标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514600"/>
            <a:ext cx="9144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2514600"/>
            <a:ext cx="914400" cy="91440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6090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Hit@1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9864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3A60"/>
                </a:solidFill>
                <a:latin typeface="Microsoft YaHei"/>
              </a:rPr>
              <a:t>0.70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75104" y="2514600"/>
            <a:ext cx="9144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75104" y="2514600"/>
            <a:ext cx="914400" cy="91440"/>
          </a:xfrm>
          <a:prstGeom prst="rect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266090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Hit@10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89864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66C2D"/>
                </a:solidFill>
                <a:latin typeface="Microsoft YaHei"/>
              </a:rPr>
              <a:t>0.84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2514600"/>
            <a:ext cx="9144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54096" y="2514600"/>
            <a:ext cx="914400" cy="91440"/>
          </a:xfrm>
          <a:prstGeom prst="rect">
            <a:avLst/>
          </a:prstGeom>
          <a:solidFill>
            <a:srgbClr val="5B885F"/>
          </a:solidFill>
          <a:ln>
            <a:solidFill>
              <a:srgbClr val="5B8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2112" y="266090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6F78"/>
                </a:solidFill>
                <a:latin typeface="Microsoft YaHei"/>
              </a:rPr>
              <a:t>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2898648"/>
            <a:ext cx="658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885F"/>
                </a:solidFill>
                <a:latin typeface="Microsoft YaHei"/>
              </a:rPr>
              <a:t>0.76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913632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>
                <a:solidFill>
                  <a:srgbClr val="2B2B2B"/>
                </a:solidFill>
                <a:latin typeface="Microsoft YaHei"/>
              </a:rPr>
              <a:t>• 文本语义与邻域结构联合建模后，对齐排序更稳，能较好地区分等价实体。</a:t>
            </a:r>
          </a:p>
          <a:p>
            <a:pPr algn="l">
              <a:lnSpc>
                <a:spcPct val="110000"/>
              </a:lnSpc>
            </a:pPr>
            <a:r>
              <a:rPr sz="1220">
                <a:solidFill>
                  <a:srgbClr val="2B2B2B"/>
                </a:solidFill>
                <a:latin typeface="Microsoft YaHei"/>
              </a:rPr>
              <a:t>• 模块链路已跑通，后续重点放在补实验和知识补全场景验证。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1645920"/>
            <a:ext cx="7040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1901952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对整体系统的作用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468880"/>
            <a:ext cx="6309360" cy="841248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615184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3A60"/>
                </a:solidFill>
                <a:latin typeface="Microsoft YaHei"/>
              </a:rPr>
              <a:t>知识补全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587752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2B2B2B"/>
                </a:solidFill>
                <a:latin typeface="Microsoft YaHei"/>
              </a:rPr>
              <a:t>把英文侧等价实体、属性和关系补充到现有中文知识库中。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3502152"/>
            <a:ext cx="6309360" cy="841248"/>
          </a:xfrm>
          <a:prstGeom prst="roundRect">
            <a:avLst/>
          </a:prstGeom>
          <a:solidFill>
            <a:srgbClr val="F9EFE6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3648456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3A60"/>
                </a:solidFill>
                <a:latin typeface="Microsoft YaHei"/>
              </a:rPr>
              <a:t>证据扩展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21024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2B2B2B"/>
                </a:solidFill>
                <a:latin typeface="Microsoft YaHei"/>
              </a:rPr>
              <a:t>在后续问答阶段引入更多跨语言描述、外部来源和可验证证据。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4535424"/>
            <a:ext cx="6309360" cy="841248"/>
          </a:xfrm>
          <a:prstGeom prst="roundRect">
            <a:avLst/>
          </a:prstGeom>
          <a:solidFill>
            <a:srgbClr val="ECF6ED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468172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3A60"/>
                </a:solidFill>
                <a:latin typeface="Microsoft YaHei"/>
              </a:rPr>
              <a:t>系统衔接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54296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2B2B2B"/>
                </a:solidFill>
                <a:latin typeface="Microsoft YaHei"/>
              </a:rPr>
              <a:t>让实体链接结果继续扩展到跨语言检索和 Graph+RAG 验证阶段。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已完成工作与阶段性成果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中期阶段已经形成从知识准备到实体理解的主流程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166360" cy="146304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3A60"/>
                </a:solidFill>
                <a:latin typeface="Microsoft YaHei"/>
              </a:rPr>
              <a:t>离线知识库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40864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Microsoft YaHei"/>
              </a:rPr>
              <a:t>完成多源数据清洗、字段统一、描述与别名补全，并建立本地 ES 索引。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828800"/>
            <a:ext cx="5166360" cy="1463040"/>
          </a:xfrm>
          <a:prstGeom prst="roundRect">
            <a:avLst/>
          </a:prstGeom>
          <a:solidFill>
            <a:srgbClr val="F9EFE6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99339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3A60"/>
                </a:solidFill>
                <a:latin typeface="Microsoft YaHei"/>
              </a:rPr>
              <a:t>领域 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340864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Microsoft YaHei"/>
              </a:rPr>
              <a:t>完成编码器训练与评估，实体识别效果较稳定，可支撑后续链接输入。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94760"/>
            <a:ext cx="5166360" cy="1463040"/>
          </a:xfrm>
          <a:prstGeom prst="roundRect">
            <a:avLst/>
          </a:prstGeom>
          <a:solidFill>
            <a:srgbClr val="ECF6ED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95935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3A60"/>
                </a:solidFill>
                <a:latin typeface="Microsoft YaHei"/>
              </a:rPr>
              <a:t>实体链接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06824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Microsoft YaHei"/>
              </a:rPr>
              <a:t>完成 5 种方案对比，明确文本检索与 LLM 辅助消歧的有效组合。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794760"/>
            <a:ext cx="5166360" cy="1463040"/>
          </a:xfrm>
          <a:prstGeom prst="roundRect">
            <a:avLst/>
          </a:prstGeom>
          <a:solidFill>
            <a:srgbClr val="FAF7E3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3959352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D3A60"/>
                </a:solidFill>
                <a:latin typeface="Microsoft YaHei"/>
              </a:rPr>
              <a:t>跨语言对齐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4306824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Microsoft YaHei"/>
              </a:rPr>
              <a:t>完成 LaBSE + GAT 方法链路与基本评估，具备知识扩展能力。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87568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686F78"/>
                </a:solidFill>
                <a:latin typeface="Microsoft YaHei"/>
              </a:rPr>
              <a:t>当前判断：核心研究链路已经基本贯通，后续工作的重点不再是从零搭框架，而是围绕模块优化、补实验、系统联调和论文完善继续推进。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3A60"/>
                </a:solidFill>
                <a:latin typeface="Microsoft YaHei"/>
              </a:rPr>
              <a:t>后续工作与进度安排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6F78"/>
                </a:solidFill>
                <a:latin typeface="Microsoft YaHei"/>
              </a:rPr>
              <a:t>围绕模块优化、系统联调和论文收束继续推进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303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66C2D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后续重点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67712"/>
            <a:ext cx="4572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60" b="0">
                <a:solidFill>
                  <a:srgbClr val="2B2B2B"/>
                </a:solidFill>
                <a:latin typeface="Microsoft YaHei"/>
              </a:rPr>
              <a:t>后续工作会继续围绕实体链接、跨语言对齐和 Graph+RAG 系统验证三部分展开。实体链接方面，重点处理简称、别名变体、长尾型号等复杂样本，进一步补充候选实体信息并完善误差分析；跨语言对齐方面，继续补充标准化对比实验和参数分析，验证对齐结果在知识补全中的实际价值；系统集成方面，将实体链接结果和跨语言对齐结果进一步接入问答流程，比较不同检索与生成组织方式对答案准确性、完整性和可追溯性的影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86F78"/>
                </a:solidFill>
                <a:latin typeface="Microsoft YaHei"/>
              </a:rPr>
              <a:t>整体上，当前前置模块已经具备较好的承接关系，因此后续安排以优化、补实验和集成为主，具备较强可行性。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45920"/>
            <a:ext cx="5623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9019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3A60"/>
                </a:solidFill>
                <a:latin typeface="Microsoft YaHei"/>
              </a:rPr>
              <a:t>时间安排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2651760"/>
            <a:ext cx="146304" cy="146304"/>
          </a:xfrm>
          <a:prstGeom prst="ellipse">
            <a:avLst/>
          </a:prstGeom>
          <a:solidFill>
            <a:srgbClr val="C66C2D"/>
          </a:solidFill>
          <a:ln>
            <a:solidFill>
              <a:srgbClr val="C66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4516" y="2807208"/>
            <a:ext cx="27432" cy="713232"/>
          </a:xfrm>
          <a:prstGeom prst="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487168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66C2D"/>
                </a:solidFill>
                <a:latin typeface="Microsoft YaHei"/>
              </a:rPr>
              <a:t>3月下旬-4月中旬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59736"/>
            <a:ext cx="3977639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Microsoft YaHei"/>
              </a:rPr>
              <a:t>继续优化实体链接，补误差分析与消融对比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3611880"/>
            <a:ext cx="146304" cy="146304"/>
          </a:xfrm>
          <a:prstGeom prst="ellipse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14516" y="3767328"/>
            <a:ext cx="27432" cy="713232"/>
          </a:xfrm>
          <a:prstGeom prst="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3447288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D3A60"/>
                </a:solidFill>
                <a:latin typeface="Microsoft YaHei"/>
              </a:rPr>
              <a:t>4月中下旬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19856"/>
            <a:ext cx="3977639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52044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Microsoft YaHei"/>
              </a:rPr>
              <a:t>完成跨语言对齐补实验，并推进 Graph+RAG 联调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4572000"/>
            <a:ext cx="146304" cy="146304"/>
          </a:xfrm>
          <a:prstGeom prst="ellipse">
            <a:avLst/>
          </a:prstGeom>
          <a:solidFill>
            <a:srgbClr val="5B885F"/>
          </a:solidFill>
          <a:ln>
            <a:solidFill>
              <a:srgbClr val="5B8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4407408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85F"/>
                </a:solidFill>
                <a:latin typeface="Microsoft YaHei"/>
              </a:rPr>
              <a:t>5月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379976"/>
            <a:ext cx="3977639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48056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Microsoft YaHei"/>
              </a:rPr>
              <a:t>整理图表与论文，完成系统展示、修改与定稿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D3A60"/>
          </a:solidFill>
          <a:ln>
            <a:solidFill>
              <a:srgbClr val="1D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D3A60"/>
                </a:solidFill>
                <a:latin typeface="Microsoft YaHei"/>
              </a:rPr>
              <a:t>感谢各位老师的聆听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6C2D"/>
                </a:solidFill>
                <a:latin typeface="Microsoft YaHei"/>
              </a:rPr>
              <a:t>恳请批评指正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4243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241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2E8F1"/>
                </a:solidFill>
                <a:latin typeface="Microsoft YaHei"/>
              </a:rPr>
              <a:t>王越洋  |  计算机科学与技术  |  22009200894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